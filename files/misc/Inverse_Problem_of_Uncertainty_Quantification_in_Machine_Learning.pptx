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557" r:id="rId1"/>
  </p:sldMasterIdLst>
  <p:notesMasterIdLst>
    <p:notesMasterId r:id="rId25"/>
  </p:notesMasterIdLst>
  <p:handoutMasterIdLst>
    <p:handoutMasterId r:id="rId26"/>
  </p:handoutMasterIdLst>
  <p:sldIdLst>
    <p:sldId id="738" r:id="rId2"/>
    <p:sldId id="810" r:id="rId3"/>
    <p:sldId id="811" r:id="rId4"/>
    <p:sldId id="788" r:id="rId5"/>
    <p:sldId id="815" r:id="rId6"/>
    <p:sldId id="802" r:id="rId7"/>
    <p:sldId id="816" r:id="rId8"/>
    <p:sldId id="804" r:id="rId9"/>
    <p:sldId id="808" r:id="rId10"/>
    <p:sldId id="801" r:id="rId11"/>
    <p:sldId id="817" r:id="rId12"/>
    <p:sldId id="780" r:id="rId13"/>
    <p:sldId id="799" r:id="rId14"/>
    <p:sldId id="798" r:id="rId15"/>
    <p:sldId id="800" r:id="rId16"/>
    <p:sldId id="785" r:id="rId17"/>
    <p:sldId id="793" r:id="rId18"/>
    <p:sldId id="794" r:id="rId19"/>
    <p:sldId id="789" r:id="rId20"/>
    <p:sldId id="790" r:id="rId21"/>
    <p:sldId id="806" r:id="rId22"/>
    <p:sldId id="805" r:id="rId23"/>
    <p:sldId id="748" r:id="rId24"/>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8B7F92E-0F18-4EE4-8767-1A95839538DB}">
          <p14:sldIdLst>
            <p14:sldId id="738"/>
            <p14:sldId id="810"/>
            <p14:sldId id="811"/>
            <p14:sldId id="788"/>
            <p14:sldId id="815"/>
            <p14:sldId id="802"/>
            <p14:sldId id="816"/>
            <p14:sldId id="804"/>
            <p14:sldId id="808"/>
            <p14:sldId id="801"/>
            <p14:sldId id="817"/>
            <p14:sldId id="780"/>
            <p14:sldId id="799"/>
            <p14:sldId id="798"/>
            <p14:sldId id="800"/>
            <p14:sldId id="785"/>
            <p14:sldId id="793"/>
            <p14:sldId id="794"/>
            <p14:sldId id="789"/>
            <p14:sldId id="790"/>
            <p14:sldId id="806"/>
            <p14:sldId id="805"/>
            <p14:sldId id="74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BB05"/>
    <a:srgbClr val="9751CB"/>
    <a:srgbClr val="99CC00"/>
    <a:srgbClr val="E18015"/>
    <a:srgbClr val="F6BB00"/>
    <a:srgbClr val="FCDC9C"/>
    <a:srgbClr val="FFCCCC"/>
    <a:srgbClr val="FFF9E1"/>
    <a:srgbClr val="FFFFFF"/>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6F3C3C-22FD-4FA0-8A34-FA46FCE60B5A}" v="1" dt="2020-11-22T04:55:26.2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943" autoAdjust="0"/>
  </p:normalViewPr>
  <p:slideViewPr>
    <p:cSldViewPr showGuides="1">
      <p:cViewPr varScale="1">
        <p:scale>
          <a:sx n="76" d="100"/>
          <a:sy n="76" d="100"/>
        </p:scale>
        <p:origin x="917" y="58"/>
      </p:cViewPr>
      <p:guideLst>
        <p:guide orient="horz" pos="2160"/>
        <p:guide pos="3840"/>
      </p:guideLst>
    </p:cSldViewPr>
  </p:slideViewPr>
  <p:notesTextViewPr>
    <p:cViewPr>
      <p:scale>
        <a:sx n="3" d="2"/>
        <a:sy n="3" d="2"/>
      </p:scale>
      <p:origin x="0" y="0"/>
    </p:cViewPr>
  </p:notesTextViewPr>
  <p:sorterViewPr>
    <p:cViewPr varScale="1">
      <p:scale>
        <a:sx n="100" d="100"/>
        <a:sy n="100" d="100"/>
      </p:scale>
      <p:origin x="0" y="0"/>
    </p:cViewPr>
  </p:sorterViewPr>
  <p:notesViewPr>
    <p:cSldViewPr>
      <p:cViewPr varScale="1">
        <p:scale>
          <a:sx n="61" d="100"/>
          <a:sy n="61" d="100"/>
        </p:scale>
        <p:origin x="2266" y="5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wakarma, Rahul" userId="d0a59aeb-3820-414b-9d30-d903ec42a0f8" providerId="ADAL" clId="{096F3C3C-22FD-4FA0-8A34-FA46FCE60B5A}"/>
    <pc:docChg chg="delSld modSection">
      <pc:chgData name="Vishwakarma, Rahul" userId="d0a59aeb-3820-414b-9d30-d903ec42a0f8" providerId="ADAL" clId="{096F3C3C-22FD-4FA0-8A34-FA46FCE60B5A}" dt="2020-11-22T04:56:06.934" v="3" actId="2696"/>
      <pc:docMkLst>
        <pc:docMk/>
      </pc:docMkLst>
      <pc:sldChg chg="del">
        <pc:chgData name="Vishwakarma, Rahul" userId="d0a59aeb-3820-414b-9d30-d903ec42a0f8" providerId="ADAL" clId="{096F3C3C-22FD-4FA0-8A34-FA46FCE60B5A}" dt="2020-11-22T04:56:05.025" v="2" actId="2696"/>
        <pc:sldMkLst>
          <pc:docMk/>
          <pc:sldMk cId="4068526673" sldId="745"/>
        </pc:sldMkLst>
      </pc:sldChg>
      <pc:sldChg chg="del">
        <pc:chgData name="Vishwakarma, Rahul" userId="d0a59aeb-3820-414b-9d30-d903ec42a0f8" providerId="ADAL" clId="{096F3C3C-22FD-4FA0-8A34-FA46FCE60B5A}" dt="2020-11-22T04:56:06.934" v="3" actId="2696"/>
        <pc:sldMkLst>
          <pc:docMk/>
          <pc:sldMk cId="3789882978" sldId="750"/>
        </pc:sldMkLst>
      </pc:sldChg>
      <pc:sldChg chg="del">
        <pc:chgData name="Vishwakarma, Rahul" userId="d0a59aeb-3820-414b-9d30-d903ec42a0f8" providerId="ADAL" clId="{096F3C3C-22FD-4FA0-8A34-FA46FCE60B5A}" dt="2020-11-22T04:56:00.544" v="0" actId="2696"/>
        <pc:sldMkLst>
          <pc:docMk/>
          <pc:sldMk cId="1758039893" sldId="765"/>
        </pc:sldMkLst>
      </pc:sldChg>
      <pc:sldChg chg="del">
        <pc:chgData name="Vishwakarma, Rahul" userId="d0a59aeb-3820-414b-9d30-d903ec42a0f8" providerId="ADAL" clId="{096F3C3C-22FD-4FA0-8A34-FA46FCE60B5A}" dt="2020-11-22T04:56:01.654" v="1" actId="2696"/>
        <pc:sldMkLst>
          <pc:docMk/>
          <pc:sldMk cId="2172436985" sldId="7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6600E8-55A9-4F0D-B95A-4463C57971B3}"/>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1DE119B-C13B-4ADD-A1EE-51FF9EED851D}"/>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99453602-3732-4E96-80EC-9BD9981C1F9F}" type="datetimeFigureOut">
              <a:rPr lang="en-US" smtClean="0"/>
              <a:t>11/22/2020</a:t>
            </a:fld>
            <a:endParaRPr lang="en-US"/>
          </a:p>
        </p:txBody>
      </p:sp>
      <p:sp>
        <p:nvSpPr>
          <p:cNvPr id="4" name="Footer Placeholder 3">
            <a:extLst>
              <a:ext uri="{FF2B5EF4-FFF2-40B4-BE49-F238E27FC236}">
                <a16:creationId xmlns:a16="http://schemas.microsoft.com/office/drawing/2014/main" id="{553537FA-AD5C-497F-BC01-F098C85DB6DB}"/>
              </a:ext>
            </a:extLst>
          </p:cNvPr>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9F4BAA2-4CB2-42A1-B04F-0F3571D317F4}"/>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541800AA-E6E6-4201-92A3-19AC0FF692B1}" type="slidenum">
              <a:rPr lang="en-US" smtClean="0"/>
              <a:t>‹#›</a:t>
            </a:fld>
            <a:endParaRPr lang="en-US"/>
          </a:p>
        </p:txBody>
      </p:sp>
    </p:spTree>
    <p:extLst>
      <p:ext uri="{BB962C8B-B14F-4D97-AF65-F5344CB8AC3E}">
        <p14:creationId xmlns:p14="http://schemas.microsoft.com/office/powerpoint/2010/main" val="29264437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64" tIns="46582" rIns="93164" bIns="46582"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970938" y="0"/>
            <a:ext cx="3037840" cy="464820"/>
          </a:xfrm>
          <a:prstGeom prst="rect">
            <a:avLst/>
          </a:prstGeom>
        </p:spPr>
        <p:txBody>
          <a:bodyPr vert="horz" lIns="93164" tIns="46582" rIns="93164" bIns="46582" rtlCol="0"/>
          <a:lstStyle>
            <a:lvl1pPr algn="r" fontAlgn="auto">
              <a:spcBef>
                <a:spcPts val="0"/>
              </a:spcBef>
              <a:spcAft>
                <a:spcPts val="0"/>
              </a:spcAft>
              <a:defRPr sz="1200">
                <a:latin typeface="+mn-lt"/>
                <a:cs typeface="+mn-cs"/>
              </a:defRPr>
            </a:lvl1pPr>
          </a:lstStyle>
          <a:p>
            <a:pPr>
              <a:defRPr/>
            </a:pPr>
            <a:fld id="{A3CDFE6C-EA33-4BA4-8E92-B5CB3EFDB6F3}" type="datetimeFigureOut">
              <a:rPr lang="en-IN"/>
              <a:pPr>
                <a:defRPr/>
              </a:pPr>
              <a:t>22-11-2020</a:t>
            </a:fld>
            <a:endParaRPr lang="en-IN"/>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64" tIns="46582" rIns="93164" bIns="46582" rtlCol="0" anchor="ctr"/>
          <a:lstStyle/>
          <a:p>
            <a:pPr lvl="0"/>
            <a:endParaRPr lang="en-IN"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64" tIns="46582" rIns="93164" bIns="46582"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64" tIns="46582" rIns="93164" bIns="46582"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64" tIns="46582" rIns="93164" bIns="46582" rtlCol="0" anchor="b"/>
          <a:lstStyle>
            <a:lvl1pPr algn="r" fontAlgn="auto">
              <a:spcBef>
                <a:spcPts val="0"/>
              </a:spcBef>
              <a:spcAft>
                <a:spcPts val="0"/>
              </a:spcAft>
              <a:defRPr sz="1200">
                <a:latin typeface="+mn-lt"/>
                <a:cs typeface="+mn-cs"/>
              </a:defRPr>
            </a:lvl1pPr>
          </a:lstStyle>
          <a:p>
            <a:pPr>
              <a:defRPr/>
            </a:pPr>
            <a:fld id="{C955D580-1DDD-4331-B2EA-233B668AD67B}" type="slidenum">
              <a:rPr lang="en-IN"/>
              <a:pPr>
                <a:defRPr/>
              </a:pPr>
              <a:t>‹#›</a:t>
            </a:fld>
            <a:endParaRPr lang="en-IN"/>
          </a:p>
        </p:txBody>
      </p:sp>
    </p:spTree>
    <p:extLst>
      <p:ext uri="{BB962C8B-B14F-4D97-AF65-F5344CB8AC3E}">
        <p14:creationId xmlns:p14="http://schemas.microsoft.com/office/powerpoint/2010/main" val="4500919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C955D580-1DDD-4331-B2EA-233B668AD67B}" type="slidenum">
              <a:rPr lang="en-IN" smtClean="0"/>
              <a:pPr>
                <a:defRPr/>
              </a:pPr>
              <a:t>4</a:t>
            </a:fld>
            <a:endParaRPr lang="en-IN"/>
          </a:p>
        </p:txBody>
      </p:sp>
    </p:spTree>
    <p:extLst>
      <p:ext uri="{BB962C8B-B14F-4D97-AF65-F5344CB8AC3E}">
        <p14:creationId xmlns:p14="http://schemas.microsoft.com/office/powerpoint/2010/main" val="20781081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5710" y="2385898"/>
            <a:ext cx="7336514" cy="1295515"/>
          </a:xfrm>
        </p:spPr>
        <p:txBody>
          <a:bodyPr anchor="b">
            <a:noAutofit/>
          </a:bodyPr>
          <a:lstStyle>
            <a:lvl1pPr algn="l">
              <a:defRPr sz="4400">
                <a:solidFill>
                  <a:schemeClr val="bg2">
                    <a:lumMod val="50000"/>
                  </a:schemeClr>
                </a:solidFill>
                <a:latin typeface="Calibri" panose="020F0502020204030204" pitchFamily="34" charset="0"/>
                <a:cs typeface="Calibri" panose="020F0502020204030204" pitchFamily="34" charset="0"/>
              </a:defRPr>
            </a:lvl1pPr>
          </a:lstStyle>
          <a:p>
            <a:r>
              <a:rPr lang="en-US" dirty="0"/>
              <a:t>Click to edit Master title style</a:t>
            </a:r>
          </a:p>
        </p:txBody>
      </p:sp>
      <p:sp>
        <p:nvSpPr>
          <p:cNvPr id="3" name="Subtitle 2"/>
          <p:cNvSpPr>
            <a:spLocks noGrp="1"/>
          </p:cNvSpPr>
          <p:nvPr>
            <p:ph type="subTitle" idx="1"/>
          </p:nvPr>
        </p:nvSpPr>
        <p:spPr>
          <a:xfrm>
            <a:off x="767408" y="3741900"/>
            <a:ext cx="7336514" cy="365125"/>
          </a:xfrm>
        </p:spPr>
        <p:txBody>
          <a:bodyPr anchor="t"/>
          <a:lstStyle>
            <a:lvl1pPr marL="0" indent="0" algn="l">
              <a:buNone/>
              <a:defRPr>
                <a:solidFill>
                  <a:schemeClr val="tx1">
                    <a:lumMod val="50000"/>
                    <a:lumOff val="50000"/>
                  </a:schemeClr>
                </a:solidFill>
                <a:latin typeface="Calibri" panose="020F0502020204030204" pitchFamily="34" charset="0"/>
                <a:cs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2" name="Text Placeholder 6">
            <a:extLst>
              <a:ext uri="{FF2B5EF4-FFF2-40B4-BE49-F238E27FC236}">
                <a16:creationId xmlns:a16="http://schemas.microsoft.com/office/drawing/2014/main" id="{F402F938-4842-47C4-85B8-DFC2B463B2B3}"/>
              </a:ext>
            </a:extLst>
          </p:cNvPr>
          <p:cNvSpPr>
            <a:spLocks noGrp="1"/>
          </p:cNvSpPr>
          <p:nvPr>
            <p:ph type="body" sz="quarter" idx="13" hasCustomPrompt="1"/>
          </p:nvPr>
        </p:nvSpPr>
        <p:spPr>
          <a:xfrm>
            <a:off x="782216" y="4653136"/>
            <a:ext cx="3657600" cy="355601"/>
          </a:xfrm>
        </p:spPr>
        <p:txBody>
          <a:bodyPr anchor="b"/>
          <a:lstStyle>
            <a:lvl1pPr algn="l">
              <a:buNone/>
              <a:defRPr sz="1600">
                <a:solidFill>
                  <a:schemeClr val="bg2">
                    <a:lumMod val="50000"/>
                  </a:schemeClr>
                </a:solidFill>
                <a:latin typeface="Calibri" panose="020F0502020204030204" pitchFamily="34" charset="0"/>
                <a:cs typeface="Calibri" panose="020F0502020204030204" pitchFamily="34" charset="0"/>
              </a:defRPr>
            </a:lvl1pPr>
          </a:lstStyle>
          <a:p>
            <a:pPr lvl="0"/>
            <a:r>
              <a:rPr lang="en-US" dirty="0"/>
              <a:t>Speaker Name</a:t>
            </a:r>
          </a:p>
        </p:txBody>
      </p:sp>
      <p:sp>
        <p:nvSpPr>
          <p:cNvPr id="23" name="Text Placeholder 6">
            <a:extLst>
              <a:ext uri="{FF2B5EF4-FFF2-40B4-BE49-F238E27FC236}">
                <a16:creationId xmlns:a16="http://schemas.microsoft.com/office/drawing/2014/main" id="{E7C3B83C-5459-480C-9E2B-EB8FF120D0F4}"/>
              </a:ext>
            </a:extLst>
          </p:cNvPr>
          <p:cNvSpPr>
            <a:spLocks noGrp="1"/>
          </p:cNvSpPr>
          <p:nvPr>
            <p:ph type="body" sz="quarter" idx="14" hasCustomPrompt="1"/>
          </p:nvPr>
        </p:nvSpPr>
        <p:spPr>
          <a:xfrm>
            <a:off x="782216" y="5054456"/>
            <a:ext cx="3657600" cy="355601"/>
          </a:xfrm>
        </p:spPr>
        <p:txBody>
          <a:bodyPr/>
          <a:lstStyle>
            <a:lvl1pPr algn="l">
              <a:buNone/>
              <a:defRPr sz="1600">
                <a:solidFill>
                  <a:schemeClr val="bg2">
                    <a:lumMod val="50000"/>
                  </a:schemeClr>
                </a:solidFill>
                <a:latin typeface="Calibri" panose="020F0502020204030204" pitchFamily="34" charset="0"/>
                <a:cs typeface="Calibri" panose="020F0502020204030204" pitchFamily="34" charset="0"/>
              </a:defRPr>
            </a:lvl1pPr>
          </a:lstStyle>
          <a:p>
            <a:pPr lvl="0"/>
            <a:r>
              <a:rPr lang="en-US" dirty="0"/>
              <a:t>Role / Division at Dell EMC</a:t>
            </a:r>
          </a:p>
        </p:txBody>
      </p:sp>
      <p:sp>
        <p:nvSpPr>
          <p:cNvPr id="25" name="Text Placeholder 6">
            <a:extLst>
              <a:ext uri="{FF2B5EF4-FFF2-40B4-BE49-F238E27FC236}">
                <a16:creationId xmlns:a16="http://schemas.microsoft.com/office/drawing/2014/main" id="{61E90EDB-040D-41E8-B442-BAA0B42C274A}"/>
              </a:ext>
            </a:extLst>
          </p:cNvPr>
          <p:cNvSpPr>
            <a:spLocks noGrp="1"/>
          </p:cNvSpPr>
          <p:nvPr>
            <p:ph type="body" sz="quarter" idx="15" hasCustomPrompt="1"/>
          </p:nvPr>
        </p:nvSpPr>
        <p:spPr>
          <a:xfrm>
            <a:off x="782216" y="5410057"/>
            <a:ext cx="3657600" cy="267221"/>
          </a:xfrm>
        </p:spPr>
        <p:txBody>
          <a:bodyPr/>
          <a:lstStyle>
            <a:lvl1pPr algn="l">
              <a:buNone/>
              <a:defRPr sz="1200">
                <a:solidFill>
                  <a:schemeClr val="bg2">
                    <a:lumMod val="50000"/>
                  </a:schemeClr>
                </a:solidFill>
                <a:latin typeface="Calibri" panose="020F0502020204030204" pitchFamily="34" charset="0"/>
                <a:cs typeface="Calibri" panose="020F0502020204030204" pitchFamily="34" charset="0"/>
              </a:defRPr>
            </a:lvl1pPr>
          </a:lstStyle>
          <a:p>
            <a:pPr lvl="0"/>
            <a:r>
              <a:rPr lang="en-US" dirty="0"/>
              <a:t>Date</a:t>
            </a:r>
          </a:p>
        </p:txBody>
      </p:sp>
      <p:cxnSp>
        <p:nvCxnSpPr>
          <p:cNvPr id="33" name="Straight Connector 32">
            <a:extLst>
              <a:ext uri="{FF2B5EF4-FFF2-40B4-BE49-F238E27FC236}">
                <a16:creationId xmlns:a16="http://schemas.microsoft.com/office/drawing/2014/main" id="{88D243E6-550D-473B-9138-90B01A7CCE5A}"/>
              </a:ext>
            </a:extLst>
          </p:cNvPr>
          <p:cNvCxnSpPr/>
          <p:nvPr userDrawn="1"/>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E9BDE0B1-AE07-42FD-A538-8FD11EC78713}"/>
              </a:ext>
            </a:extLst>
          </p:cNvPr>
          <p:cNvSpPr/>
          <p:nvPr userDrawn="1"/>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5">
            <a:extLst>
              <a:ext uri="{FF2B5EF4-FFF2-40B4-BE49-F238E27FC236}">
                <a16:creationId xmlns:a16="http://schemas.microsoft.com/office/drawing/2014/main" id="{2732BAF6-7FEE-4D3F-9A98-5E7C83C4D2E1}"/>
              </a:ext>
            </a:extLst>
          </p:cNvPr>
          <p:cNvSpPr/>
          <p:nvPr userDrawn="1"/>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35">
            <a:extLst>
              <a:ext uri="{FF2B5EF4-FFF2-40B4-BE49-F238E27FC236}">
                <a16:creationId xmlns:a16="http://schemas.microsoft.com/office/drawing/2014/main" id="{645627B4-B8AA-4A16-B2D7-7D541E62A699}"/>
              </a:ext>
            </a:extLst>
          </p:cNvPr>
          <p:cNvSpPr/>
          <p:nvPr userDrawn="1"/>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Rectangle 27">
            <a:extLst>
              <a:ext uri="{FF2B5EF4-FFF2-40B4-BE49-F238E27FC236}">
                <a16:creationId xmlns:a16="http://schemas.microsoft.com/office/drawing/2014/main" id="{4BD32ECA-0DF8-4DF3-B5D6-7092679D96F7}"/>
              </a:ext>
            </a:extLst>
          </p:cNvPr>
          <p:cNvSpPr/>
          <p:nvPr userDrawn="1"/>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29">
            <a:extLst>
              <a:ext uri="{FF2B5EF4-FFF2-40B4-BE49-F238E27FC236}">
                <a16:creationId xmlns:a16="http://schemas.microsoft.com/office/drawing/2014/main" id="{CF6DF9FC-6377-4AF2-9784-F4407F1CA767}"/>
              </a:ext>
            </a:extLst>
          </p:cNvPr>
          <p:cNvSpPr/>
          <p:nvPr userDrawn="1"/>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Isosceles Triangle 38">
            <a:extLst>
              <a:ext uri="{FF2B5EF4-FFF2-40B4-BE49-F238E27FC236}">
                <a16:creationId xmlns:a16="http://schemas.microsoft.com/office/drawing/2014/main" id="{9354D476-B6FF-4076-848B-4DF24B762B1D}"/>
              </a:ext>
            </a:extLst>
          </p:cNvPr>
          <p:cNvSpPr/>
          <p:nvPr userDrawn="1"/>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40" name="Straight Connector 39">
            <a:extLst>
              <a:ext uri="{FF2B5EF4-FFF2-40B4-BE49-F238E27FC236}">
                <a16:creationId xmlns:a16="http://schemas.microsoft.com/office/drawing/2014/main" id="{11FD951C-B026-412C-B988-7D1165ECCBAE}"/>
              </a:ext>
            </a:extLst>
          </p:cNvPr>
          <p:cNvCxnSpPr/>
          <p:nvPr userDrawn="1"/>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1" name="Rectangle 28">
            <a:extLst>
              <a:ext uri="{FF2B5EF4-FFF2-40B4-BE49-F238E27FC236}">
                <a16:creationId xmlns:a16="http://schemas.microsoft.com/office/drawing/2014/main" id="{B35D8494-51B7-4FA2-91D8-CD8D90A64DBD}"/>
              </a:ext>
            </a:extLst>
          </p:cNvPr>
          <p:cNvSpPr/>
          <p:nvPr userDrawn="1"/>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4" name="Picture 3">
            <a:extLst>
              <a:ext uri="{FF2B5EF4-FFF2-40B4-BE49-F238E27FC236}">
                <a16:creationId xmlns:a16="http://schemas.microsoft.com/office/drawing/2014/main" id="{C0A6E6A2-3E50-4664-B106-B777027140F3}"/>
              </a:ext>
            </a:extLst>
          </p:cNvPr>
          <p:cNvPicPr>
            <a:picLocks noChangeAspect="1"/>
          </p:cNvPicPr>
          <p:nvPr userDrawn="1"/>
        </p:nvPicPr>
        <p:blipFill>
          <a:blip r:embed="rId2"/>
          <a:stretch>
            <a:fillRect/>
          </a:stretch>
        </p:blipFill>
        <p:spPr>
          <a:xfrm>
            <a:off x="983432" y="215401"/>
            <a:ext cx="2505673" cy="2024047"/>
          </a:xfrm>
          <a:prstGeom prst="rect">
            <a:avLst/>
          </a:prstGeom>
        </p:spPr>
      </p:pic>
    </p:spTree>
    <p:extLst>
      <p:ext uri="{BB962C8B-B14F-4D97-AF65-F5344CB8AC3E}">
        <p14:creationId xmlns:p14="http://schemas.microsoft.com/office/powerpoint/2010/main" val="225675662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408" y="1600735"/>
            <a:ext cx="8596668" cy="1913147"/>
          </a:xfrm>
        </p:spPr>
        <p:txBody>
          <a:bodyPr>
            <a:noAutofit/>
          </a:bodyPr>
          <a:lstStyle>
            <a:lvl1pPr>
              <a:defRPr sz="2800">
                <a:solidFill>
                  <a:schemeClr val="bg2">
                    <a:lumMod val="50000"/>
                  </a:schemeClr>
                </a:solidFill>
                <a:latin typeface="Calibri" panose="020F0502020204030204" pitchFamily="34" charset="0"/>
                <a:cs typeface="Calibri" panose="020F0502020204030204" pitchFamily="34" charset="0"/>
              </a:defRPr>
            </a:lvl1pPr>
            <a:lvl2pPr>
              <a:defRPr sz="2400">
                <a:solidFill>
                  <a:schemeClr val="bg2">
                    <a:lumMod val="50000"/>
                  </a:schemeClr>
                </a:solidFill>
                <a:latin typeface="Calibri" panose="020F0502020204030204" pitchFamily="34" charset="0"/>
                <a:cs typeface="Calibri" panose="020F0502020204030204" pitchFamily="34" charset="0"/>
              </a:defRPr>
            </a:lvl2pPr>
            <a:lvl3pPr>
              <a:defRPr sz="2000">
                <a:latin typeface="Calibri" panose="020F0502020204030204" pitchFamily="34" charset="0"/>
                <a:cs typeface="Calibri" panose="020F0502020204030204" pitchFamily="34" charset="0"/>
              </a:defRPr>
            </a:lvl3pPr>
            <a:lvl4pPr>
              <a:defRPr sz="1800">
                <a:latin typeface="Calibri" panose="020F0502020204030204" pitchFamily="34" charset="0"/>
                <a:cs typeface="Calibri" panose="020F0502020204030204" pitchFamily="34" charset="0"/>
              </a:defRPr>
            </a:lvl4pPr>
            <a:lvl5pPr>
              <a:defRPr sz="1800">
                <a:latin typeface="Calibri" panose="020F0502020204030204" pitchFamily="34" charset="0"/>
                <a:cs typeface="Calibri" panose="020F0502020204030204" pitchFamily="34" charset="0"/>
              </a:defRPr>
            </a:lvl5pPr>
          </a:lstStyle>
          <a:p>
            <a:pPr lvl="0"/>
            <a:r>
              <a:rPr lang="en-US" dirty="0"/>
              <a:t>Edit Master text styles</a:t>
            </a:r>
          </a:p>
          <a:p>
            <a:pPr lvl="1"/>
            <a:r>
              <a:rPr lang="en-US" dirty="0"/>
              <a:t>Second level</a:t>
            </a:r>
          </a:p>
        </p:txBody>
      </p:sp>
      <p:sp>
        <p:nvSpPr>
          <p:cNvPr id="8" name="Date Placeholder 3">
            <a:extLst>
              <a:ext uri="{FF2B5EF4-FFF2-40B4-BE49-F238E27FC236}">
                <a16:creationId xmlns:a16="http://schemas.microsoft.com/office/drawing/2014/main" id="{4408F6B6-B8E9-4D96-977C-5AD78C76D17E}"/>
              </a:ext>
            </a:extLst>
          </p:cNvPr>
          <p:cNvSpPr>
            <a:spLocks noGrp="1"/>
          </p:cNvSpPr>
          <p:nvPr>
            <p:ph type="dt" sz="half" idx="2"/>
          </p:nvPr>
        </p:nvSpPr>
        <p:spPr>
          <a:xfrm>
            <a:off x="6647135" y="6376243"/>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11/22/2020</a:t>
            </a:fld>
            <a:endParaRPr lang="en-US" dirty="0"/>
          </a:p>
        </p:txBody>
      </p:sp>
      <p:sp>
        <p:nvSpPr>
          <p:cNvPr id="9" name="Slide Number Placeholder 5">
            <a:extLst>
              <a:ext uri="{FF2B5EF4-FFF2-40B4-BE49-F238E27FC236}">
                <a16:creationId xmlns:a16="http://schemas.microsoft.com/office/drawing/2014/main" id="{22FFDBF6-65E8-47BB-8801-67EB6932EBFE}"/>
              </a:ext>
            </a:extLst>
          </p:cNvPr>
          <p:cNvSpPr>
            <a:spLocks noGrp="1"/>
          </p:cNvSpPr>
          <p:nvPr>
            <p:ph type="sldNum" sz="quarter" idx="4"/>
          </p:nvPr>
        </p:nvSpPr>
        <p:spPr>
          <a:xfrm>
            <a:off x="8032665" y="6376243"/>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0" name="Title 1">
            <a:extLst>
              <a:ext uri="{FF2B5EF4-FFF2-40B4-BE49-F238E27FC236}">
                <a16:creationId xmlns:a16="http://schemas.microsoft.com/office/drawing/2014/main" id="{65ABDE6C-55EF-43E8-B26B-62DEB30C786C}"/>
              </a:ext>
            </a:extLst>
          </p:cNvPr>
          <p:cNvSpPr>
            <a:spLocks noGrp="1"/>
          </p:cNvSpPr>
          <p:nvPr>
            <p:ph type="title"/>
          </p:nvPr>
        </p:nvSpPr>
        <p:spPr>
          <a:xfrm>
            <a:off x="811700" y="451513"/>
            <a:ext cx="8596668" cy="1320800"/>
          </a:xfrm>
        </p:spPr>
        <p:txBody>
          <a:bodyPr>
            <a:normAutofit/>
          </a:bodyPr>
          <a:lstStyle>
            <a:lvl1pPr>
              <a:defRPr sz="4000">
                <a:solidFill>
                  <a:schemeClr val="bg2">
                    <a:lumMod val="50000"/>
                  </a:schemeClr>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pic>
        <p:nvPicPr>
          <p:cNvPr id="4" name="Picture 3">
            <a:extLst>
              <a:ext uri="{FF2B5EF4-FFF2-40B4-BE49-F238E27FC236}">
                <a16:creationId xmlns:a16="http://schemas.microsoft.com/office/drawing/2014/main" id="{BC90DEFD-9445-49A1-97F8-D9B0D787D8B3}"/>
              </a:ext>
            </a:extLst>
          </p:cNvPr>
          <p:cNvPicPr>
            <a:picLocks noChangeAspect="1"/>
          </p:cNvPicPr>
          <p:nvPr userDrawn="1"/>
        </p:nvPicPr>
        <p:blipFill>
          <a:blip r:embed="rId2"/>
          <a:stretch>
            <a:fillRect/>
          </a:stretch>
        </p:blipFill>
        <p:spPr>
          <a:xfrm>
            <a:off x="10926105" y="5945369"/>
            <a:ext cx="1074551" cy="868007"/>
          </a:xfrm>
          <a:prstGeom prst="rect">
            <a:avLst/>
          </a:prstGeom>
        </p:spPr>
      </p:pic>
    </p:spTree>
    <p:extLst>
      <p:ext uri="{BB962C8B-B14F-4D97-AF65-F5344CB8AC3E}">
        <p14:creationId xmlns:p14="http://schemas.microsoft.com/office/powerpoint/2010/main" val="26051927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4A55210-7375-4A72-8032-CEA56FBD3814}"/>
              </a:ext>
            </a:extLst>
          </p:cNvPr>
          <p:cNvPicPr>
            <a:picLocks noChangeAspect="1"/>
          </p:cNvPicPr>
          <p:nvPr userDrawn="1"/>
        </p:nvPicPr>
        <p:blipFill>
          <a:blip r:embed="rId2"/>
          <a:stretch>
            <a:fillRect/>
          </a:stretch>
        </p:blipFill>
        <p:spPr>
          <a:xfrm>
            <a:off x="10926105" y="5945369"/>
            <a:ext cx="1074551" cy="868007"/>
          </a:xfrm>
          <a:prstGeom prst="rect">
            <a:avLst/>
          </a:prstGeom>
        </p:spPr>
      </p:pic>
      <p:sp>
        <p:nvSpPr>
          <p:cNvPr id="2" name="Title 1"/>
          <p:cNvSpPr>
            <a:spLocks noGrp="1"/>
          </p:cNvSpPr>
          <p:nvPr>
            <p:ph type="title"/>
          </p:nvPr>
        </p:nvSpPr>
        <p:spPr>
          <a:xfrm>
            <a:off x="811700" y="451513"/>
            <a:ext cx="8596668" cy="1320800"/>
          </a:xfrm>
        </p:spPr>
        <p:txBody>
          <a:bodyPr>
            <a:normAutofit/>
          </a:bodyPr>
          <a:lstStyle>
            <a:lvl1pPr>
              <a:defRPr sz="4000">
                <a:solidFill>
                  <a:schemeClr val="bg2">
                    <a:lumMod val="50000"/>
                  </a:schemeClr>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6" name="Date Placeholder 3">
            <a:extLst>
              <a:ext uri="{FF2B5EF4-FFF2-40B4-BE49-F238E27FC236}">
                <a16:creationId xmlns:a16="http://schemas.microsoft.com/office/drawing/2014/main" id="{EB73900E-C076-4DD4-9648-2425A5CFFDAA}"/>
              </a:ext>
            </a:extLst>
          </p:cNvPr>
          <p:cNvSpPr>
            <a:spLocks noGrp="1"/>
          </p:cNvSpPr>
          <p:nvPr>
            <p:ph type="dt" sz="half" idx="2"/>
          </p:nvPr>
        </p:nvSpPr>
        <p:spPr>
          <a:xfrm>
            <a:off x="6647135" y="6376243"/>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11/22/2020</a:t>
            </a:fld>
            <a:endParaRPr lang="en-US" dirty="0"/>
          </a:p>
        </p:txBody>
      </p:sp>
      <p:sp>
        <p:nvSpPr>
          <p:cNvPr id="7" name="Slide Number Placeholder 5">
            <a:extLst>
              <a:ext uri="{FF2B5EF4-FFF2-40B4-BE49-F238E27FC236}">
                <a16:creationId xmlns:a16="http://schemas.microsoft.com/office/drawing/2014/main" id="{023161B5-A0A9-4AD2-8806-5D57E2A3CE88}"/>
              </a:ext>
            </a:extLst>
          </p:cNvPr>
          <p:cNvSpPr>
            <a:spLocks noGrp="1"/>
          </p:cNvSpPr>
          <p:nvPr>
            <p:ph type="sldNum" sz="quarter" idx="4"/>
          </p:nvPr>
        </p:nvSpPr>
        <p:spPr>
          <a:xfrm>
            <a:off x="8032665" y="6376243"/>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72775948"/>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20B2DA-B060-4CFC-9813-D3BCF4C0A704}"/>
              </a:ext>
            </a:extLst>
          </p:cNvPr>
          <p:cNvPicPr>
            <a:picLocks noChangeAspect="1"/>
          </p:cNvPicPr>
          <p:nvPr userDrawn="1"/>
        </p:nvPicPr>
        <p:blipFill>
          <a:blip r:embed="rId2"/>
          <a:stretch>
            <a:fillRect/>
          </a:stretch>
        </p:blipFill>
        <p:spPr>
          <a:xfrm>
            <a:off x="10926105" y="5945369"/>
            <a:ext cx="1074551" cy="868007"/>
          </a:xfrm>
          <a:prstGeom prst="rect">
            <a:avLst/>
          </a:prstGeom>
        </p:spPr>
      </p:pic>
      <p:sp>
        <p:nvSpPr>
          <p:cNvPr id="5" name="Date Placeholder 3">
            <a:extLst>
              <a:ext uri="{FF2B5EF4-FFF2-40B4-BE49-F238E27FC236}">
                <a16:creationId xmlns:a16="http://schemas.microsoft.com/office/drawing/2014/main" id="{9C7292D1-EC0F-49ED-84C3-8C79E2641D5B}"/>
              </a:ext>
            </a:extLst>
          </p:cNvPr>
          <p:cNvSpPr>
            <a:spLocks noGrp="1"/>
          </p:cNvSpPr>
          <p:nvPr>
            <p:ph type="dt" sz="half" idx="2"/>
          </p:nvPr>
        </p:nvSpPr>
        <p:spPr>
          <a:xfrm>
            <a:off x="6647135" y="6376243"/>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11/22/2020</a:t>
            </a:fld>
            <a:endParaRPr lang="en-US" dirty="0"/>
          </a:p>
        </p:txBody>
      </p:sp>
      <p:sp>
        <p:nvSpPr>
          <p:cNvPr id="6" name="Slide Number Placeholder 5">
            <a:extLst>
              <a:ext uri="{FF2B5EF4-FFF2-40B4-BE49-F238E27FC236}">
                <a16:creationId xmlns:a16="http://schemas.microsoft.com/office/drawing/2014/main" id="{15303090-878A-4112-ADBA-70A1F487CE13}"/>
              </a:ext>
            </a:extLst>
          </p:cNvPr>
          <p:cNvSpPr>
            <a:spLocks noGrp="1"/>
          </p:cNvSpPr>
          <p:nvPr>
            <p:ph type="sldNum" sz="quarter" idx="4"/>
          </p:nvPr>
        </p:nvSpPr>
        <p:spPr>
          <a:xfrm>
            <a:off x="8032665" y="6376243"/>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7107433"/>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EB601C8-BB25-419A-A317-2132A321E46E}"/>
              </a:ext>
            </a:extLst>
          </p:cNvPr>
          <p:cNvSpPr txBox="1"/>
          <p:nvPr userDrawn="1"/>
        </p:nvSpPr>
        <p:spPr>
          <a:xfrm>
            <a:off x="983432" y="3645024"/>
            <a:ext cx="3585557" cy="692497"/>
          </a:xfrm>
          <a:prstGeom prst="rect">
            <a:avLst/>
          </a:prstGeom>
        </p:spPr>
        <p:txBody>
          <a:bodyPr wrap="square" lIns="0" tIns="0" rIns="0" bIns="0" rtlCol="0">
            <a:spAutoFit/>
          </a:bodyPr>
          <a:lstStyle/>
          <a:p>
            <a:pPr algn="l" defTabSz="914400" rtl="0" eaLnBrk="1" latinLnBrk="0" hangingPunct="1">
              <a:lnSpc>
                <a:spcPct val="90000"/>
              </a:lnSpc>
              <a:spcBef>
                <a:spcPct val="0"/>
              </a:spcBef>
              <a:spcAft>
                <a:spcPts val="600"/>
              </a:spcAft>
              <a:buNone/>
            </a:pPr>
            <a:r>
              <a:rPr lang="en-US" sz="5000" b="0" kern="1200" cap="none" baseline="0" dirty="0">
                <a:solidFill>
                  <a:schemeClr val="bg2">
                    <a:lumMod val="50000"/>
                  </a:schemeClr>
                </a:solidFill>
                <a:latin typeface="+mj-lt"/>
                <a:ea typeface="+mj-ea"/>
                <a:cs typeface="+mj-cs"/>
              </a:rPr>
              <a:t>Thank You</a:t>
            </a:r>
          </a:p>
        </p:txBody>
      </p:sp>
      <p:sp>
        <p:nvSpPr>
          <p:cNvPr id="9" name="Date Placeholder 3">
            <a:extLst>
              <a:ext uri="{FF2B5EF4-FFF2-40B4-BE49-F238E27FC236}">
                <a16:creationId xmlns:a16="http://schemas.microsoft.com/office/drawing/2014/main" id="{D38DBD0E-49E1-4468-93D3-FB3355D5E8A2}"/>
              </a:ext>
            </a:extLst>
          </p:cNvPr>
          <p:cNvSpPr>
            <a:spLocks noGrp="1"/>
          </p:cNvSpPr>
          <p:nvPr>
            <p:ph type="dt" sz="half" idx="2"/>
          </p:nvPr>
        </p:nvSpPr>
        <p:spPr>
          <a:xfrm>
            <a:off x="6647135" y="6376243"/>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11/22/2020</a:t>
            </a:fld>
            <a:endParaRPr lang="en-US" dirty="0"/>
          </a:p>
        </p:txBody>
      </p:sp>
      <p:sp>
        <p:nvSpPr>
          <p:cNvPr id="10" name="Slide Number Placeholder 5">
            <a:extLst>
              <a:ext uri="{FF2B5EF4-FFF2-40B4-BE49-F238E27FC236}">
                <a16:creationId xmlns:a16="http://schemas.microsoft.com/office/drawing/2014/main" id="{61E87AE3-4191-4F6D-B10B-1250BC88A827}"/>
              </a:ext>
            </a:extLst>
          </p:cNvPr>
          <p:cNvSpPr>
            <a:spLocks noGrp="1"/>
          </p:cNvSpPr>
          <p:nvPr>
            <p:ph type="sldNum" sz="quarter" idx="4"/>
          </p:nvPr>
        </p:nvSpPr>
        <p:spPr>
          <a:xfrm>
            <a:off x="8032665" y="6376243"/>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cxnSp>
        <p:nvCxnSpPr>
          <p:cNvPr id="11" name="Straight Connector 10">
            <a:extLst>
              <a:ext uri="{FF2B5EF4-FFF2-40B4-BE49-F238E27FC236}">
                <a16:creationId xmlns:a16="http://schemas.microsoft.com/office/drawing/2014/main" id="{E8CEE240-F799-4CBC-9CD2-745E96D330CF}"/>
              </a:ext>
            </a:extLst>
          </p:cNvPr>
          <p:cNvCxnSpPr/>
          <p:nvPr userDrawn="1"/>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D2FF8AF4-CC92-48B3-A377-A95CE3C831B5}"/>
              </a:ext>
            </a:extLst>
          </p:cNvPr>
          <p:cNvSpPr/>
          <p:nvPr userDrawn="1"/>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5BC25E0D-BB92-4DC0-9D81-BCAB05C20AF5}"/>
              </a:ext>
            </a:extLst>
          </p:cNvPr>
          <p:cNvSpPr/>
          <p:nvPr userDrawn="1"/>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060CCEF1-A288-45D7-9D32-4A338123A444}"/>
              </a:ext>
            </a:extLst>
          </p:cNvPr>
          <p:cNvSpPr/>
          <p:nvPr userDrawn="1"/>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A4A07C38-F60F-4F9B-9376-A8E18A3DAC48}"/>
              </a:ext>
            </a:extLst>
          </p:cNvPr>
          <p:cNvSpPr/>
          <p:nvPr userDrawn="1"/>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9">
            <a:extLst>
              <a:ext uri="{FF2B5EF4-FFF2-40B4-BE49-F238E27FC236}">
                <a16:creationId xmlns:a16="http://schemas.microsoft.com/office/drawing/2014/main" id="{E5F6DFB4-AAF5-4B00-A0DB-5BBE7F814A1A}"/>
              </a:ext>
            </a:extLst>
          </p:cNvPr>
          <p:cNvSpPr/>
          <p:nvPr userDrawn="1"/>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Isosceles Triangle 16">
            <a:extLst>
              <a:ext uri="{FF2B5EF4-FFF2-40B4-BE49-F238E27FC236}">
                <a16:creationId xmlns:a16="http://schemas.microsoft.com/office/drawing/2014/main" id="{31EBE0A4-3FE0-4620-AD85-6ACB8EF5A8BD}"/>
              </a:ext>
            </a:extLst>
          </p:cNvPr>
          <p:cNvSpPr/>
          <p:nvPr userDrawn="1"/>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8" name="Straight Connector 17">
            <a:extLst>
              <a:ext uri="{FF2B5EF4-FFF2-40B4-BE49-F238E27FC236}">
                <a16:creationId xmlns:a16="http://schemas.microsoft.com/office/drawing/2014/main" id="{0FBEBF4E-EEB7-412B-8362-E840DDBDCE37}"/>
              </a:ext>
            </a:extLst>
          </p:cNvPr>
          <p:cNvCxnSpPr/>
          <p:nvPr userDrawn="1"/>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Rectangle 28">
            <a:extLst>
              <a:ext uri="{FF2B5EF4-FFF2-40B4-BE49-F238E27FC236}">
                <a16:creationId xmlns:a16="http://schemas.microsoft.com/office/drawing/2014/main" id="{A10FFD02-9A82-46F3-B81F-96575F611899}"/>
              </a:ext>
            </a:extLst>
          </p:cNvPr>
          <p:cNvSpPr/>
          <p:nvPr userDrawn="1"/>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2" name="Picture 1">
            <a:extLst>
              <a:ext uri="{FF2B5EF4-FFF2-40B4-BE49-F238E27FC236}">
                <a16:creationId xmlns:a16="http://schemas.microsoft.com/office/drawing/2014/main" id="{E7163C53-3635-415E-BAA0-B713FBBDD3FA}"/>
              </a:ext>
            </a:extLst>
          </p:cNvPr>
          <p:cNvPicPr>
            <a:picLocks noChangeAspect="1"/>
          </p:cNvPicPr>
          <p:nvPr userDrawn="1"/>
        </p:nvPicPr>
        <p:blipFill>
          <a:blip r:embed="rId2"/>
          <a:stretch>
            <a:fillRect/>
          </a:stretch>
        </p:blipFill>
        <p:spPr>
          <a:xfrm>
            <a:off x="1055440" y="260648"/>
            <a:ext cx="2505673" cy="2024047"/>
          </a:xfrm>
          <a:prstGeom prst="rect">
            <a:avLst/>
          </a:prstGeom>
        </p:spPr>
      </p:pic>
    </p:spTree>
    <p:extLst>
      <p:ext uri="{BB962C8B-B14F-4D97-AF65-F5344CB8AC3E}">
        <p14:creationId xmlns:p14="http://schemas.microsoft.com/office/powerpoint/2010/main" val="2813315079"/>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8296" y="2013631"/>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08296" y="3501351"/>
            <a:ext cx="8596668" cy="1913147"/>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647135" y="6376243"/>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11/22/2020</a:t>
            </a:fld>
            <a:endParaRPr lang="en-US" dirty="0"/>
          </a:p>
        </p:txBody>
      </p:sp>
      <p:sp>
        <p:nvSpPr>
          <p:cNvPr id="6" name="Slide Number Placeholder 5"/>
          <p:cNvSpPr>
            <a:spLocks noGrp="1"/>
          </p:cNvSpPr>
          <p:nvPr>
            <p:ph type="sldNum" sz="quarter" idx="4"/>
          </p:nvPr>
        </p:nvSpPr>
        <p:spPr>
          <a:xfrm>
            <a:off x="8032665" y="6376243"/>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30" name="Isosceles Triangle 29">
            <a:extLst>
              <a:ext uri="{FF2B5EF4-FFF2-40B4-BE49-F238E27FC236}">
                <a16:creationId xmlns:a16="http://schemas.microsoft.com/office/drawing/2014/main" id="{04DEC2E2-7AF6-4971-B6AF-C30FD4C76FFC}"/>
              </a:ext>
            </a:extLst>
          </p:cNvPr>
          <p:cNvSpPr/>
          <p:nvPr userDrawn="1"/>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9" name="MSIPCMContentMarking" descr="{&quot;HashCode&quot;:-1913046509,&quot;Placement&quot;:&quot;Footer&quot;}">
            <a:extLst>
              <a:ext uri="{FF2B5EF4-FFF2-40B4-BE49-F238E27FC236}">
                <a16:creationId xmlns:a16="http://schemas.microsoft.com/office/drawing/2014/main" id="{B2748C78-FCC4-46D9-AF8B-0E95F81DFC4D}"/>
              </a:ext>
            </a:extLst>
          </p:cNvPr>
          <p:cNvSpPr txBox="1"/>
          <p:nvPr userDrawn="1"/>
        </p:nvSpPr>
        <p:spPr>
          <a:xfrm>
            <a:off x="458704" y="6664017"/>
            <a:ext cx="1028784" cy="193983"/>
          </a:xfrm>
          <a:prstGeom prst="rect">
            <a:avLst/>
          </a:prstGeom>
          <a:noFill/>
        </p:spPr>
        <p:txBody>
          <a:bodyPr vert="horz" wrap="square" lIns="0" tIns="0" rIns="0" bIns="0" rtlCol="0" anchor="ctr" anchorCtr="1">
            <a:spAutoFit/>
          </a:bodyPr>
          <a:lstStyle/>
          <a:p>
            <a:pPr algn="l">
              <a:spcBef>
                <a:spcPts val="0"/>
              </a:spcBef>
              <a:spcAft>
                <a:spcPts val="0"/>
              </a:spcAft>
            </a:pPr>
            <a:r>
              <a:rPr lang="en-US" sz="600" dirty="0">
                <a:solidFill>
                  <a:srgbClr val="7F7F7F"/>
                </a:solidFill>
                <a:latin typeface="Calibri" panose="020F0502020204030204" pitchFamily="34" charset="0"/>
              </a:rPr>
              <a:t>Internal Use - Confidential</a:t>
            </a:r>
          </a:p>
        </p:txBody>
      </p:sp>
      <p:pic>
        <p:nvPicPr>
          <p:cNvPr id="10" name="Picture 9">
            <a:extLst>
              <a:ext uri="{FF2B5EF4-FFF2-40B4-BE49-F238E27FC236}">
                <a16:creationId xmlns:a16="http://schemas.microsoft.com/office/drawing/2014/main" id="{D03A3353-9A97-45F3-BA89-86932210C3CE}"/>
              </a:ext>
            </a:extLst>
          </p:cNvPr>
          <p:cNvPicPr>
            <a:picLocks noChangeAspect="1"/>
          </p:cNvPicPr>
          <p:nvPr userDrawn="1"/>
        </p:nvPicPr>
        <p:blipFill rotWithShape="1">
          <a:blip r:embed="rId7"/>
          <a:srcRect t="1" r="51827" b="6157"/>
          <a:stretch/>
        </p:blipFill>
        <p:spPr>
          <a:xfrm>
            <a:off x="335360" y="6347031"/>
            <a:ext cx="1512168" cy="316985"/>
          </a:xfrm>
          <a:prstGeom prst="rect">
            <a:avLst/>
          </a:prstGeom>
        </p:spPr>
      </p:pic>
      <p:pic>
        <p:nvPicPr>
          <p:cNvPr id="12" name="Picture 11">
            <a:extLst>
              <a:ext uri="{FF2B5EF4-FFF2-40B4-BE49-F238E27FC236}">
                <a16:creationId xmlns:a16="http://schemas.microsoft.com/office/drawing/2014/main" id="{50DA1DD7-5557-4846-993A-DE77DEE943E1}"/>
              </a:ext>
            </a:extLst>
          </p:cNvPr>
          <p:cNvPicPr>
            <a:picLocks noChangeAspect="1"/>
          </p:cNvPicPr>
          <p:nvPr userDrawn="1"/>
        </p:nvPicPr>
        <p:blipFill>
          <a:blip r:embed="rId8"/>
          <a:stretch>
            <a:fillRect/>
          </a:stretch>
        </p:blipFill>
        <p:spPr>
          <a:xfrm>
            <a:off x="1919536" y="6165304"/>
            <a:ext cx="518205" cy="518205"/>
          </a:xfrm>
          <a:prstGeom prst="rect">
            <a:avLst/>
          </a:prstGeom>
        </p:spPr>
      </p:pic>
      <p:sp>
        <p:nvSpPr>
          <p:cNvPr id="5" name="Footer Placeholder 4">
            <a:extLst>
              <a:ext uri="{FF2B5EF4-FFF2-40B4-BE49-F238E27FC236}">
                <a16:creationId xmlns:a16="http://schemas.microsoft.com/office/drawing/2014/main" id="{B566071E-0FD2-43B8-9F8D-22D13DFA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2281522411"/>
      </p:ext>
    </p:extLst>
  </p:cSld>
  <p:clrMap bg1="lt1" tx1="dk1" bg2="lt2" tx2="dk2" accent1="accent1" accent2="accent2" accent3="accent3" accent4="accent4" accent5="accent5" accent6="accent6" hlink="hlink" folHlink="folHlink"/>
  <p:sldLayoutIdLst>
    <p:sldLayoutId id="2147484558" r:id="rId1"/>
    <p:sldLayoutId id="2147484559" r:id="rId2"/>
    <p:sldLayoutId id="2147484563" r:id="rId3"/>
    <p:sldLayoutId id="2147484564" r:id="rId4"/>
    <p:sldLayoutId id="2147484560" r:id="rId5"/>
  </p:sldLayoutIdLst>
  <p:transition spd="med">
    <p:wipe dir="r"/>
  </p:transition>
  <p:hf hdr="0" dt="0"/>
  <p:txStyles>
    <p:titleStyle>
      <a:lvl1pPr algn="l" defTabSz="457200" rtl="0" eaLnBrk="1" latinLnBrk="0" hangingPunct="1">
        <a:spcBef>
          <a:spcPct val="0"/>
        </a:spcBef>
        <a:buNone/>
        <a:defRPr sz="4000" kern="1200">
          <a:solidFill>
            <a:schemeClr val="bg2">
              <a:lumMod val="50000"/>
            </a:schemeClr>
          </a:solidFill>
          <a:latin typeface="Calibri" panose="020F0502020204030204" pitchFamily="34" charset="0"/>
          <a:ea typeface="+mj-ea"/>
          <a:cs typeface="Calibri" panose="020F0502020204030204" pitchFamily="34"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400" kern="1200">
          <a:solidFill>
            <a:schemeClr val="bg2">
              <a:lumMod val="50000"/>
            </a:schemeClr>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000" kern="1200">
          <a:solidFill>
            <a:schemeClr val="bg2">
              <a:lumMod val="50000"/>
            </a:schemeClr>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bg2">
              <a:lumMod val="50000"/>
            </a:schemeClr>
          </a:solidFill>
          <a:latin typeface="Calibri" panose="020F0502020204030204" pitchFamily="34" charset="0"/>
          <a:ea typeface="+mn-ea"/>
          <a:cs typeface="Calibri" panose="020F0502020204030204" pitchFamily="34" charset="0"/>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600" kern="1200">
          <a:solidFill>
            <a:schemeClr val="bg2">
              <a:lumMod val="50000"/>
            </a:schemeClr>
          </a:solidFill>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600" kern="1200">
          <a:solidFill>
            <a:schemeClr val="bg2">
              <a:lumMod val="50000"/>
            </a:schemeClr>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7.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4FE40-AB0B-4115-8C66-369C2BB78C3B}"/>
              </a:ext>
            </a:extLst>
          </p:cNvPr>
          <p:cNvSpPr>
            <a:spLocks noGrp="1"/>
          </p:cNvSpPr>
          <p:nvPr>
            <p:ph type="ctrTitle"/>
          </p:nvPr>
        </p:nvSpPr>
        <p:spPr>
          <a:xfrm>
            <a:off x="771559" y="2648917"/>
            <a:ext cx="7336514" cy="1079491"/>
          </a:xfrm>
        </p:spPr>
        <p:txBody>
          <a:bodyPr/>
          <a:lstStyle/>
          <a:p>
            <a:r>
              <a:rPr lang="en-US" sz="3600" b="1" dirty="0"/>
              <a:t>Inverse Problem of Uncertainty Quantification in Machine Learning</a:t>
            </a:r>
          </a:p>
        </p:txBody>
      </p:sp>
      <p:sp>
        <p:nvSpPr>
          <p:cNvPr id="4" name="Text Placeholder 3">
            <a:extLst>
              <a:ext uri="{FF2B5EF4-FFF2-40B4-BE49-F238E27FC236}">
                <a16:creationId xmlns:a16="http://schemas.microsoft.com/office/drawing/2014/main" id="{413401FB-E7DC-4304-B105-C852D10F5F35}"/>
              </a:ext>
            </a:extLst>
          </p:cNvPr>
          <p:cNvSpPr>
            <a:spLocks noGrp="1"/>
          </p:cNvSpPr>
          <p:nvPr>
            <p:ph type="body" sz="quarter" idx="13"/>
          </p:nvPr>
        </p:nvSpPr>
        <p:spPr>
          <a:xfrm>
            <a:off x="782216" y="4801591"/>
            <a:ext cx="3657600" cy="355601"/>
          </a:xfrm>
        </p:spPr>
        <p:txBody>
          <a:bodyPr/>
          <a:lstStyle/>
          <a:p>
            <a:r>
              <a:rPr lang="en-US" sz="2000" b="1" dirty="0"/>
              <a:t>Rahul Vishwakarma</a:t>
            </a:r>
          </a:p>
        </p:txBody>
      </p:sp>
      <p:sp>
        <p:nvSpPr>
          <p:cNvPr id="5" name="Text Placeholder 4">
            <a:extLst>
              <a:ext uri="{FF2B5EF4-FFF2-40B4-BE49-F238E27FC236}">
                <a16:creationId xmlns:a16="http://schemas.microsoft.com/office/drawing/2014/main" id="{2266863A-EFC2-4FDD-819A-EBC78F2A1099}"/>
              </a:ext>
            </a:extLst>
          </p:cNvPr>
          <p:cNvSpPr>
            <a:spLocks noGrp="1"/>
          </p:cNvSpPr>
          <p:nvPr>
            <p:ph type="body" sz="quarter" idx="14"/>
          </p:nvPr>
        </p:nvSpPr>
        <p:spPr>
          <a:xfrm>
            <a:off x="782216" y="5054456"/>
            <a:ext cx="4377680" cy="411563"/>
          </a:xfrm>
        </p:spPr>
        <p:txBody>
          <a:bodyPr/>
          <a:lstStyle/>
          <a:p>
            <a:r>
              <a:rPr lang="en-US" dirty="0"/>
              <a:t>Software Quality Senior Engineer, </a:t>
            </a:r>
            <a:r>
              <a:rPr lang="en-US" b="1" dirty="0"/>
              <a:t>DP APP SUST</a:t>
            </a:r>
          </a:p>
        </p:txBody>
      </p:sp>
      <p:sp>
        <p:nvSpPr>
          <p:cNvPr id="6" name="Text Placeholder 5">
            <a:extLst>
              <a:ext uri="{FF2B5EF4-FFF2-40B4-BE49-F238E27FC236}">
                <a16:creationId xmlns:a16="http://schemas.microsoft.com/office/drawing/2014/main" id="{09900890-18EC-4EA2-B34E-BD7CF7DB955A}"/>
              </a:ext>
            </a:extLst>
          </p:cNvPr>
          <p:cNvSpPr>
            <a:spLocks noGrp="1"/>
          </p:cNvSpPr>
          <p:nvPr>
            <p:ph type="body" sz="quarter" idx="15"/>
          </p:nvPr>
        </p:nvSpPr>
        <p:spPr/>
        <p:txBody>
          <a:bodyPr>
            <a:normAutofit lnSpcReduction="10000"/>
          </a:bodyPr>
          <a:lstStyle/>
          <a:p>
            <a:r>
              <a:rPr lang="en-US" dirty="0"/>
              <a:t>Feb 24, 2020</a:t>
            </a:r>
          </a:p>
        </p:txBody>
      </p:sp>
      <p:sp>
        <p:nvSpPr>
          <p:cNvPr id="8" name="Subtitle 7">
            <a:extLst>
              <a:ext uri="{FF2B5EF4-FFF2-40B4-BE49-F238E27FC236}">
                <a16:creationId xmlns:a16="http://schemas.microsoft.com/office/drawing/2014/main" id="{8F582F02-7F9C-4FD5-BCFE-D668B985E442}"/>
              </a:ext>
            </a:extLst>
          </p:cNvPr>
          <p:cNvSpPr>
            <a:spLocks noGrp="1"/>
          </p:cNvSpPr>
          <p:nvPr>
            <p:ph type="subTitle" idx="1"/>
          </p:nvPr>
        </p:nvSpPr>
        <p:spPr/>
        <p:txBody>
          <a:bodyPr/>
          <a:lstStyle/>
          <a:p>
            <a:r>
              <a:rPr lang="en-US" dirty="0"/>
              <a:t>An approach towards trustworthy prediction </a:t>
            </a:r>
          </a:p>
        </p:txBody>
      </p:sp>
    </p:spTree>
    <p:extLst>
      <p:ext uri="{BB962C8B-B14F-4D97-AF65-F5344CB8AC3E}">
        <p14:creationId xmlns:p14="http://schemas.microsoft.com/office/powerpoint/2010/main" val="1822767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A1CE45-B613-488C-BAA8-46BD71057507}"/>
              </a:ext>
            </a:extLst>
          </p:cNvPr>
          <p:cNvSpPr>
            <a:spLocks noGrp="1"/>
          </p:cNvSpPr>
          <p:nvPr>
            <p:ph type="sldNum" sz="quarter" idx="4"/>
          </p:nvPr>
        </p:nvSpPr>
        <p:spPr/>
        <p:txBody>
          <a:bodyPr/>
          <a:lstStyle/>
          <a:p>
            <a:fld id="{D57F1E4F-1CFF-5643-939E-217C01CDF565}" type="slidenum">
              <a:rPr lang="en-US" smtClean="0"/>
              <a:pPr/>
              <a:t>2</a:t>
            </a:fld>
            <a:endParaRPr lang="en-US" dirty="0"/>
          </a:p>
        </p:txBody>
      </p:sp>
      <p:sp>
        <p:nvSpPr>
          <p:cNvPr id="4" name="Title 3">
            <a:extLst>
              <a:ext uri="{FF2B5EF4-FFF2-40B4-BE49-F238E27FC236}">
                <a16:creationId xmlns:a16="http://schemas.microsoft.com/office/drawing/2014/main" id="{542C3E66-5CBA-47AB-9FAD-7E447E070438}"/>
              </a:ext>
            </a:extLst>
          </p:cNvPr>
          <p:cNvSpPr>
            <a:spLocks noGrp="1"/>
          </p:cNvSpPr>
          <p:nvPr>
            <p:ph type="title"/>
          </p:nvPr>
        </p:nvSpPr>
        <p:spPr>
          <a:xfrm>
            <a:off x="767408" y="420916"/>
            <a:ext cx="8596668" cy="1320800"/>
          </a:xfrm>
        </p:spPr>
        <p:txBody>
          <a:bodyPr/>
          <a:lstStyle/>
          <a:p>
            <a:r>
              <a:rPr lang="en-US" dirty="0"/>
              <a:t>Agenda</a:t>
            </a:r>
          </a:p>
        </p:txBody>
      </p:sp>
      <p:grpSp>
        <p:nvGrpSpPr>
          <p:cNvPr id="9" name="Group 8">
            <a:extLst>
              <a:ext uri="{FF2B5EF4-FFF2-40B4-BE49-F238E27FC236}">
                <a16:creationId xmlns:a16="http://schemas.microsoft.com/office/drawing/2014/main" id="{8F6F0D1E-3C21-43BF-96E9-04BEBFA4BC52}"/>
              </a:ext>
            </a:extLst>
          </p:cNvPr>
          <p:cNvGrpSpPr/>
          <p:nvPr/>
        </p:nvGrpSpPr>
        <p:grpSpPr>
          <a:xfrm>
            <a:off x="1055440" y="1916832"/>
            <a:ext cx="9597375" cy="2322253"/>
            <a:chOff x="1465186" y="2064808"/>
            <a:chExt cx="9597375" cy="2322253"/>
          </a:xfrm>
        </p:grpSpPr>
        <p:grpSp>
          <p:nvGrpSpPr>
            <p:cNvPr id="2" name="Group 1">
              <a:extLst>
                <a:ext uri="{FF2B5EF4-FFF2-40B4-BE49-F238E27FC236}">
                  <a16:creationId xmlns:a16="http://schemas.microsoft.com/office/drawing/2014/main" id="{14A210A9-7104-45E6-82D4-E9996F7FF0E1}"/>
                </a:ext>
              </a:extLst>
            </p:cNvPr>
            <p:cNvGrpSpPr/>
            <p:nvPr/>
          </p:nvGrpSpPr>
          <p:grpSpPr>
            <a:xfrm>
              <a:off x="1465186" y="2090155"/>
              <a:ext cx="2104512" cy="2288533"/>
              <a:chOff x="1775520" y="2090155"/>
              <a:chExt cx="2104512" cy="2288533"/>
            </a:xfrm>
          </p:grpSpPr>
          <p:sp>
            <p:nvSpPr>
              <p:cNvPr id="29" name="Rectangle 28">
                <a:extLst>
                  <a:ext uri="{FF2B5EF4-FFF2-40B4-BE49-F238E27FC236}">
                    <a16:creationId xmlns:a16="http://schemas.microsoft.com/office/drawing/2014/main" id="{45CE5512-83AA-48FD-8E80-B5714DE4E345}"/>
                  </a:ext>
                </a:extLst>
              </p:cNvPr>
              <p:cNvSpPr/>
              <p:nvPr/>
            </p:nvSpPr>
            <p:spPr>
              <a:xfrm>
                <a:off x="1776912" y="3756979"/>
                <a:ext cx="2103120" cy="621709"/>
              </a:xfrm>
              <a:prstGeom prst="rect">
                <a:avLst/>
              </a:prstGeom>
              <a:solidFill>
                <a:schemeClr val="bg1"/>
              </a:solidFill>
            </p:spPr>
            <p:txBody>
              <a:bodyPr wrap="square">
                <a:spAutoFit/>
              </a:bodyPr>
              <a:lstStyle/>
              <a:p>
                <a:pPr algn="ctr" eaLnBrk="0" hangingPunct="0">
                  <a:lnSpc>
                    <a:spcPct val="200000"/>
                  </a:lnSpc>
                  <a:spcBef>
                    <a:spcPts val="0"/>
                  </a:spcBef>
                  <a:defRPr/>
                </a:pPr>
                <a:r>
                  <a:rPr lang="en-US" sz="2000" dirty="0">
                    <a:solidFill>
                      <a:srgbClr val="0070C0"/>
                    </a:solidFill>
                    <a:latin typeface="Calibri" panose="020F0502020204030204" pitchFamily="34" charset="0"/>
                    <a:cs typeface="Calibri" panose="020F0502020204030204" pitchFamily="34" charset="0"/>
                  </a:rPr>
                  <a:t>Curve fitting</a:t>
                </a:r>
              </a:p>
            </p:txBody>
          </p:sp>
          <p:sp>
            <p:nvSpPr>
              <p:cNvPr id="34" name="Rectangle 33">
                <a:extLst>
                  <a:ext uri="{FF2B5EF4-FFF2-40B4-BE49-F238E27FC236}">
                    <a16:creationId xmlns:a16="http://schemas.microsoft.com/office/drawing/2014/main" id="{ACD39B8B-35FA-4D62-9E05-593500D53D46}"/>
                  </a:ext>
                </a:extLst>
              </p:cNvPr>
              <p:cNvSpPr/>
              <p:nvPr/>
            </p:nvSpPr>
            <p:spPr>
              <a:xfrm>
                <a:off x="1805944" y="2741438"/>
                <a:ext cx="2057400" cy="457200"/>
              </a:xfrm>
              <a:prstGeom prst="rect">
                <a:avLst/>
              </a:prstGeom>
              <a:noFill/>
              <a:ln w="6350">
                <a:noFill/>
              </a:ln>
              <a:effectLst/>
            </p:spPr>
            <p:txBody>
              <a:bodyPr wrap="square" lIns="0" tIns="91440" rIns="0" bIns="91440" rtlCol="0" anchor="t">
                <a:noAutofit/>
              </a:bodyPr>
              <a:lstStyle/>
              <a:p>
                <a:pPr algn="ctr" fontAlgn="auto">
                  <a:lnSpc>
                    <a:spcPct val="90000"/>
                  </a:lnSpc>
                  <a:spcBef>
                    <a:spcPts val="481"/>
                  </a:spcBef>
                  <a:spcAft>
                    <a:spcPts val="0"/>
                  </a:spcAft>
                  <a:defRPr/>
                </a:pPr>
                <a:r>
                  <a:rPr lang="en-US" sz="2800" dirty="0">
                    <a:solidFill>
                      <a:srgbClr val="0070C0"/>
                    </a:solidFill>
                    <a:latin typeface="Calibri" panose="020F0502020204030204" pitchFamily="34" charset="0"/>
                    <a:cs typeface="Calibri" panose="020F0502020204030204" pitchFamily="34" charset="0"/>
                  </a:rPr>
                  <a:t>Machine Learning</a:t>
                </a:r>
              </a:p>
            </p:txBody>
          </p:sp>
          <p:grpSp>
            <p:nvGrpSpPr>
              <p:cNvPr id="37" name="Group 36">
                <a:extLst>
                  <a:ext uri="{FF2B5EF4-FFF2-40B4-BE49-F238E27FC236}">
                    <a16:creationId xmlns:a16="http://schemas.microsoft.com/office/drawing/2014/main" id="{ACF18C13-3348-4882-A694-7FAC39DE0CBF}"/>
                  </a:ext>
                </a:extLst>
              </p:cNvPr>
              <p:cNvGrpSpPr/>
              <p:nvPr/>
            </p:nvGrpSpPr>
            <p:grpSpPr>
              <a:xfrm>
                <a:off x="2475053" y="2090155"/>
                <a:ext cx="696138" cy="520065"/>
                <a:chOff x="3465095" y="506457"/>
                <a:chExt cx="974155" cy="552313"/>
              </a:xfrm>
            </p:grpSpPr>
            <p:cxnSp>
              <p:nvCxnSpPr>
                <p:cNvPr id="38" name="Straight Connector 37">
                  <a:extLst>
                    <a:ext uri="{FF2B5EF4-FFF2-40B4-BE49-F238E27FC236}">
                      <a16:creationId xmlns:a16="http://schemas.microsoft.com/office/drawing/2014/main" id="{80D69DF1-6A6A-4608-861A-0B03C35801CD}"/>
                    </a:ext>
                  </a:extLst>
                </p:cNvPr>
                <p:cNvCxnSpPr/>
                <p:nvPr/>
              </p:nvCxnSpPr>
              <p:spPr>
                <a:xfrm flipV="1">
                  <a:off x="3537287" y="506457"/>
                  <a:ext cx="0" cy="38388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01CD0D2-786B-4519-BE5E-EA2647E1FC6B}"/>
                    </a:ext>
                  </a:extLst>
                </p:cNvPr>
                <p:cNvCxnSpPr/>
                <p:nvPr/>
              </p:nvCxnSpPr>
              <p:spPr>
                <a:xfrm>
                  <a:off x="3537287" y="506457"/>
                  <a:ext cx="829771" cy="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00B9F5A-FD0B-4F4B-B99E-6C73B05A35B2}"/>
                    </a:ext>
                  </a:extLst>
                </p:cNvPr>
                <p:cNvCxnSpPr/>
                <p:nvPr/>
              </p:nvCxnSpPr>
              <p:spPr>
                <a:xfrm>
                  <a:off x="4367058" y="506457"/>
                  <a:ext cx="0" cy="38388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41" name="Round Same Side Corner Rectangle 42">
                  <a:extLst>
                    <a:ext uri="{FF2B5EF4-FFF2-40B4-BE49-F238E27FC236}">
                      <a16:creationId xmlns:a16="http://schemas.microsoft.com/office/drawing/2014/main" id="{C5C82393-91F9-4E31-837E-BD41E4A2CB1F}"/>
                    </a:ext>
                  </a:extLst>
                </p:cNvPr>
                <p:cNvSpPr/>
                <p:nvPr/>
              </p:nvSpPr>
              <p:spPr>
                <a:xfrm>
                  <a:off x="3465095" y="961006"/>
                  <a:ext cx="974155" cy="97764"/>
                </a:xfrm>
                <a:prstGeom prst="round2SameRect">
                  <a:avLst/>
                </a:prstGeom>
                <a:noFill/>
                <a:ln w="12700" cmpd="sng">
                  <a:solidFill>
                    <a:schemeClr val="accent2"/>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cxnSp>
              <p:nvCxnSpPr>
                <p:cNvPr id="42" name="Straight Connector 41">
                  <a:extLst>
                    <a:ext uri="{FF2B5EF4-FFF2-40B4-BE49-F238E27FC236}">
                      <a16:creationId xmlns:a16="http://schemas.microsoft.com/office/drawing/2014/main" id="{DD6070CF-CE6E-4F91-B338-D381B0BD6DD6}"/>
                    </a:ext>
                  </a:extLst>
                </p:cNvPr>
                <p:cNvCxnSpPr/>
                <p:nvPr/>
              </p:nvCxnSpPr>
              <p:spPr>
                <a:xfrm flipV="1">
                  <a:off x="3681663" y="640830"/>
                  <a:ext cx="504679" cy="249507"/>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F1BEC0B-FA0C-42BF-A3D6-A890D970DE88}"/>
                    </a:ext>
                  </a:extLst>
                </p:cNvPr>
                <p:cNvCxnSpPr/>
                <p:nvPr/>
              </p:nvCxnSpPr>
              <p:spPr>
                <a:xfrm flipH="1">
                  <a:off x="4042611" y="640830"/>
                  <a:ext cx="143731" cy="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A2DD43B7-D46A-4520-A74E-6510313530CA}"/>
                    </a:ext>
                  </a:extLst>
                </p:cNvPr>
                <p:cNvCxnSpPr/>
                <p:nvPr/>
              </p:nvCxnSpPr>
              <p:spPr>
                <a:xfrm flipH="1">
                  <a:off x="4114476" y="640830"/>
                  <a:ext cx="71866" cy="124753"/>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grpSp>
          <p:cxnSp>
            <p:nvCxnSpPr>
              <p:cNvPr id="86" name="Straight Connector 85">
                <a:extLst>
                  <a:ext uri="{FF2B5EF4-FFF2-40B4-BE49-F238E27FC236}">
                    <a16:creationId xmlns:a16="http://schemas.microsoft.com/office/drawing/2014/main" id="{0B7BCE43-1357-4F7B-8D9C-1FCC830B58A5}"/>
                  </a:ext>
                </a:extLst>
              </p:cNvPr>
              <p:cNvCxnSpPr/>
              <p:nvPr/>
            </p:nvCxnSpPr>
            <p:spPr>
              <a:xfrm>
                <a:off x="1775520" y="3709808"/>
                <a:ext cx="2103120" cy="0"/>
              </a:xfrm>
              <a:prstGeom prst="line">
                <a:avLst/>
              </a:prstGeom>
              <a:ln w="19050" cap="sq">
                <a:solidFill>
                  <a:schemeClr val="accent1"/>
                </a:solidFill>
                <a:miter lim="800000"/>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DBBC2B44-7186-4420-AFE7-D08D5C7F7475}"/>
                </a:ext>
              </a:extLst>
            </p:cNvPr>
            <p:cNvGrpSpPr/>
            <p:nvPr/>
          </p:nvGrpSpPr>
          <p:grpSpPr>
            <a:xfrm>
              <a:off x="6362756" y="2064808"/>
              <a:ext cx="2386825" cy="2313880"/>
              <a:chOff x="6192691" y="2064808"/>
              <a:chExt cx="2386825" cy="2313880"/>
            </a:xfrm>
          </p:grpSpPr>
          <p:sp>
            <p:nvSpPr>
              <p:cNvPr id="30" name="Rectangle 29">
                <a:extLst>
                  <a:ext uri="{FF2B5EF4-FFF2-40B4-BE49-F238E27FC236}">
                    <a16:creationId xmlns:a16="http://schemas.microsoft.com/office/drawing/2014/main" id="{59A40E2C-D6BD-4322-8FC4-6AB7DA9DB074}"/>
                  </a:ext>
                </a:extLst>
              </p:cNvPr>
              <p:cNvSpPr/>
              <p:nvPr/>
            </p:nvSpPr>
            <p:spPr>
              <a:xfrm>
                <a:off x="6192691" y="3756979"/>
                <a:ext cx="2386825" cy="621709"/>
              </a:xfrm>
              <a:prstGeom prst="rect">
                <a:avLst/>
              </a:prstGeom>
            </p:spPr>
            <p:txBody>
              <a:bodyPr wrap="square">
                <a:spAutoFit/>
              </a:bodyPr>
              <a:lstStyle/>
              <a:p>
                <a:pPr algn="ctr" eaLnBrk="0" hangingPunct="0">
                  <a:lnSpc>
                    <a:spcPct val="200000"/>
                  </a:lnSpc>
                  <a:defRPr/>
                </a:pPr>
                <a:r>
                  <a:rPr lang="en-US" sz="2000" dirty="0">
                    <a:solidFill>
                      <a:srgbClr val="9751CB"/>
                    </a:solidFill>
                    <a:latin typeface="Calibri" panose="020F0502020204030204" pitchFamily="34" charset="0"/>
                    <a:cs typeface="Calibri" panose="020F0502020204030204" pitchFamily="34" charset="0"/>
                  </a:rPr>
                  <a:t>Learning framework</a:t>
                </a:r>
              </a:p>
            </p:txBody>
          </p:sp>
          <p:cxnSp>
            <p:nvCxnSpPr>
              <p:cNvPr id="33" name="Straight Connector 32">
                <a:extLst>
                  <a:ext uri="{FF2B5EF4-FFF2-40B4-BE49-F238E27FC236}">
                    <a16:creationId xmlns:a16="http://schemas.microsoft.com/office/drawing/2014/main" id="{D2430E55-B292-492D-BA32-77294498ABF2}"/>
                  </a:ext>
                </a:extLst>
              </p:cNvPr>
              <p:cNvCxnSpPr/>
              <p:nvPr/>
            </p:nvCxnSpPr>
            <p:spPr>
              <a:xfrm>
                <a:off x="6288287" y="3711411"/>
                <a:ext cx="2103120" cy="0"/>
              </a:xfrm>
              <a:prstGeom prst="line">
                <a:avLst/>
              </a:prstGeom>
              <a:ln w="19050" cap="sq">
                <a:solidFill>
                  <a:srgbClr val="9751CB"/>
                </a:solidFill>
                <a:miter lim="800000"/>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CA839E34-EC4F-472C-A1AB-A2EF30160398}"/>
                  </a:ext>
                </a:extLst>
              </p:cNvPr>
              <p:cNvSpPr/>
              <p:nvPr/>
            </p:nvSpPr>
            <p:spPr>
              <a:xfrm>
                <a:off x="6275971" y="2746094"/>
                <a:ext cx="2057400" cy="457200"/>
              </a:xfrm>
              <a:prstGeom prst="rect">
                <a:avLst/>
              </a:prstGeom>
              <a:noFill/>
              <a:ln w="6350">
                <a:noFill/>
              </a:ln>
              <a:effectLst/>
            </p:spPr>
            <p:txBody>
              <a:bodyPr wrap="square" lIns="0" tIns="91440" rIns="0" bIns="91440" rtlCol="0" anchor="t">
                <a:noAutofit/>
              </a:bodyPr>
              <a:lstStyle/>
              <a:p>
                <a:pPr algn="ctr" fontAlgn="auto">
                  <a:lnSpc>
                    <a:spcPct val="90000"/>
                  </a:lnSpc>
                  <a:spcBef>
                    <a:spcPts val="481"/>
                  </a:spcBef>
                  <a:spcAft>
                    <a:spcPts val="0"/>
                  </a:spcAft>
                  <a:defRPr/>
                </a:pPr>
                <a:r>
                  <a:rPr lang="en-US" sz="2800" dirty="0">
                    <a:solidFill>
                      <a:srgbClr val="9751CB"/>
                    </a:solidFill>
                    <a:latin typeface="Calibri" panose="020F0502020204030204" pitchFamily="34" charset="0"/>
                    <a:cs typeface="Calibri" panose="020F0502020204030204" pitchFamily="34" charset="0"/>
                  </a:rPr>
                  <a:t>Conformal Prediction</a:t>
                </a:r>
              </a:p>
            </p:txBody>
          </p:sp>
          <p:grpSp>
            <p:nvGrpSpPr>
              <p:cNvPr id="87" name="Group 86">
                <a:extLst>
                  <a:ext uri="{FF2B5EF4-FFF2-40B4-BE49-F238E27FC236}">
                    <a16:creationId xmlns:a16="http://schemas.microsoft.com/office/drawing/2014/main" id="{BB71017E-E6D3-4C6E-B2D0-2A8A26B50C76}"/>
                  </a:ext>
                </a:extLst>
              </p:cNvPr>
              <p:cNvGrpSpPr/>
              <p:nvPr/>
            </p:nvGrpSpPr>
            <p:grpSpPr>
              <a:xfrm>
                <a:off x="7010076" y="2064808"/>
                <a:ext cx="589192" cy="539693"/>
                <a:chOff x="3777916" y="553453"/>
                <a:chExt cx="1479883" cy="1355557"/>
              </a:xfrm>
            </p:grpSpPr>
            <p:sp>
              <p:nvSpPr>
                <p:cNvPr id="88" name="Rectangle 87">
                  <a:extLst>
                    <a:ext uri="{FF2B5EF4-FFF2-40B4-BE49-F238E27FC236}">
                      <a16:creationId xmlns:a16="http://schemas.microsoft.com/office/drawing/2014/main" id="{E9298B3F-6B6D-4F98-A5B5-1C4422EBBD3B}"/>
                    </a:ext>
                  </a:extLst>
                </p:cNvPr>
                <p:cNvSpPr/>
                <p:nvPr/>
              </p:nvSpPr>
              <p:spPr>
                <a:xfrm>
                  <a:off x="3777916" y="553453"/>
                  <a:ext cx="409073" cy="409073"/>
                </a:xfrm>
                <a:prstGeom prst="rect">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89" name="Oval 88">
                  <a:extLst>
                    <a:ext uri="{FF2B5EF4-FFF2-40B4-BE49-F238E27FC236}">
                      <a16:creationId xmlns:a16="http://schemas.microsoft.com/office/drawing/2014/main" id="{047A3350-94E1-4833-A044-5ED2C1F91F11}"/>
                    </a:ext>
                  </a:extLst>
                </p:cNvPr>
                <p:cNvSpPr/>
                <p:nvPr/>
              </p:nvSpPr>
              <p:spPr>
                <a:xfrm>
                  <a:off x="4848726" y="553453"/>
                  <a:ext cx="409073" cy="409073"/>
                </a:xfrm>
                <a:prstGeom prst="ellipse">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90" name="Oval 89">
                  <a:extLst>
                    <a:ext uri="{FF2B5EF4-FFF2-40B4-BE49-F238E27FC236}">
                      <a16:creationId xmlns:a16="http://schemas.microsoft.com/office/drawing/2014/main" id="{D0AF8D13-E8A0-44E8-8A88-25B100A5AB23}"/>
                    </a:ext>
                  </a:extLst>
                </p:cNvPr>
                <p:cNvSpPr/>
                <p:nvPr/>
              </p:nvSpPr>
              <p:spPr>
                <a:xfrm>
                  <a:off x="4313319" y="962526"/>
                  <a:ext cx="409073" cy="409073"/>
                </a:xfrm>
                <a:prstGeom prst="ellipse">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91" name="Oval 90">
                  <a:extLst>
                    <a:ext uri="{FF2B5EF4-FFF2-40B4-BE49-F238E27FC236}">
                      <a16:creationId xmlns:a16="http://schemas.microsoft.com/office/drawing/2014/main" id="{E8F5D853-D910-46FB-84F7-EE0239A0FB18}"/>
                    </a:ext>
                  </a:extLst>
                </p:cNvPr>
                <p:cNvSpPr/>
                <p:nvPr/>
              </p:nvSpPr>
              <p:spPr>
                <a:xfrm>
                  <a:off x="3777916" y="1499937"/>
                  <a:ext cx="409073" cy="409073"/>
                </a:xfrm>
                <a:prstGeom prst="ellipse">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92" name="Rectangle 91">
                  <a:extLst>
                    <a:ext uri="{FF2B5EF4-FFF2-40B4-BE49-F238E27FC236}">
                      <a16:creationId xmlns:a16="http://schemas.microsoft.com/office/drawing/2014/main" id="{BF473339-4D13-4C4D-B122-56543FD0326E}"/>
                    </a:ext>
                  </a:extLst>
                </p:cNvPr>
                <p:cNvSpPr/>
                <p:nvPr/>
              </p:nvSpPr>
              <p:spPr>
                <a:xfrm>
                  <a:off x="4848725" y="1499937"/>
                  <a:ext cx="409073" cy="409073"/>
                </a:xfrm>
                <a:prstGeom prst="rect">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93" name="Rectangle 92">
                  <a:extLst>
                    <a:ext uri="{FF2B5EF4-FFF2-40B4-BE49-F238E27FC236}">
                      <a16:creationId xmlns:a16="http://schemas.microsoft.com/office/drawing/2014/main" id="{7D6161BE-4892-4CB7-BF11-DE9D6882EC2F}"/>
                    </a:ext>
                  </a:extLst>
                </p:cNvPr>
                <p:cNvSpPr/>
                <p:nvPr/>
              </p:nvSpPr>
              <p:spPr>
                <a:xfrm>
                  <a:off x="4313320" y="1499936"/>
                  <a:ext cx="409073" cy="409073"/>
                </a:xfrm>
                <a:prstGeom prst="rect">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cxnSp>
              <p:nvCxnSpPr>
                <p:cNvPr id="94" name="Straight Connector 93">
                  <a:extLst>
                    <a:ext uri="{FF2B5EF4-FFF2-40B4-BE49-F238E27FC236}">
                      <a16:creationId xmlns:a16="http://schemas.microsoft.com/office/drawing/2014/main" id="{559A323D-7D9A-4989-9D9A-371CA3D4F971}"/>
                    </a:ext>
                  </a:extLst>
                </p:cNvPr>
                <p:cNvCxnSpPr>
                  <a:stCxn id="88" idx="3"/>
                  <a:endCxn id="89" idx="2"/>
                </p:cNvCxnSpPr>
                <p:nvPr/>
              </p:nvCxnSpPr>
              <p:spPr>
                <a:xfrm>
                  <a:off x="4186989" y="757990"/>
                  <a:ext cx="661737" cy="0"/>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38DFEB94-DE98-48CB-87B6-3D66E0D7F50C}"/>
                    </a:ext>
                  </a:extLst>
                </p:cNvPr>
                <p:cNvCxnSpPr>
                  <a:stCxn id="89" idx="4"/>
                  <a:endCxn id="92" idx="0"/>
                </p:cNvCxnSpPr>
                <p:nvPr/>
              </p:nvCxnSpPr>
              <p:spPr>
                <a:xfrm flipH="1">
                  <a:off x="5053262" y="962526"/>
                  <a:ext cx="1" cy="537411"/>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5B921BE7-44E7-4537-9280-FC9AC79CC942}"/>
                    </a:ext>
                  </a:extLst>
                </p:cNvPr>
                <p:cNvCxnSpPr>
                  <a:stCxn id="92" idx="1"/>
                  <a:endCxn id="93" idx="3"/>
                </p:cNvCxnSpPr>
                <p:nvPr/>
              </p:nvCxnSpPr>
              <p:spPr>
                <a:xfrm flipH="1" flipV="1">
                  <a:off x="4722393" y="1704473"/>
                  <a:ext cx="126332" cy="1"/>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CFCBF62A-D22C-42DC-A816-9BBE8E14F812}"/>
                    </a:ext>
                  </a:extLst>
                </p:cNvPr>
                <p:cNvCxnSpPr>
                  <a:stCxn id="93" idx="0"/>
                  <a:endCxn id="90" idx="4"/>
                </p:cNvCxnSpPr>
                <p:nvPr/>
              </p:nvCxnSpPr>
              <p:spPr>
                <a:xfrm flipH="1" flipV="1">
                  <a:off x="4517856" y="1371599"/>
                  <a:ext cx="1" cy="128337"/>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30124AC5-DF1A-4EC9-BD0A-C65EB3EB8609}"/>
                    </a:ext>
                  </a:extLst>
                </p:cNvPr>
                <p:cNvCxnSpPr>
                  <a:stCxn id="90" idx="3"/>
                  <a:endCxn id="91" idx="7"/>
                </p:cNvCxnSpPr>
                <p:nvPr/>
              </p:nvCxnSpPr>
              <p:spPr>
                <a:xfrm flipH="1">
                  <a:off x="4127082" y="1311692"/>
                  <a:ext cx="246144" cy="248152"/>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grpSp>
        </p:grpSp>
        <p:grpSp>
          <p:nvGrpSpPr>
            <p:cNvPr id="5" name="Group 4">
              <a:extLst>
                <a:ext uri="{FF2B5EF4-FFF2-40B4-BE49-F238E27FC236}">
                  <a16:creationId xmlns:a16="http://schemas.microsoft.com/office/drawing/2014/main" id="{3F44A17E-80D3-4CD4-8924-DC17DC49A423}"/>
                </a:ext>
              </a:extLst>
            </p:cNvPr>
            <p:cNvGrpSpPr/>
            <p:nvPr/>
          </p:nvGrpSpPr>
          <p:grpSpPr>
            <a:xfrm>
              <a:off x="3857950" y="2090155"/>
              <a:ext cx="2202703" cy="2296906"/>
              <a:chOff x="3917809" y="2090155"/>
              <a:chExt cx="2202703" cy="2296906"/>
            </a:xfrm>
          </p:grpSpPr>
          <p:sp>
            <p:nvSpPr>
              <p:cNvPr id="47" name="Rectangle 46">
                <a:extLst>
                  <a:ext uri="{FF2B5EF4-FFF2-40B4-BE49-F238E27FC236}">
                    <a16:creationId xmlns:a16="http://schemas.microsoft.com/office/drawing/2014/main" id="{213C7304-2421-425F-BFEA-60912401569E}"/>
                  </a:ext>
                </a:extLst>
              </p:cNvPr>
              <p:cNvSpPr/>
              <p:nvPr/>
            </p:nvSpPr>
            <p:spPr>
              <a:xfrm>
                <a:off x="3917809" y="2740072"/>
                <a:ext cx="2190710" cy="457200"/>
              </a:xfrm>
              <a:prstGeom prst="rect">
                <a:avLst/>
              </a:prstGeom>
              <a:noFill/>
              <a:ln w="6350">
                <a:noFill/>
              </a:ln>
              <a:effectLst/>
            </p:spPr>
            <p:txBody>
              <a:bodyPr wrap="square" lIns="0" tIns="91440" rIns="0" bIns="91440" rtlCol="0" anchor="t">
                <a:noAutofit/>
              </a:bodyPr>
              <a:lstStyle/>
              <a:p>
                <a:pPr algn="ctr" fontAlgn="auto">
                  <a:lnSpc>
                    <a:spcPct val="90000"/>
                  </a:lnSpc>
                  <a:spcBef>
                    <a:spcPts val="481"/>
                  </a:spcBef>
                  <a:spcAft>
                    <a:spcPts val="0"/>
                  </a:spcAft>
                  <a:defRPr/>
                </a:pPr>
                <a:r>
                  <a:rPr lang="en-US" sz="2800" dirty="0">
                    <a:solidFill>
                      <a:srgbClr val="99CC00"/>
                    </a:solidFill>
                    <a:latin typeface="Calibri" panose="020F0502020204030204" pitchFamily="34" charset="0"/>
                    <a:cs typeface="Calibri" panose="020F0502020204030204" pitchFamily="34" charset="0"/>
                  </a:rPr>
                  <a:t>Quantifying Uncertainty</a:t>
                </a:r>
              </a:p>
            </p:txBody>
          </p:sp>
          <p:sp>
            <p:nvSpPr>
              <p:cNvPr id="48" name="Rectangle 47">
                <a:extLst>
                  <a:ext uri="{FF2B5EF4-FFF2-40B4-BE49-F238E27FC236}">
                    <a16:creationId xmlns:a16="http://schemas.microsoft.com/office/drawing/2014/main" id="{D5303F24-53C2-43FE-B778-5CBD114B236B}"/>
                  </a:ext>
                </a:extLst>
              </p:cNvPr>
              <p:cNvSpPr/>
              <p:nvPr/>
            </p:nvSpPr>
            <p:spPr>
              <a:xfrm>
                <a:off x="3994268" y="3765352"/>
                <a:ext cx="2081593" cy="621709"/>
              </a:xfrm>
              <a:prstGeom prst="rect">
                <a:avLst/>
              </a:prstGeom>
            </p:spPr>
            <p:txBody>
              <a:bodyPr wrap="square">
                <a:spAutoFit/>
              </a:bodyPr>
              <a:lstStyle/>
              <a:p>
                <a:pPr algn="ctr" eaLnBrk="0" hangingPunct="0">
                  <a:lnSpc>
                    <a:spcPct val="200000"/>
                  </a:lnSpc>
                  <a:spcBef>
                    <a:spcPts val="0"/>
                  </a:spcBef>
                  <a:defRPr/>
                </a:pPr>
                <a:r>
                  <a:rPr lang="en-US" sz="2000" dirty="0">
                    <a:solidFill>
                      <a:srgbClr val="99CC00"/>
                    </a:solidFill>
                    <a:latin typeface="Calibri" panose="020F0502020204030204" pitchFamily="34" charset="0"/>
                    <a:cs typeface="Calibri" panose="020F0502020204030204" pitchFamily="34" charset="0"/>
                  </a:rPr>
                  <a:t>Probabilistic</a:t>
                </a:r>
              </a:p>
            </p:txBody>
          </p:sp>
          <p:cxnSp>
            <p:nvCxnSpPr>
              <p:cNvPr id="50" name="Straight Connector 49">
                <a:extLst>
                  <a:ext uri="{FF2B5EF4-FFF2-40B4-BE49-F238E27FC236}">
                    <a16:creationId xmlns:a16="http://schemas.microsoft.com/office/drawing/2014/main" id="{1A0ADB24-4DB8-41CE-A754-8E75B30714D3}"/>
                  </a:ext>
                </a:extLst>
              </p:cNvPr>
              <p:cNvCxnSpPr/>
              <p:nvPr/>
            </p:nvCxnSpPr>
            <p:spPr>
              <a:xfrm>
                <a:off x="4017392" y="3709674"/>
                <a:ext cx="2103120" cy="0"/>
              </a:xfrm>
              <a:prstGeom prst="line">
                <a:avLst/>
              </a:prstGeom>
              <a:ln w="19050" cap="sq">
                <a:solidFill>
                  <a:srgbClr val="99CC00"/>
                </a:solidFill>
                <a:miter lim="800000"/>
              </a:ln>
            </p:spPr>
            <p:style>
              <a:lnRef idx="1">
                <a:schemeClr val="accent1"/>
              </a:lnRef>
              <a:fillRef idx="0">
                <a:schemeClr val="accent1"/>
              </a:fillRef>
              <a:effectRef idx="0">
                <a:schemeClr val="accent1"/>
              </a:effectRef>
              <a:fontRef idx="minor">
                <a:schemeClr val="tx1"/>
              </a:fontRef>
            </p:style>
          </p:cxnSp>
          <p:grpSp>
            <p:nvGrpSpPr>
              <p:cNvPr id="128" name="Group 127">
                <a:extLst>
                  <a:ext uri="{FF2B5EF4-FFF2-40B4-BE49-F238E27FC236}">
                    <a16:creationId xmlns:a16="http://schemas.microsoft.com/office/drawing/2014/main" id="{2F21DD3A-044A-4A4A-8FBD-E22779AB1AE4}"/>
                  </a:ext>
                </a:extLst>
              </p:cNvPr>
              <p:cNvGrpSpPr/>
              <p:nvPr/>
            </p:nvGrpSpPr>
            <p:grpSpPr>
              <a:xfrm>
                <a:off x="4610153" y="2090155"/>
                <a:ext cx="849821" cy="1004545"/>
                <a:chOff x="4436130" y="1965153"/>
                <a:chExt cx="849821" cy="1004545"/>
              </a:xfrm>
            </p:grpSpPr>
            <p:sp>
              <p:nvSpPr>
                <p:cNvPr id="111" name="Arc 110">
                  <a:extLst>
                    <a:ext uri="{FF2B5EF4-FFF2-40B4-BE49-F238E27FC236}">
                      <a16:creationId xmlns:a16="http://schemas.microsoft.com/office/drawing/2014/main" id="{03235133-E96D-49BA-B0B5-5641ED93C3E3}"/>
                    </a:ext>
                  </a:extLst>
                </p:cNvPr>
                <p:cNvSpPr/>
                <p:nvPr/>
              </p:nvSpPr>
              <p:spPr>
                <a:xfrm>
                  <a:off x="4521135" y="2056159"/>
                  <a:ext cx="667963" cy="789577"/>
                </a:xfrm>
                <a:prstGeom prst="arc">
                  <a:avLst>
                    <a:gd name="adj1" fmla="val 10924359"/>
                    <a:gd name="adj2" fmla="val 0"/>
                  </a:avLst>
                </a:prstGeom>
                <a:ln w="6350" cmpd="sng">
                  <a:solidFill>
                    <a:srgbClr val="99CC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2" name="Arc 111">
                  <a:extLst>
                    <a:ext uri="{FF2B5EF4-FFF2-40B4-BE49-F238E27FC236}">
                      <a16:creationId xmlns:a16="http://schemas.microsoft.com/office/drawing/2014/main" id="{0CAEEEC4-0CF1-4A81-9ADC-452995B85B81}"/>
                    </a:ext>
                  </a:extLst>
                </p:cNvPr>
                <p:cNvSpPr/>
                <p:nvPr/>
              </p:nvSpPr>
              <p:spPr>
                <a:xfrm>
                  <a:off x="4436130" y="1965153"/>
                  <a:ext cx="849821" cy="1004545"/>
                </a:xfrm>
                <a:prstGeom prst="arc">
                  <a:avLst>
                    <a:gd name="adj1" fmla="val 10924359"/>
                    <a:gd name="adj2" fmla="val 0"/>
                  </a:avLst>
                </a:prstGeom>
                <a:ln w="6350" cmpd="sng">
                  <a:solidFill>
                    <a:srgbClr val="99CC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3" name="Flowchart: Terminator 112">
                  <a:extLst>
                    <a:ext uri="{FF2B5EF4-FFF2-40B4-BE49-F238E27FC236}">
                      <a16:creationId xmlns:a16="http://schemas.microsoft.com/office/drawing/2014/main" id="{E29D8BE0-EFE0-4ECB-BE3F-24AAE02AF6FC}"/>
                    </a:ext>
                  </a:extLst>
                </p:cNvPr>
                <p:cNvSpPr/>
                <p:nvPr/>
              </p:nvSpPr>
              <p:spPr>
                <a:xfrm rot="2640000">
                  <a:off x="4597465" y="2264176"/>
                  <a:ext cx="117630" cy="45719"/>
                </a:xfrm>
                <a:prstGeom prst="flowChartTerminator">
                  <a:avLst/>
                </a:prstGeom>
                <a:solidFill>
                  <a:schemeClr val="bg1"/>
                </a:solid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114" name="Flowchart: Terminator 113">
                  <a:extLst>
                    <a:ext uri="{FF2B5EF4-FFF2-40B4-BE49-F238E27FC236}">
                      <a16:creationId xmlns:a16="http://schemas.microsoft.com/office/drawing/2014/main" id="{73775979-BB80-4B5A-9547-A2D4C6BEAA47}"/>
                    </a:ext>
                  </a:extLst>
                </p:cNvPr>
                <p:cNvSpPr/>
                <p:nvPr/>
              </p:nvSpPr>
              <p:spPr>
                <a:xfrm rot="3720000">
                  <a:off x="4683212" y="2166543"/>
                  <a:ext cx="117630" cy="45719"/>
                </a:xfrm>
                <a:prstGeom prst="flowChartTerminator">
                  <a:avLst/>
                </a:prstGeom>
                <a:solidFill>
                  <a:schemeClr val="bg1"/>
                </a:solid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115" name="Flowchart: Terminator 114">
                  <a:extLst>
                    <a:ext uri="{FF2B5EF4-FFF2-40B4-BE49-F238E27FC236}">
                      <a16:creationId xmlns:a16="http://schemas.microsoft.com/office/drawing/2014/main" id="{2CE42B06-B7F2-418F-9813-85A621516550}"/>
                    </a:ext>
                  </a:extLst>
                </p:cNvPr>
                <p:cNvSpPr/>
                <p:nvPr/>
              </p:nvSpPr>
              <p:spPr>
                <a:xfrm rot="5400000">
                  <a:off x="4803186" y="2121128"/>
                  <a:ext cx="117630" cy="45719"/>
                </a:xfrm>
                <a:prstGeom prst="flowChartTerminator">
                  <a:avLst/>
                </a:prstGeom>
                <a:solidFill>
                  <a:schemeClr val="bg1"/>
                </a:solid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116" name="Flowchart: Terminator 115">
                  <a:extLst>
                    <a:ext uri="{FF2B5EF4-FFF2-40B4-BE49-F238E27FC236}">
                      <a16:creationId xmlns:a16="http://schemas.microsoft.com/office/drawing/2014/main" id="{668F4B0D-E34B-47BE-A008-8D2DA9661F5B}"/>
                    </a:ext>
                  </a:extLst>
                </p:cNvPr>
                <p:cNvSpPr/>
                <p:nvPr/>
              </p:nvSpPr>
              <p:spPr>
                <a:xfrm rot="18960000">
                  <a:off x="5011584" y="2264178"/>
                  <a:ext cx="117630" cy="45719"/>
                </a:xfrm>
                <a:prstGeom prst="flowChartTerminator">
                  <a:avLst/>
                </a:prstGeom>
                <a:solidFill>
                  <a:schemeClr val="bg1"/>
                </a:solid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grpSp>
              <p:nvGrpSpPr>
                <p:cNvPr id="117" name="Group 116">
                  <a:extLst>
                    <a:ext uri="{FF2B5EF4-FFF2-40B4-BE49-F238E27FC236}">
                      <a16:creationId xmlns:a16="http://schemas.microsoft.com/office/drawing/2014/main" id="{576425E9-672C-42C5-B304-592A387E905E}"/>
                    </a:ext>
                  </a:extLst>
                </p:cNvPr>
                <p:cNvGrpSpPr/>
                <p:nvPr/>
              </p:nvGrpSpPr>
              <p:grpSpPr>
                <a:xfrm rot="21240000">
                  <a:off x="4755787" y="2090549"/>
                  <a:ext cx="517737" cy="348843"/>
                  <a:chOff x="3765722" y="2589671"/>
                  <a:chExt cx="517737" cy="348843"/>
                </a:xfrm>
                <a:solidFill>
                  <a:schemeClr val="bg1"/>
                </a:solidFill>
              </p:grpSpPr>
              <p:sp>
                <p:nvSpPr>
                  <p:cNvPr id="118" name="Chord 117">
                    <a:extLst>
                      <a:ext uri="{FF2B5EF4-FFF2-40B4-BE49-F238E27FC236}">
                        <a16:creationId xmlns:a16="http://schemas.microsoft.com/office/drawing/2014/main" id="{F12CCA44-859F-4B5A-B4C4-E69E7CC75ACC}"/>
                      </a:ext>
                    </a:extLst>
                  </p:cNvPr>
                  <p:cNvSpPr/>
                  <p:nvPr/>
                </p:nvSpPr>
                <p:spPr>
                  <a:xfrm rot="20160000">
                    <a:off x="3765722" y="2767326"/>
                    <a:ext cx="171188" cy="171188"/>
                  </a:xfrm>
                  <a:prstGeom prst="chord">
                    <a:avLst/>
                  </a:prstGeom>
                  <a:grp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119" name="Isosceles Triangle 118">
                    <a:extLst>
                      <a:ext uri="{FF2B5EF4-FFF2-40B4-BE49-F238E27FC236}">
                        <a16:creationId xmlns:a16="http://schemas.microsoft.com/office/drawing/2014/main" id="{E07F7196-4AE9-4E19-ABBB-F9048C18D482}"/>
                      </a:ext>
                    </a:extLst>
                  </p:cNvPr>
                  <p:cNvSpPr/>
                  <p:nvPr/>
                </p:nvSpPr>
                <p:spPr>
                  <a:xfrm rot="2820000">
                    <a:off x="3953255" y="2433631"/>
                    <a:ext cx="174163" cy="486244"/>
                  </a:xfrm>
                  <a:prstGeom prst="triangle">
                    <a:avLst/>
                  </a:prstGeom>
                  <a:grp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grpSp>
          </p:grpSp>
        </p:grpSp>
        <p:grpSp>
          <p:nvGrpSpPr>
            <p:cNvPr id="7" name="Group 6">
              <a:extLst>
                <a:ext uri="{FF2B5EF4-FFF2-40B4-BE49-F238E27FC236}">
                  <a16:creationId xmlns:a16="http://schemas.microsoft.com/office/drawing/2014/main" id="{C0E3B710-2FF9-4F5B-BE7F-5B91F2CD01BB}"/>
                </a:ext>
              </a:extLst>
            </p:cNvPr>
            <p:cNvGrpSpPr/>
            <p:nvPr/>
          </p:nvGrpSpPr>
          <p:grpSpPr>
            <a:xfrm>
              <a:off x="8896784" y="2110253"/>
              <a:ext cx="2165777" cy="2270391"/>
              <a:chOff x="8460096" y="2110253"/>
              <a:chExt cx="2165777" cy="2270391"/>
            </a:xfrm>
          </p:grpSpPr>
          <p:sp>
            <p:nvSpPr>
              <p:cNvPr id="31" name="Rectangle 30">
                <a:extLst>
                  <a:ext uri="{FF2B5EF4-FFF2-40B4-BE49-F238E27FC236}">
                    <a16:creationId xmlns:a16="http://schemas.microsoft.com/office/drawing/2014/main" id="{F4CE755B-E70C-4664-B7D3-C50D480EB778}"/>
                  </a:ext>
                </a:extLst>
              </p:cNvPr>
              <p:cNvSpPr/>
              <p:nvPr/>
            </p:nvSpPr>
            <p:spPr>
              <a:xfrm>
                <a:off x="8460096" y="3758935"/>
                <a:ext cx="2103120" cy="621709"/>
              </a:xfrm>
              <a:prstGeom prst="rect">
                <a:avLst/>
              </a:prstGeom>
            </p:spPr>
            <p:txBody>
              <a:bodyPr wrap="square">
                <a:spAutoFit/>
              </a:bodyPr>
              <a:lstStyle/>
              <a:p>
                <a:pPr algn="ctr" eaLnBrk="0" hangingPunct="0">
                  <a:lnSpc>
                    <a:spcPct val="200000"/>
                  </a:lnSpc>
                  <a:defRPr/>
                </a:pPr>
                <a:r>
                  <a:rPr lang="en-US" sz="2000" dirty="0">
                    <a:solidFill>
                      <a:srgbClr val="E18015"/>
                    </a:solidFill>
                    <a:latin typeface="Calibri" panose="020F0502020204030204" pitchFamily="34" charset="0"/>
                    <a:cs typeface="Calibri" panose="020F0502020204030204" pitchFamily="34" charset="0"/>
                  </a:rPr>
                  <a:t>Data Protection</a:t>
                </a:r>
              </a:p>
            </p:txBody>
          </p:sp>
          <p:cxnSp>
            <p:nvCxnSpPr>
              <p:cNvPr id="32" name="Straight Connector 31">
                <a:extLst>
                  <a:ext uri="{FF2B5EF4-FFF2-40B4-BE49-F238E27FC236}">
                    <a16:creationId xmlns:a16="http://schemas.microsoft.com/office/drawing/2014/main" id="{EFBC69DB-BA02-4DDD-82C1-93D9559B68ED}"/>
                  </a:ext>
                </a:extLst>
              </p:cNvPr>
              <p:cNvCxnSpPr/>
              <p:nvPr/>
            </p:nvCxnSpPr>
            <p:spPr>
              <a:xfrm>
                <a:off x="8520589" y="3710017"/>
                <a:ext cx="2103120" cy="0"/>
              </a:xfrm>
              <a:prstGeom prst="line">
                <a:avLst/>
              </a:prstGeom>
              <a:ln w="19050" cap="sq">
                <a:solidFill>
                  <a:srgbClr val="E18015"/>
                </a:solidFill>
                <a:miter lim="800000"/>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6499BC49-737E-420D-AC4C-E6F34EBF2ABC}"/>
                  </a:ext>
                </a:extLst>
              </p:cNvPr>
              <p:cNvSpPr/>
              <p:nvPr/>
            </p:nvSpPr>
            <p:spPr>
              <a:xfrm>
                <a:off x="8460096" y="2912380"/>
                <a:ext cx="2165777" cy="457200"/>
              </a:xfrm>
              <a:prstGeom prst="rect">
                <a:avLst/>
              </a:prstGeom>
              <a:noFill/>
              <a:ln w="6350">
                <a:noFill/>
              </a:ln>
              <a:effectLst/>
            </p:spPr>
            <p:txBody>
              <a:bodyPr wrap="square" lIns="0" tIns="91440" rIns="0" bIns="91440" rtlCol="0" anchor="t">
                <a:noAutofit/>
              </a:bodyPr>
              <a:lstStyle/>
              <a:p>
                <a:pPr algn="ctr" fontAlgn="auto">
                  <a:lnSpc>
                    <a:spcPct val="90000"/>
                  </a:lnSpc>
                  <a:spcBef>
                    <a:spcPts val="481"/>
                  </a:spcBef>
                  <a:spcAft>
                    <a:spcPts val="0"/>
                  </a:spcAft>
                  <a:defRPr/>
                </a:pPr>
                <a:r>
                  <a:rPr lang="en-US" sz="2800" dirty="0">
                    <a:solidFill>
                      <a:srgbClr val="E18015"/>
                    </a:solidFill>
                    <a:latin typeface="Calibri" panose="020F0502020204030204" pitchFamily="34" charset="0"/>
                    <a:cs typeface="Calibri" panose="020F0502020204030204" pitchFamily="34" charset="0"/>
                  </a:rPr>
                  <a:t>Applications</a:t>
                </a:r>
              </a:p>
            </p:txBody>
          </p:sp>
          <p:grpSp>
            <p:nvGrpSpPr>
              <p:cNvPr id="126" name="Group 125">
                <a:extLst>
                  <a:ext uri="{FF2B5EF4-FFF2-40B4-BE49-F238E27FC236}">
                    <a16:creationId xmlns:a16="http://schemas.microsoft.com/office/drawing/2014/main" id="{AC4D6DD7-1107-4CAB-B967-55C6B4568A7D}"/>
                  </a:ext>
                </a:extLst>
              </p:cNvPr>
              <p:cNvGrpSpPr/>
              <p:nvPr/>
            </p:nvGrpSpPr>
            <p:grpSpPr>
              <a:xfrm>
                <a:off x="9304250" y="2110253"/>
                <a:ext cx="536786" cy="533627"/>
                <a:chOff x="9455845" y="1836693"/>
                <a:chExt cx="371545" cy="408297"/>
              </a:xfrm>
            </p:grpSpPr>
            <p:grpSp>
              <p:nvGrpSpPr>
                <p:cNvPr id="122" name="Group 121">
                  <a:extLst>
                    <a:ext uri="{FF2B5EF4-FFF2-40B4-BE49-F238E27FC236}">
                      <a16:creationId xmlns:a16="http://schemas.microsoft.com/office/drawing/2014/main" id="{DD361D19-9382-48E9-AFDB-F1F35F00FF25}"/>
                    </a:ext>
                  </a:extLst>
                </p:cNvPr>
                <p:cNvGrpSpPr/>
                <p:nvPr/>
              </p:nvGrpSpPr>
              <p:grpSpPr>
                <a:xfrm rot="18518331">
                  <a:off x="9341854" y="1950684"/>
                  <a:ext cx="408297" cy="180316"/>
                  <a:chOff x="5365974" y="929552"/>
                  <a:chExt cx="958623" cy="306629"/>
                </a:xfrm>
              </p:grpSpPr>
              <p:sp>
                <p:nvSpPr>
                  <p:cNvPr id="123" name="Flowchart: Stored Data 122">
                    <a:extLst>
                      <a:ext uri="{FF2B5EF4-FFF2-40B4-BE49-F238E27FC236}">
                        <a16:creationId xmlns:a16="http://schemas.microsoft.com/office/drawing/2014/main" id="{9F15371F-C3E1-48BC-B4DE-9828A6787499}"/>
                      </a:ext>
                    </a:extLst>
                  </p:cNvPr>
                  <p:cNvSpPr/>
                  <p:nvPr/>
                </p:nvSpPr>
                <p:spPr>
                  <a:xfrm>
                    <a:off x="5365974" y="929552"/>
                    <a:ext cx="492103" cy="306629"/>
                  </a:xfrm>
                  <a:prstGeom prst="flowChartOnlineStorage">
                    <a:avLst/>
                  </a:prstGeom>
                  <a:noFill/>
                  <a:ln w="12700" cmpd="sng">
                    <a:solidFill>
                      <a:srgbClr val="E18015"/>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rgbClr val="FFC000"/>
                      </a:solidFill>
                      <a:latin typeface="+mn-lt"/>
                    </a:endParaRPr>
                  </a:p>
                </p:txBody>
              </p:sp>
              <p:sp>
                <p:nvSpPr>
                  <p:cNvPr id="124" name="Flowchart: Stored Data 123">
                    <a:extLst>
                      <a:ext uri="{FF2B5EF4-FFF2-40B4-BE49-F238E27FC236}">
                        <a16:creationId xmlns:a16="http://schemas.microsoft.com/office/drawing/2014/main" id="{BAF29EA9-9069-4641-ACFD-997565329464}"/>
                      </a:ext>
                    </a:extLst>
                  </p:cNvPr>
                  <p:cNvSpPr/>
                  <p:nvPr/>
                </p:nvSpPr>
                <p:spPr>
                  <a:xfrm flipH="1">
                    <a:off x="5832494" y="929552"/>
                    <a:ext cx="492103" cy="306629"/>
                  </a:xfrm>
                  <a:prstGeom prst="flowChartOnlineStorage">
                    <a:avLst/>
                  </a:prstGeom>
                  <a:noFill/>
                  <a:ln w="12700" cmpd="sng">
                    <a:solidFill>
                      <a:srgbClr val="E18015"/>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rgbClr val="FFC000"/>
                      </a:solidFill>
                      <a:latin typeface="+mn-lt"/>
                    </a:endParaRPr>
                  </a:p>
                </p:txBody>
              </p:sp>
            </p:grpSp>
            <p:sp>
              <p:nvSpPr>
                <p:cNvPr id="125" name="Flowchart: Magnetic Disk 124">
                  <a:extLst>
                    <a:ext uri="{FF2B5EF4-FFF2-40B4-BE49-F238E27FC236}">
                      <a16:creationId xmlns:a16="http://schemas.microsoft.com/office/drawing/2014/main" id="{07C6FD40-7A09-45A4-A7B2-05A1467FDBC1}"/>
                    </a:ext>
                  </a:extLst>
                </p:cNvPr>
                <p:cNvSpPr/>
                <p:nvPr/>
              </p:nvSpPr>
              <p:spPr>
                <a:xfrm>
                  <a:off x="9583037" y="2118444"/>
                  <a:ext cx="244353" cy="106097"/>
                </a:xfrm>
                <a:prstGeom prst="flowChartMagneticDisk">
                  <a:avLst/>
                </a:prstGeom>
                <a:noFill/>
                <a:ln w="12700" cmpd="sng">
                  <a:solidFill>
                    <a:srgbClr val="E18015"/>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rgbClr val="FFC000"/>
                    </a:solidFill>
                    <a:latin typeface="+mn-lt"/>
                  </a:endParaRPr>
                </a:p>
              </p:txBody>
            </p:sp>
          </p:grpSp>
        </p:grpSp>
      </p:grpSp>
    </p:spTree>
    <p:extLst>
      <p:ext uri="{BB962C8B-B14F-4D97-AF65-F5344CB8AC3E}">
        <p14:creationId xmlns:p14="http://schemas.microsoft.com/office/powerpoint/2010/main" val="4293424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A38DCC-2CC6-41ED-AC6E-B13B1D19780A}"/>
              </a:ext>
            </a:extLst>
          </p:cNvPr>
          <p:cNvSpPr>
            <a:spLocks noGrp="1"/>
          </p:cNvSpPr>
          <p:nvPr>
            <p:ph type="sldNum" sz="quarter" idx="4"/>
          </p:nvPr>
        </p:nvSpPr>
        <p:spPr/>
        <p:txBody>
          <a:bodyPr/>
          <a:lstStyle/>
          <a:p>
            <a:fld id="{D57F1E4F-1CFF-5643-939E-217C01CDF565}" type="slidenum">
              <a:rPr lang="en-US" smtClean="0"/>
              <a:pPr/>
              <a:t>3</a:t>
            </a:fld>
            <a:endParaRPr lang="en-US" dirty="0"/>
          </a:p>
        </p:txBody>
      </p:sp>
      <p:grpSp>
        <p:nvGrpSpPr>
          <p:cNvPr id="6" name="Group 5">
            <a:extLst>
              <a:ext uri="{FF2B5EF4-FFF2-40B4-BE49-F238E27FC236}">
                <a16:creationId xmlns:a16="http://schemas.microsoft.com/office/drawing/2014/main" id="{09ACE739-B1D1-48A2-9A15-BDC37055B6A9}"/>
              </a:ext>
            </a:extLst>
          </p:cNvPr>
          <p:cNvGrpSpPr/>
          <p:nvPr/>
        </p:nvGrpSpPr>
        <p:grpSpPr>
          <a:xfrm>
            <a:off x="5044440" y="2619173"/>
            <a:ext cx="2103120" cy="1619653"/>
            <a:chOff x="1775520" y="2090155"/>
            <a:chExt cx="2103120" cy="1619653"/>
          </a:xfrm>
        </p:grpSpPr>
        <p:sp>
          <p:nvSpPr>
            <p:cNvPr id="47" name="Rectangle 46">
              <a:extLst>
                <a:ext uri="{FF2B5EF4-FFF2-40B4-BE49-F238E27FC236}">
                  <a16:creationId xmlns:a16="http://schemas.microsoft.com/office/drawing/2014/main" id="{637AF2B7-5B38-4C83-B65D-B805E2B2B27C}"/>
                </a:ext>
              </a:extLst>
            </p:cNvPr>
            <p:cNvSpPr/>
            <p:nvPr/>
          </p:nvSpPr>
          <p:spPr>
            <a:xfrm>
              <a:off x="1805944" y="2741438"/>
              <a:ext cx="2057400" cy="457200"/>
            </a:xfrm>
            <a:prstGeom prst="rect">
              <a:avLst/>
            </a:prstGeom>
            <a:noFill/>
            <a:ln w="6350">
              <a:noFill/>
            </a:ln>
            <a:effectLst/>
          </p:spPr>
          <p:txBody>
            <a:bodyPr wrap="square" lIns="0" tIns="91440" rIns="0" bIns="91440" rtlCol="0" anchor="t">
              <a:noAutofit/>
            </a:bodyPr>
            <a:lstStyle/>
            <a:p>
              <a:pPr algn="ctr" fontAlgn="auto">
                <a:lnSpc>
                  <a:spcPct val="90000"/>
                </a:lnSpc>
                <a:spcBef>
                  <a:spcPts val="481"/>
                </a:spcBef>
                <a:spcAft>
                  <a:spcPts val="0"/>
                </a:spcAft>
                <a:defRPr/>
              </a:pPr>
              <a:r>
                <a:rPr lang="en-US" sz="2800" dirty="0">
                  <a:solidFill>
                    <a:srgbClr val="0070C0"/>
                  </a:solidFill>
                  <a:latin typeface="Calibri" panose="020F0502020204030204" pitchFamily="34" charset="0"/>
                  <a:cs typeface="Calibri" panose="020F0502020204030204" pitchFamily="34" charset="0"/>
                </a:rPr>
                <a:t>Machine Learning</a:t>
              </a:r>
            </a:p>
          </p:txBody>
        </p:sp>
        <p:grpSp>
          <p:nvGrpSpPr>
            <p:cNvPr id="48" name="Group 47">
              <a:extLst>
                <a:ext uri="{FF2B5EF4-FFF2-40B4-BE49-F238E27FC236}">
                  <a16:creationId xmlns:a16="http://schemas.microsoft.com/office/drawing/2014/main" id="{55B60AD3-5C38-4938-A3F9-5A0D1CC0CA28}"/>
                </a:ext>
              </a:extLst>
            </p:cNvPr>
            <p:cNvGrpSpPr/>
            <p:nvPr/>
          </p:nvGrpSpPr>
          <p:grpSpPr>
            <a:xfrm>
              <a:off x="2475053" y="2090155"/>
              <a:ext cx="696138" cy="520065"/>
              <a:chOff x="3465095" y="506457"/>
              <a:chExt cx="974155" cy="552313"/>
            </a:xfrm>
          </p:grpSpPr>
          <p:cxnSp>
            <p:nvCxnSpPr>
              <p:cNvPr id="50" name="Straight Connector 49">
                <a:extLst>
                  <a:ext uri="{FF2B5EF4-FFF2-40B4-BE49-F238E27FC236}">
                    <a16:creationId xmlns:a16="http://schemas.microsoft.com/office/drawing/2014/main" id="{8DE951B2-791B-4D9D-9B12-50C676534B9B}"/>
                  </a:ext>
                </a:extLst>
              </p:cNvPr>
              <p:cNvCxnSpPr/>
              <p:nvPr/>
            </p:nvCxnSpPr>
            <p:spPr>
              <a:xfrm flipV="1">
                <a:off x="3537287" y="506457"/>
                <a:ext cx="0" cy="38388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A2142F13-4A96-4957-A9E1-0680DD842D00}"/>
                  </a:ext>
                </a:extLst>
              </p:cNvPr>
              <p:cNvCxnSpPr/>
              <p:nvPr/>
            </p:nvCxnSpPr>
            <p:spPr>
              <a:xfrm>
                <a:off x="3537287" y="506457"/>
                <a:ext cx="829771" cy="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A810DE69-B07E-4279-AEB7-F0B78E78B324}"/>
                  </a:ext>
                </a:extLst>
              </p:cNvPr>
              <p:cNvCxnSpPr/>
              <p:nvPr/>
            </p:nvCxnSpPr>
            <p:spPr>
              <a:xfrm>
                <a:off x="4367058" y="506457"/>
                <a:ext cx="0" cy="38388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53" name="Round Same Side Corner Rectangle 42">
                <a:extLst>
                  <a:ext uri="{FF2B5EF4-FFF2-40B4-BE49-F238E27FC236}">
                    <a16:creationId xmlns:a16="http://schemas.microsoft.com/office/drawing/2014/main" id="{446A33D7-9A6B-4DCF-9184-2B6426EE0568}"/>
                  </a:ext>
                </a:extLst>
              </p:cNvPr>
              <p:cNvSpPr/>
              <p:nvPr/>
            </p:nvSpPr>
            <p:spPr>
              <a:xfrm>
                <a:off x="3465095" y="961006"/>
                <a:ext cx="974155" cy="97764"/>
              </a:xfrm>
              <a:prstGeom prst="round2SameRect">
                <a:avLst/>
              </a:prstGeom>
              <a:noFill/>
              <a:ln w="12700" cmpd="sng">
                <a:solidFill>
                  <a:schemeClr val="accent2"/>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cxnSp>
            <p:nvCxnSpPr>
              <p:cNvPr id="54" name="Straight Connector 53">
                <a:extLst>
                  <a:ext uri="{FF2B5EF4-FFF2-40B4-BE49-F238E27FC236}">
                    <a16:creationId xmlns:a16="http://schemas.microsoft.com/office/drawing/2014/main" id="{FC1C3BA3-9B63-4213-8276-2F3920B96D14}"/>
                  </a:ext>
                </a:extLst>
              </p:cNvPr>
              <p:cNvCxnSpPr/>
              <p:nvPr/>
            </p:nvCxnSpPr>
            <p:spPr>
              <a:xfrm flipV="1">
                <a:off x="3681663" y="640830"/>
                <a:ext cx="504679" cy="249507"/>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66BBD9C4-A984-4550-B887-2360F5707970}"/>
                  </a:ext>
                </a:extLst>
              </p:cNvPr>
              <p:cNvCxnSpPr/>
              <p:nvPr/>
            </p:nvCxnSpPr>
            <p:spPr>
              <a:xfrm flipH="1">
                <a:off x="4042611" y="640830"/>
                <a:ext cx="143731" cy="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AECAC11F-421C-4E8E-967B-69DF9D3E7DB5}"/>
                  </a:ext>
                </a:extLst>
              </p:cNvPr>
              <p:cNvCxnSpPr/>
              <p:nvPr/>
            </p:nvCxnSpPr>
            <p:spPr>
              <a:xfrm flipH="1">
                <a:off x="4114476" y="640830"/>
                <a:ext cx="71866" cy="124753"/>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grpSp>
        <p:cxnSp>
          <p:nvCxnSpPr>
            <p:cNvPr id="49" name="Straight Connector 48">
              <a:extLst>
                <a:ext uri="{FF2B5EF4-FFF2-40B4-BE49-F238E27FC236}">
                  <a16:creationId xmlns:a16="http://schemas.microsoft.com/office/drawing/2014/main" id="{948847CA-132B-45F1-85C4-BA163F785154}"/>
                </a:ext>
              </a:extLst>
            </p:cNvPr>
            <p:cNvCxnSpPr/>
            <p:nvPr/>
          </p:nvCxnSpPr>
          <p:spPr>
            <a:xfrm>
              <a:off x="1775520" y="3709808"/>
              <a:ext cx="2103120" cy="0"/>
            </a:xfrm>
            <a:prstGeom prst="line">
              <a:avLst/>
            </a:prstGeom>
            <a:ln w="19050" cap="sq">
              <a:solidFill>
                <a:schemeClr val="accent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35963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A1CE45-B613-488C-BAA8-46BD71057507}"/>
              </a:ext>
            </a:extLst>
          </p:cNvPr>
          <p:cNvSpPr>
            <a:spLocks noGrp="1"/>
          </p:cNvSpPr>
          <p:nvPr>
            <p:ph type="sldNum" sz="quarter" idx="4"/>
          </p:nvPr>
        </p:nvSpPr>
        <p:spPr/>
        <p:txBody>
          <a:bodyPr/>
          <a:lstStyle/>
          <a:p>
            <a:fld id="{D57F1E4F-1CFF-5643-939E-217C01CDF565}" type="slidenum">
              <a:rPr lang="en-US" smtClean="0"/>
              <a:pPr/>
              <a:t>4</a:t>
            </a:fld>
            <a:endParaRPr lang="en-US" dirty="0"/>
          </a:p>
        </p:txBody>
      </p:sp>
      <p:sp>
        <p:nvSpPr>
          <p:cNvPr id="4" name="Title 3">
            <a:extLst>
              <a:ext uri="{FF2B5EF4-FFF2-40B4-BE49-F238E27FC236}">
                <a16:creationId xmlns:a16="http://schemas.microsoft.com/office/drawing/2014/main" id="{542C3E66-5CBA-47AB-9FAD-7E447E070438}"/>
              </a:ext>
            </a:extLst>
          </p:cNvPr>
          <p:cNvSpPr>
            <a:spLocks noGrp="1"/>
          </p:cNvSpPr>
          <p:nvPr>
            <p:ph type="title"/>
          </p:nvPr>
        </p:nvSpPr>
        <p:spPr>
          <a:xfrm>
            <a:off x="811700" y="312617"/>
            <a:ext cx="8596668" cy="1320800"/>
          </a:xfrm>
        </p:spPr>
        <p:txBody>
          <a:bodyPr/>
          <a:lstStyle/>
          <a:p>
            <a:r>
              <a:rPr lang="en-US" dirty="0"/>
              <a:t>Machine Leaning </a:t>
            </a:r>
          </a:p>
        </p:txBody>
      </p:sp>
      <p:sp>
        <p:nvSpPr>
          <p:cNvPr id="31" name="Rounded Rectangle 44">
            <a:extLst>
              <a:ext uri="{FF2B5EF4-FFF2-40B4-BE49-F238E27FC236}">
                <a16:creationId xmlns:a16="http://schemas.microsoft.com/office/drawing/2014/main" id="{05D3E4EF-3C9B-4A18-9046-DE8B03D57AEC}"/>
              </a:ext>
            </a:extLst>
          </p:cNvPr>
          <p:cNvSpPr/>
          <p:nvPr/>
        </p:nvSpPr>
        <p:spPr bwMode="auto">
          <a:xfrm>
            <a:off x="1613884" y="1628800"/>
            <a:ext cx="2502753" cy="2253269"/>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grpSp>
        <p:nvGrpSpPr>
          <p:cNvPr id="12" name="Group 11">
            <a:extLst>
              <a:ext uri="{FF2B5EF4-FFF2-40B4-BE49-F238E27FC236}">
                <a16:creationId xmlns:a16="http://schemas.microsoft.com/office/drawing/2014/main" id="{1B008CD5-1EAC-40BC-B74E-9ED6782E0948}"/>
              </a:ext>
            </a:extLst>
          </p:cNvPr>
          <p:cNvGrpSpPr/>
          <p:nvPr/>
        </p:nvGrpSpPr>
        <p:grpSpPr>
          <a:xfrm>
            <a:off x="3994126" y="1625703"/>
            <a:ext cx="2956649" cy="2272628"/>
            <a:chOff x="3994126" y="1680233"/>
            <a:chExt cx="2956649" cy="2272628"/>
          </a:xfrm>
        </p:grpSpPr>
        <p:sp>
          <p:nvSpPr>
            <p:cNvPr id="34" name="Right Arrow 47">
              <a:extLst>
                <a:ext uri="{FF2B5EF4-FFF2-40B4-BE49-F238E27FC236}">
                  <a16:creationId xmlns:a16="http://schemas.microsoft.com/office/drawing/2014/main" id="{85908F15-92AF-4293-A2B1-9C2181A525D9}"/>
                </a:ext>
              </a:extLst>
            </p:cNvPr>
            <p:cNvSpPr/>
            <p:nvPr/>
          </p:nvSpPr>
          <p:spPr>
            <a:xfrm>
              <a:off x="3994126" y="2554187"/>
              <a:ext cx="560219" cy="50999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endParaRPr lang="en-US" sz="1200">
                <a:solidFill>
                  <a:prstClr val="black"/>
                </a:solidFill>
                <a:latin typeface="Intel Clear"/>
                <a:sym typeface="Helvetica Light"/>
              </a:endParaRPr>
            </a:p>
          </p:txBody>
        </p:sp>
        <p:sp>
          <p:nvSpPr>
            <p:cNvPr id="22" name="TextBox 21">
              <a:extLst>
                <a:ext uri="{FF2B5EF4-FFF2-40B4-BE49-F238E27FC236}">
                  <a16:creationId xmlns:a16="http://schemas.microsoft.com/office/drawing/2014/main" id="{6532762A-9D32-481F-A4DE-5D94A3291410}"/>
                </a:ext>
              </a:extLst>
            </p:cNvPr>
            <p:cNvSpPr txBox="1"/>
            <p:nvPr/>
          </p:nvSpPr>
          <p:spPr>
            <a:xfrm>
              <a:off x="4688647" y="1680233"/>
              <a:ext cx="2139632" cy="2021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CLASSIFIER</a:t>
              </a:r>
            </a:p>
            <a:p>
              <a:pPr algn="ctr" defTabSz="291823" hangingPunct="0">
                <a:spcAft>
                  <a:spcPts val="799"/>
                </a:spcAft>
              </a:pPr>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ALGORITHM</a:t>
              </a:r>
            </a:p>
            <a:p>
              <a:pPr algn="ctr" defTabSz="291823" hangingPunct="0"/>
              <a:r>
                <a:rPr lang="en-US" sz="1400" dirty="0">
                  <a:solidFill>
                    <a:srgbClr val="B1BABF">
                      <a:lumMod val="50000"/>
                    </a:srgbClr>
                  </a:solidFill>
                  <a:latin typeface="Calibri" panose="020F0502020204030204" pitchFamily="34" charset="0"/>
                  <a:cs typeface="Calibri" panose="020F0502020204030204" pitchFamily="34" charset="0"/>
                  <a:sym typeface="Helvetica Light"/>
                </a:rPr>
                <a:t>SVM</a:t>
              </a:r>
            </a:p>
            <a:p>
              <a:pPr algn="ctr" defTabSz="291823" hangingPunct="0"/>
              <a:r>
                <a:rPr lang="en-US" sz="1400" dirty="0">
                  <a:solidFill>
                    <a:srgbClr val="B1BABF">
                      <a:lumMod val="50000"/>
                    </a:srgbClr>
                  </a:solidFill>
                  <a:latin typeface="Calibri" panose="020F0502020204030204" pitchFamily="34" charset="0"/>
                  <a:cs typeface="Calibri" panose="020F0502020204030204" pitchFamily="34" charset="0"/>
                </a:rPr>
                <a:t>Random Forest</a:t>
              </a:r>
            </a:p>
            <a:p>
              <a:pPr algn="ctr" defTabSz="291823" hangingPunct="0"/>
              <a:r>
                <a:rPr lang="en-US" sz="1400" dirty="0">
                  <a:solidFill>
                    <a:srgbClr val="B1BABF">
                      <a:lumMod val="50000"/>
                    </a:srgbClr>
                  </a:solidFill>
                  <a:latin typeface="Calibri" panose="020F0502020204030204" pitchFamily="34" charset="0"/>
                  <a:cs typeface="Calibri" panose="020F0502020204030204" pitchFamily="34" charset="0"/>
                  <a:sym typeface="Helvetica Light"/>
                </a:rPr>
                <a:t>Naïve Bayes</a:t>
              </a:r>
            </a:p>
            <a:p>
              <a:pPr algn="ctr" defTabSz="291823" hangingPunct="0"/>
              <a:r>
                <a:rPr lang="en-US" sz="1400" dirty="0">
                  <a:solidFill>
                    <a:srgbClr val="B1BABF">
                      <a:lumMod val="50000"/>
                    </a:srgbClr>
                  </a:solidFill>
                  <a:latin typeface="Calibri" panose="020F0502020204030204" pitchFamily="34" charset="0"/>
                  <a:cs typeface="Calibri" panose="020F0502020204030204" pitchFamily="34" charset="0"/>
                </a:rPr>
                <a:t>Decision Trees</a:t>
              </a:r>
            </a:p>
            <a:p>
              <a:pPr algn="ctr" defTabSz="291823" hangingPunct="0"/>
              <a:r>
                <a:rPr lang="en-US" sz="1400" dirty="0">
                  <a:solidFill>
                    <a:srgbClr val="B1BABF">
                      <a:lumMod val="50000"/>
                    </a:srgbClr>
                  </a:solidFill>
                  <a:latin typeface="Calibri" panose="020F0502020204030204" pitchFamily="34" charset="0"/>
                  <a:cs typeface="Calibri" panose="020F0502020204030204" pitchFamily="34" charset="0"/>
                  <a:sym typeface="Helvetica Light"/>
                </a:rPr>
                <a:t>Logistic Regression</a:t>
              </a:r>
            </a:p>
            <a:p>
              <a:pPr algn="ctr" defTabSz="291823" hangingPunct="0"/>
              <a:r>
                <a:rPr lang="en-US" sz="1400" dirty="0">
                  <a:solidFill>
                    <a:srgbClr val="B1BABF">
                      <a:lumMod val="50000"/>
                    </a:srgbClr>
                  </a:solidFill>
                  <a:latin typeface="Calibri" panose="020F0502020204030204" pitchFamily="34" charset="0"/>
                  <a:cs typeface="Calibri" panose="020F0502020204030204" pitchFamily="34" charset="0"/>
                </a:rPr>
                <a:t>Ensemble methods</a:t>
              </a:r>
              <a:endParaRPr lang="en-US" sz="1400" dirty="0">
                <a:solidFill>
                  <a:srgbClr val="B1BABF">
                    <a:lumMod val="50000"/>
                  </a:srgbClr>
                </a:solidFill>
                <a:latin typeface="Calibri" panose="020F0502020204030204" pitchFamily="34" charset="0"/>
                <a:cs typeface="Calibri" panose="020F0502020204030204" pitchFamily="34" charset="0"/>
                <a:sym typeface="Helvetica Light"/>
              </a:endParaRPr>
            </a:p>
          </p:txBody>
        </p:sp>
        <p:sp>
          <p:nvSpPr>
            <p:cNvPr id="32" name="Rounded Rectangle 45">
              <a:extLst>
                <a:ext uri="{FF2B5EF4-FFF2-40B4-BE49-F238E27FC236}">
                  <a16:creationId xmlns:a16="http://schemas.microsoft.com/office/drawing/2014/main" id="{DD4BB6C3-1912-4440-B572-DA0FEFC7C4BB}"/>
                </a:ext>
              </a:extLst>
            </p:cNvPr>
            <p:cNvSpPr/>
            <p:nvPr/>
          </p:nvSpPr>
          <p:spPr bwMode="auto">
            <a:xfrm>
              <a:off x="4448022" y="1699592"/>
              <a:ext cx="2502753" cy="2253269"/>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grpSp>
      <p:pic>
        <p:nvPicPr>
          <p:cNvPr id="6" name="Picture 5" descr="A picture containing X-ray film, animal, bottle, invertebrate&#10;&#10;Description automatically generated">
            <a:extLst>
              <a:ext uri="{FF2B5EF4-FFF2-40B4-BE49-F238E27FC236}">
                <a16:creationId xmlns:a16="http://schemas.microsoft.com/office/drawing/2014/main" id="{B7FCFDDF-1CC2-47D6-8B6A-12773CADF1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52683" y="2650803"/>
            <a:ext cx="1087003" cy="943234"/>
          </a:xfrm>
          <a:prstGeom prst="rect">
            <a:avLst/>
          </a:prstGeom>
        </p:spPr>
      </p:pic>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2FF9F084-5FAA-4CBC-9F86-A95E88C2E863}"/>
                  </a:ext>
                </a:extLst>
              </p:cNvPr>
              <p:cNvSpPr/>
              <p:nvPr/>
            </p:nvSpPr>
            <p:spPr>
              <a:xfrm>
                <a:off x="1715349" y="2153877"/>
                <a:ext cx="235923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140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1</m:t>
                              </m:r>
                            </m:sub>
                          </m:sSub>
                        </m:e>
                      </m:d>
                      <m:r>
                        <a:rPr lang="en-US" sz="1400" i="1">
                          <a:latin typeface="Cambria Math" panose="02040503050406030204" pitchFamily="18" charset="0"/>
                        </a:rPr>
                        <m:t>,</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2</m:t>
                              </m:r>
                            </m:sub>
                          </m:sSub>
                        </m:e>
                      </m:d>
                      <m:r>
                        <a:rPr lang="en-US" sz="1400" i="1">
                          <a:latin typeface="Cambria Math" panose="02040503050406030204" pitchFamily="18" charset="0"/>
                        </a:rPr>
                        <m:t>,</m:t>
                      </m:r>
                      <m:r>
                        <a:rPr lang="en-US" sz="1400" b="0" i="1" smtClean="0">
                          <a:latin typeface="Cambria Math" panose="02040503050406030204" pitchFamily="18" charset="0"/>
                        </a:rPr>
                        <m:t> . . ., </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𝑛</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𝑛</m:t>
                              </m:r>
                            </m:sub>
                          </m:sSub>
                        </m:e>
                      </m:d>
                    </m:oMath>
                  </m:oMathPara>
                </a14:m>
                <a:endParaRPr lang="en-US" sz="1400" dirty="0"/>
              </a:p>
            </p:txBody>
          </p:sp>
        </mc:Choice>
        <mc:Fallback xmlns="">
          <p:sp>
            <p:nvSpPr>
              <p:cNvPr id="25" name="Rectangle 24">
                <a:extLst>
                  <a:ext uri="{FF2B5EF4-FFF2-40B4-BE49-F238E27FC236}">
                    <a16:creationId xmlns:a16="http://schemas.microsoft.com/office/drawing/2014/main" id="{2FF9F084-5FAA-4CBC-9F86-A95E88C2E863}"/>
                  </a:ext>
                </a:extLst>
              </p:cNvPr>
              <p:cNvSpPr>
                <a:spLocks noRot="1" noChangeAspect="1" noMove="1" noResize="1" noEditPoints="1" noAdjustHandles="1" noChangeArrowheads="1" noChangeShapeType="1" noTextEdit="1"/>
              </p:cNvSpPr>
              <p:nvPr/>
            </p:nvSpPr>
            <p:spPr>
              <a:xfrm>
                <a:off x="1715349" y="2153877"/>
                <a:ext cx="2359236" cy="307777"/>
              </a:xfrm>
              <a:prstGeom prst="rect">
                <a:avLst/>
              </a:prstGeom>
              <a:blipFill>
                <a:blip r:embed="rId4"/>
                <a:stretch>
                  <a:fillRect b="-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4A33F690-75D6-4557-8087-80C4BA7333D3}"/>
                  </a:ext>
                </a:extLst>
              </p:cNvPr>
              <p:cNvSpPr/>
              <p:nvPr/>
            </p:nvSpPr>
            <p:spPr>
              <a:xfrm>
                <a:off x="3109096" y="2882243"/>
                <a:ext cx="67826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𝑇</m:t>
                      </m:r>
                      <m:r>
                        <a:rPr lang="en-US" sz="1400" b="0" i="1" smtClean="0">
                          <a:latin typeface="Cambria Math" panose="02040503050406030204" pitchFamily="18" charset="0"/>
                        </a:rPr>
                        <m:t>𝑟𝑎𝑖𝑛</m:t>
                      </m:r>
                    </m:oMath>
                  </m:oMathPara>
                </a14:m>
                <a:endParaRPr lang="en-US" sz="1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𝑇𝑒𝑠𝑡</m:t>
                      </m:r>
                    </m:oMath>
                  </m:oMathPara>
                </a14:m>
                <a:endParaRPr lang="en-US" sz="1400" b="0" dirty="0"/>
              </a:p>
            </p:txBody>
          </p:sp>
        </mc:Choice>
        <mc:Fallback xmlns="">
          <p:sp>
            <p:nvSpPr>
              <p:cNvPr id="40" name="Rectangle 39">
                <a:extLst>
                  <a:ext uri="{FF2B5EF4-FFF2-40B4-BE49-F238E27FC236}">
                    <a16:creationId xmlns:a16="http://schemas.microsoft.com/office/drawing/2014/main" id="{4A33F690-75D6-4557-8087-80C4BA7333D3}"/>
                  </a:ext>
                </a:extLst>
              </p:cNvPr>
              <p:cNvSpPr>
                <a:spLocks noRot="1" noChangeAspect="1" noMove="1" noResize="1" noEditPoints="1" noAdjustHandles="1" noChangeArrowheads="1" noChangeShapeType="1" noTextEdit="1"/>
              </p:cNvSpPr>
              <p:nvPr/>
            </p:nvSpPr>
            <p:spPr>
              <a:xfrm>
                <a:off x="3109096" y="2882243"/>
                <a:ext cx="678263" cy="523220"/>
              </a:xfrm>
              <a:prstGeom prst="rect">
                <a:avLst/>
              </a:prstGeom>
              <a:blipFill>
                <a:blip r:embed="rId5"/>
                <a:stretch>
                  <a:fillRect/>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51C8DB7C-A8EB-46F4-BCC3-178EBBBC5344}"/>
              </a:ext>
            </a:extLst>
          </p:cNvPr>
          <p:cNvSpPr txBox="1"/>
          <p:nvPr/>
        </p:nvSpPr>
        <p:spPr>
          <a:xfrm>
            <a:off x="1808973" y="1728516"/>
            <a:ext cx="2139632" cy="3490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HISTORICAL DATASET</a:t>
            </a:r>
          </a:p>
        </p:txBody>
      </p:sp>
      <p:grpSp>
        <p:nvGrpSpPr>
          <p:cNvPr id="13" name="Group 12">
            <a:extLst>
              <a:ext uri="{FF2B5EF4-FFF2-40B4-BE49-F238E27FC236}">
                <a16:creationId xmlns:a16="http://schemas.microsoft.com/office/drawing/2014/main" id="{65EA59AE-3B79-4BBB-B1E1-CF16CDD13A9C}"/>
              </a:ext>
            </a:extLst>
          </p:cNvPr>
          <p:cNvGrpSpPr/>
          <p:nvPr/>
        </p:nvGrpSpPr>
        <p:grpSpPr>
          <a:xfrm>
            <a:off x="1620097" y="4336094"/>
            <a:ext cx="2502753" cy="979448"/>
            <a:chOff x="1620097" y="4336094"/>
            <a:chExt cx="2502753" cy="979448"/>
          </a:xfrm>
        </p:grpSpPr>
        <p:sp>
          <p:nvSpPr>
            <p:cNvPr id="44" name="Rounded Rectangle 44">
              <a:extLst>
                <a:ext uri="{FF2B5EF4-FFF2-40B4-BE49-F238E27FC236}">
                  <a16:creationId xmlns:a16="http://schemas.microsoft.com/office/drawing/2014/main" id="{A08D60EC-7008-4E79-9C23-BEBF7BB0586F}"/>
                </a:ext>
              </a:extLst>
            </p:cNvPr>
            <p:cNvSpPr/>
            <p:nvPr/>
          </p:nvSpPr>
          <p:spPr bwMode="auto">
            <a:xfrm>
              <a:off x="1620097" y="4336094"/>
              <a:ext cx="2502753" cy="979448"/>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45" name="TextBox 44">
              <a:extLst>
                <a:ext uri="{FF2B5EF4-FFF2-40B4-BE49-F238E27FC236}">
                  <a16:creationId xmlns:a16="http://schemas.microsoft.com/office/drawing/2014/main" id="{F86E3AB2-9B8C-4305-BB5A-3BE71D53A792}"/>
                </a:ext>
              </a:extLst>
            </p:cNvPr>
            <p:cNvSpPr txBox="1"/>
            <p:nvPr/>
          </p:nvSpPr>
          <p:spPr>
            <a:xfrm>
              <a:off x="1770104" y="4469107"/>
              <a:ext cx="2139632" cy="3490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NEW DATA</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09443A5E-7DFA-4348-B845-7E2EA576D811}"/>
                    </a:ext>
                  </a:extLst>
                </p:cNvPr>
                <p:cNvSpPr txBox="1"/>
                <p:nvPr/>
              </p:nvSpPr>
              <p:spPr>
                <a:xfrm>
                  <a:off x="2509707" y="4879928"/>
                  <a:ext cx="7235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m:t>
                        </m:r>
                      </m:oMath>
                    </m:oMathPara>
                  </a14:m>
                  <a:endParaRPr lang="en-US" dirty="0"/>
                </a:p>
              </p:txBody>
            </p:sp>
          </mc:Choice>
          <mc:Fallback xmlns="">
            <p:sp>
              <p:nvSpPr>
                <p:cNvPr id="28" name="TextBox 27">
                  <a:extLst>
                    <a:ext uri="{FF2B5EF4-FFF2-40B4-BE49-F238E27FC236}">
                      <a16:creationId xmlns:a16="http://schemas.microsoft.com/office/drawing/2014/main" id="{09443A5E-7DFA-4348-B845-7E2EA576D811}"/>
                    </a:ext>
                  </a:extLst>
                </p:cNvPr>
                <p:cNvSpPr txBox="1">
                  <a:spLocks noRot="1" noChangeAspect="1" noMove="1" noResize="1" noEditPoints="1" noAdjustHandles="1" noChangeArrowheads="1" noChangeShapeType="1" noTextEdit="1"/>
                </p:cNvSpPr>
                <p:nvPr/>
              </p:nvSpPr>
              <p:spPr>
                <a:xfrm>
                  <a:off x="2509707" y="4879928"/>
                  <a:ext cx="723531" cy="276999"/>
                </a:xfrm>
                <a:prstGeom prst="rect">
                  <a:avLst/>
                </a:prstGeom>
                <a:blipFill>
                  <a:blip r:embed="rId6"/>
                  <a:stretch>
                    <a:fillRect l="-10169" t="-2222" r="-11017" b="-37778"/>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33EEB793-5116-4DFD-BB80-2428EE44987F}"/>
              </a:ext>
            </a:extLst>
          </p:cNvPr>
          <p:cNvGrpSpPr/>
          <p:nvPr/>
        </p:nvGrpSpPr>
        <p:grpSpPr>
          <a:xfrm>
            <a:off x="4046393" y="4336094"/>
            <a:ext cx="2904382" cy="979448"/>
            <a:chOff x="4046393" y="4336094"/>
            <a:chExt cx="2904382" cy="979448"/>
          </a:xfrm>
        </p:grpSpPr>
        <p:sp>
          <p:nvSpPr>
            <p:cNvPr id="46" name="Rounded Rectangle 44">
              <a:extLst>
                <a:ext uri="{FF2B5EF4-FFF2-40B4-BE49-F238E27FC236}">
                  <a16:creationId xmlns:a16="http://schemas.microsoft.com/office/drawing/2014/main" id="{3779499D-044E-4B07-AE0B-347589BBB8A8}"/>
                </a:ext>
              </a:extLst>
            </p:cNvPr>
            <p:cNvSpPr/>
            <p:nvPr/>
          </p:nvSpPr>
          <p:spPr bwMode="auto">
            <a:xfrm>
              <a:off x="4448022" y="4336094"/>
              <a:ext cx="2502753" cy="979448"/>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47" name="Right Arrow 47">
              <a:extLst>
                <a:ext uri="{FF2B5EF4-FFF2-40B4-BE49-F238E27FC236}">
                  <a16:creationId xmlns:a16="http://schemas.microsoft.com/office/drawing/2014/main" id="{F6F22FEE-09EE-464A-8306-511BDF8E597B}"/>
                </a:ext>
              </a:extLst>
            </p:cNvPr>
            <p:cNvSpPr/>
            <p:nvPr/>
          </p:nvSpPr>
          <p:spPr>
            <a:xfrm>
              <a:off x="4046393" y="4567352"/>
              <a:ext cx="560219" cy="50999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endParaRPr lang="en-US" sz="1200">
                <a:solidFill>
                  <a:prstClr val="black"/>
                </a:solidFill>
                <a:latin typeface="Intel Clear"/>
                <a:sym typeface="Helvetica Light"/>
              </a:endParaRPr>
            </a:p>
          </p:txBody>
        </p:sp>
        <p:sp>
          <p:nvSpPr>
            <p:cNvPr id="48" name="TextBox 47">
              <a:extLst>
                <a:ext uri="{FF2B5EF4-FFF2-40B4-BE49-F238E27FC236}">
                  <a16:creationId xmlns:a16="http://schemas.microsoft.com/office/drawing/2014/main" id="{39B7E8E1-3825-4FAE-9126-C5B956C204DB}"/>
                </a:ext>
              </a:extLst>
            </p:cNvPr>
            <p:cNvSpPr txBox="1"/>
            <p:nvPr/>
          </p:nvSpPr>
          <p:spPr>
            <a:xfrm>
              <a:off x="4629582" y="4469107"/>
              <a:ext cx="2139632" cy="3490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MODEL</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2E28806-589C-48D2-9E9A-603F41C623BB}"/>
                    </a:ext>
                  </a:extLst>
                </p:cNvPr>
                <p:cNvSpPr txBox="1"/>
                <p:nvPr/>
              </p:nvSpPr>
              <p:spPr>
                <a:xfrm>
                  <a:off x="5209231" y="4857559"/>
                  <a:ext cx="9803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e>
                        </m:d>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𝑦</m:t>
                        </m:r>
                      </m:oMath>
                    </m:oMathPara>
                  </a14:m>
                  <a:endParaRPr lang="en-US" dirty="0"/>
                </a:p>
              </p:txBody>
            </p:sp>
          </mc:Choice>
          <mc:Fallback xmlns="">
            <p:sp>
              <p:nvSpPr>
                <p:cNvPr id="52" name="TextBox 51">
                  <a:extLst>
                    <a:ext uri="{FF2B5EF4-FFF2-40B4-BE49-F238E27FC236}">
                      <a16:creationId xmlns:a16="http://schemas.microsoft.com/office/drawing/2014/main" id="{72E28806-589C-48D2-9E9A-603F41C623BB}"/>
                    </a:ext>
                  </a:extLst>
                </p:cNvPr>
                <p:cNvSpPr txBox="1">
                  <a:spLocks noRot="1" noChangeAspect="1" noMove="1" noResize="1" noEditPoints="1" noAdjustHandles="1" noChangeArrowheads="1" noChangeShapeType="1" noTextEdit="1"/>
                </p:cNvSpPr>
                <p:nvPr/>
              </p:nvSpPr>
              <p:spPr>
                <a:xfrm>
                  <a:off x="5209231" y="4857559"/>
                  <a:ext cx="980333" cy="276999"/>
                </a:xfrm>
                <a:prstGeom prst="rect">
                  <a:avLst/>
                </a:prstGeom>
                <a:blipFill>
                  <a:blip r:embed="rId7"/>
                  <a:stretch>
                    <a:fillRect l="-7500" r="-5000" b="-37778"/>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218D66F7-A167-48E2-A078-DEEA2C2AB650}"/>
              </a:ext>
            </a:extLst>
          </p:cNvPr>
          <p:cNvGrpSpPr/>
          <p:nvPr/>
        </p:nvGrpSpPr>
        <p:grpSpPr>
          <a:xfrm>
            <a:off x="6828278" y="4347666"/>
            <a:ext cx="2446169" cy="979448"/>
            <a:chOff x="6828278" y="4347666"/>
            <a:chExt cx="2446169" cy="979448"/>
          </a:xfrm>
        </p:grpSpPr>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29BBFE9-54F3-4161-AFCF-2A746C741F40}"/>
                    </a:ext>
                  </a:extLst>
                </p:cNvPr>
                <p:cNvSpPr txBox="1"/>
                <p:nvPr/>
              </p:nvSpPr>
              <p:spPr>
                <a:xfrm>
                  <a:off x="8030589" y="4782363"/>
                  <a:ext cx="601768" cy="276999"/>
                </a:xfrm>
                <a:prstGeom prst="rect">
                  <a:avLst/>
                </a:prstGeom>
                <a:noFill/>
              </p:spPr>
              <p:txBody>
                <a:bodyPr wrap="none" lIns="0" tIns="0" rIns="0" bIns="0" rtlCol="0">
                  <a:spAutoFit/>
                </a:bodyPr>
                <a:lstStyle/>
                <a:p>
                  <a14:m>
                    <m:oMath xmlns:m="http://schemas.openxmlformats.org/officeDocument/2006/math">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𝑦</m:t>
                          </m:r>
                        </m:e>
                        <m:sub>
                          <m:r>
                            <a:rPr lang="en-US" b="0" i="1" smtClean="0">
                              <a:solidFill>
                                <a:schemeClr val="tx1"/>
                              </a:solidFill>
                              <a:latin typeface="Cambria Math" panose="02040503050406030204" pitchFamily="18" charset="0"/>
                              <a:ea typeface="Cambria Math" panose="02040503050406030204" pitchFamily="18" charset="0"/>
                            </a:rPr>
                            <m:t>𝑛</m:t>
                          </m:r>
                          <m:r>
                            <a:rPr lang="en-US" b="0" i="1" smtClean="0">
                              <a:solidFill>
                                <a:schemeClr val="tx1"/>
                              </a:solidFill>
                              <a:latin typeface="Cambria Math" panose="02040503050406030204" pitchFamily="18" charset="0"/>
                              <a:ea typeface="Cambria Math" panose="02040503050406030204" pitchFamily="18" charset="0"/>
                            </a:rPr>
                            <m:t>+1</m:t>
                          </m:r>
                        </m:sub>
                      </m:sSub>
                    </m:oMath>
                  </a14:m>
                  <a:r>
                    <a:rPr lang="en-US" dirty="0"/>
                    <a:t>  </a:t>
                  </a:r>
                </a:p>
              </p:txBody>
            </p:sp>
          </mc:Choice>
          <mc:Fallback xmlns="">
            <p:sp>
              <p:nvSpPr>
                <p:cNvPr id="51" name="TextBox 50">
                  <a:extLst>
                    <a:ext uri="{FF2B5EF4-FFF2-40B4-BE49-F238E27FC236}">
                      <a16:creationId xmlns:a16="http://schemas.microsoft.com/office/drawing/2014/main" id="{929BBFE9-54F3-4161-AFCF-2A746C741F40}"/>
                    </a:ext>
                  </a:extLst>
                </p:cNvPr>
                <p:cNvSpPr txBox="1">
                  <a:spLocks noRot="1" noChangeAspect="1" noMove="1" noResize="1" noEditPoints="1" noAdjustHandles="1" noChangeArrowheads="1" noChangeShapeType="1" noTextEdit="1"/>
                </p:cNvSpPr>
                <p:nvPr/>
              </p:nvSpPr>
              <p:spPr>
                <a:xfrm>
                  <a:off x="8030589" y="4782363"/>
                  <a:ext cx="601768" cy="276999"/>
                </a:xfrm>
                <a:prstGeom prst="rect">
                  <a:avLst/>
                </a:prstGeom>
                <a:blipFill>
                  <a:blip r:embed="rId8"/>
                  <a:stretch>
                    <a:fillRect l="-14141" b="-28889"/>
                  </a:stretch>
                </a:blipFill>
              </p:spPr>
              <p:txBody>
                <a:bodyPr/>
                <a:lstStyle/>
                <a:p>
                  <a:r>
                    <a:rPr lang="en-US">
                      <a:noFill/>
                    </a:rPr>
                    <a:t> </a:t>
                  </a:r>
                </a:p>
              </p:txBody>
            </p:sp>
          </mc:Fallback>
        </mc:AlternateContent>
        <p:sp>
          <p:nvSpPr>
            <p:cNvPr id="54" name="Rounded Rectangle 44">
              <a:extLst>
                <a:ext uri="{FF2B5EF4-FFF2-40B4-BE49-F238E27FC236}">
                  <a16:creationId xmlns:a16="http://schemas.microsoft.com/office/drawing/2014/main" id="{6B023AE7-303E-417E-91D1-F48B98C8887C}"/>
                </a:ext>
              </a:extLst>
            </p:cNvPr>
            <p:cNvSpPr/>
            <p:nvPr/>
          </p:nvSpPr>
          <p:spPr bwMode="auto">
            <a:xfrm>
              <a:off x="7293310" y="4347666"/>
              <a:ext cx="1981137" cy="979448"/>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55" name="Rectangle 54">
              <a:extLst>
                <a:ext uri="{FF2B5EF4-FFF2-40B4-BE49-F238E27FC236}">
                  <a16:creationId xmlns:a16="http://schemas.microsoft.com/office/drawing/2014/main" id="{5E19EC18-14E1-411D-8D8C-7EA26EA3D589}"/>
                </a:ext>
              </a:extLst>
            </p:cNvPr>
            <p:cNvSpPr/>
            <p:nvPr/>
          </p:nvSpPr>
          <p:spPr>
            <a:xfrm>
              <a:off x="7608499" y="4422628"/>
              <a:ext cx="1362424" cy="369332"/>
            </a:xfrm>
            <a:prstGeom prst="rect">
              <a:avLst/>
            </a:prstGeom>
          </p:spPr>
          <p:txBody>
            <a:bodyPr wrap="none">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PREDICTION</a:t>
              </a:r>
              <a:endParaRPr lang="en-US" dirty="0">
                <a:solidFill>
                  <a:schemeClr val="bg2">
                    <a:lumMod val="50000"/>
                  </a:schemeClr>
                </a:solidFill>
                <a:latin typeface="Calibri" panose="020F0502020204030204" pitchFamily="34" charset="0"/>
                <a:ea typeface="+mj-ea"/>
                <a:cs typeface="Calibri" panose="020F0502020204030204" pitchFamily="34" charset="0"/>
              </a:endParaRPr>
            </a:p>
          </p:txBody>
        </p:sp>
        <p:sp>
          <p:nvSpPr>
            <p:cNvPr id="53" name="Right Arrow 48">
              <a:extLst>
                <a:ext uri="{FF2B5EF4-FFF2-40B4-BE49-F238E27FC236}">
                  <a16:creationId xmlns:a16="http://schemas.microsoft.com/office/drawing/2014/main" id="{00E64D04-E000-4D0F-BC51-C047F7BA73F1}"/>
                </a:ext>
              </a:extLst>
            </p:cNvPr>
            <p:cNvSpPr/>
            <p:nvPr/>
          </p:nvSpPr>
          <p:spPr>
            <a:xfrm>
              <a:off x="6828278" y="4599272"/>
              <a:ext cx="560219" cy="50999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endParaRPr lang="en-US" sz="1200">
                <a:solidFill>
                  <a:prstClr val="black"/>
                </a:solidFill>
                <a:latin typeface="Intel Clear"/>
                <a:sym typeface="Helvetica Light"/>
              </a:endParaRPr>
            </a:p>
          </p:txBody>
        </p:sp>
      </p:grpSp>
      <p:grpSp>
        <p:nvGrpSpPr>
          <p:cNvPr id="11" name="Group 10">
            <a:extLst>
              <a:ext uri="{FF2B5EF4-FFF2-40B4-BE49-F238E27FC236}">
                <a16:creationId xmlns:a16="http://schemas.microsoft.com/office/drawing/2014/main" id="{C92B28E9-C3F8-4D47-9673-9AA93F274F2A}"/>
              </a:ext>
            </a:extLst>
          </p:cNvPr>
          <p:cNvGrpSpPr/>
          <p:nvPr/>
        </p:nvGrpSpPr>
        <p:grpSpPr>
          <a:xfrm>
            <a:off x="6828279" y="1628800"/>
            <a:ext cx="2593118" cy="2253269"/>
            <a:chOff x="6828279" y="1628800"/>
            <a:chExt cx="2593118" cy="2253269"/>
          </a:xfrm>
        </p:grpSpPr>
        <p:sp>
          <p:nvSpPr>
            <p:cNvPr id="35" name="Right Arrow 48">
              <a:extLst>
                <a:ext uri="{FF2B5EF4-FFF2-40B4-BE49-F238E27FC236}">
                  <a16:creationId xmlns:a16="http://schemas.microsoft.com/office/drawing/2014/main" id="{4A5A6A32-E969-41BC-A70A-2C9E9E2EB634}"/>
                </a:ext>
              </a:extLst>
            </p:cNvPr>
            <p:cNvSpPr/>
            <p:nvPr/>
          </p:nvSpPr>
          <p:spPr>
            <a:xfrm>
              <a:off x="6828279" y="2594471"/>
              <a:ext cx="560219" cy="50999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endParaRPr lang="en-US" sz="1200">
                <a:solidFill>
                  <a:prstClr val="black"/>
                </a:solidFill>
                <a:latin typeface="Intel Clear"/>
                <a:sym typeface="Helvetica Light"/>
              </a:endParaRPr>
            </a:p>
          </p:txBody>
        </p:sp>
        <p:sp>
          <p:nvSpPr>
            <p:cNvPr id="19" name="Rounded Rectangle 20">
              <a:extLst>
                <a:ext uri="{FF2B5EF4-FFF2-40B4-BE49-F238E27FC236}">
                  <a16:creationId xmlns:a16="http://schemas.microsoft.com/office/drawing/2014/main" id="{E348BE4D-9FCC-4F90-93E6-50A152A5CBAC}"/>
                </a:ext>
              </a:extLst>
            </p:cNvPr>
            <p:cNvSpPr/>
            <p:nvPr/>
          </p:nvSpPr>
          <p:spPr bwMode="auto">
            <a:xfrm>
              <a:off x="7293310" y="1628800"/>
              <a:ext cx="1981137" cy="2253269"/>
            </a:xfrm>
            <a:prstGeom prst="roundRect">
              <a:avLst>
                <a:gd name="adj" fmla="val 4479"/>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24" name="Rectangle 23">
              <a:extLst>
                <a:ext uri="{FF2B5EF4-FFF2-40B4-BE49-F238E27FC236}">
                  <a16:creationId xmlns:a16="http://schemas.microsoft.com/office/drawing/2014/main" id="{1EE87333-E418-4876-86BC-1AEF9F778A4B}"/>
                </a:ext>
              </a:extLst>
            </p:cNvPr>
            <p:cNvSpPr/>
            <p:nvPr/>
          </p:nvSpPr>
          <p:spPr>
            <a:xfrm>
              <a:off x="7650261" y="1792779"/>
              <a:ext cx="1362424" cy="369332"/>
            </a:xfrm>
            <a:prstGeom prst="rect">
              <a:avLst/>
            </a:prstGeom>
          </p:spPr>
          <p:txBody>
            <a:bodyPr wrap="none">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PREDICTION</a:t>
              </a:r>
              <a:endParaRPr lang="en-US" dirty="0">
                <a:solidFill>
                  <a:schemeClr val="bg2">
                    <a:lumMod val="50000"/>
                  </a:schemeClr>
                </a:solidFill>
                <a:latin typeface="Calibri" panose="020F0502020204030204" pitchFamily="34" charset="0"/>
                <a:ea typeface="+mj-ea"/>
                <a:cs typeface="Calibri" panose="020F0502020204030204" pitchFamily="34" charset="0"/>
              </a:endParaRPr>
            </a:p>
          </p:txBody>
        </p:sp>
        <p:sp>
          <p:nvSpPr>
            <p:cNvPr id="43" name="TextBox 42">
              <a:extLst>
                <a:ext uri="{FF2B5EF4-FFF2-40B4-BE49-F238E27FC236}">
                  <a16:creationId xmlns:a16="http://schemas.microsoft.com/office/drawing/2014/main" id="{B87E5D4C-5A16-42E9-86C5-C80993451487}"/>
                </a:ext>
              </a:extLst>
            </p:cNvPr>
            <p:cNvSpPr txBox="1"/>
            <p:nvPr/>
          </p:nvSpPr>
          <p:spPr>
            <a:xfrm>
              <a:off x="7241549" y="2182562"/>
              <a:ext cx="2179848" cy="1096784"/>
            </a:xfrm>
            <a:prstGeom prst="rect">
              <a:avLst/>
            </a:prstGeom>
            <a:noFill/>
          </p:spPr>
          <p:txBody>
            <a:bodyPr vert="horz" wrap="square" lIns="0" tIns="0" rIns="0" bIns="0" rtlCol="0">
              <a:noAutofit/>
            </a:bodyPr>
            <a:lstStyle/>
            <a:p>
              <a:pPr algn="ctr" defTabSz="812028">
                <a:lnSpc>
                  <a:spcPct val="80000"/>
                </a:lnSpc>
              </a:pPr>
              <a:r>
                <a:rPr lang="en-US" sz="3600" dirty="0">
                  <a:solidFill>
                    <a:schemeClr val="bg2">
                      <a:lumMod val="50000"/>
                    </a:schemeClr>
                  </a:solidFill>
                  <a:latin typeface="Calibri" panose="020F0502020204030204" pitchFamily="34" charset="0"/>
                  <a:ea typeface="+mj-ea"/>
                  <a:cs typeface="Calibri" panose="020F0502020204030204" pitchFamily="34" charset="0"/>
                </a:rPr>
                <a:t>Accuracy</a:t>
              </a:r>
            </a:p>
            <a:p>
              <a:pPr algn="ctr" defTabSz="812028">
                <a:lnSpc>
                  <a:spcPct val="80000"/>
                </a:lnSpc>
              </a:pPr>
              <a:endParaRPr lang="en-US" sz="3600" dirty="0">
                <a:solidFill>
                  <a:schemeClr val="bg2">
                    <a:lumMod val="50000"/>
                  </a:schemeClr>
                </a:solidFill>
                <a:latin typeface="Calibri" panose="020F0502020204030204" pitchFamily="34" charset="0"/>
                <a:ea typeface="+mj-ea"/>
                <a:cs typeface="Calibri" panose="020F0502020204030204" pitchFamily="34" charset="0"/>
              </a:endParaRPr>
            </a:p>
          </p:txBody>
        </p:sp>
      </p:grpSp>
      <p:sp>
        <p:nvSpPr>
          <p:cNvPr id="30" name="Rectangle 29">
            <a:extLst>
              <a:ext uri="{FF2B5EF4-FFF2-40B4-BE49-F238E27FC236}">
                <a16:creationId xmlns:a16="http://schemas.microsoft.com/office/drawing/2014/main" id="{24DDE76F-1910-4E19-A5FA-F7DC4E7A735B}"/>
              </a:ext>
            </a:extLst>
          </p:cNvPr>
          <p:cNvSpPr/>
          <p:nvPr/>
        </p:nvSpPr>
        <p:spPr>
          <a:xfrm>
            <a:off x="10714657" y="3530623"/>
            <a:ext cx="556025" cy="301784"/>
          </a:xfrm>
          <a:prstGeom prst="rect">
            <a:avLst/>
          </a:prstGeom>
        </p:spPr>
        <p:txBody>
          <a:bodyPr wrap="none">
            <a:spAutoFit/>
          </a:bodyPr>
          <a:lstStyle/>
          <a:p>
            <a:pPr algn="ctr" defTabSz="812028">
              <a:lnSpc>
                <a:spcPct val="80000"/>
              </a:lnSpc>
            </a:pPr>
            <a:r>
              <a:rPr lang="en-US" sz="2400" dirty="0">
                <a:solidFill>
                  <a:schemeClr val="bg1"/>
                </a:solidFill>
                <a:latin typeface="Calibri" panose="020F0502020204030204" pitchFamily="34" charset="0"/>
                <a:cs typeface="Calibri" panose="020F0502020204030204" pitchFamily="34" charset="0"/>
              </a:rPr>
              <a:t>98%</a:t>
            </a:r>
            <a:endParaRPr lang="en-US" sz="1000" dirty="0">
              <a:solidFill>
                <a:schemeClr val="bg1"/>
              </a:solidFill>
              <a:latin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99A9BB57-ECBB-43F0-89CA-08CA3BC6AD72}"/>
              </a:ext>
            </a:extLst>
          </p:cNvPr>
          <p:cNvGrpSpPr/>
          <p:nvPr/>
        </p:nvGrpSpPr>
        <p:grpSpPr>
          <a:xfrm>
            <a:off x="7864050" y="2698992"/>
            <a:ext cx="839656" cy="810937"/>
            <a:chOff x="9685792" y="5524892"/>
            <a:chExt cx="839656" cy="810937"/>
          </a:xfrm>
        </p:grpSpPr>
        <p:sp>
          <p:nvSpPr>
            <p:cNvPr id="36" name="Flowchart: Connector 35">
              <a:extLst>
                <a:ext uri="{FF2B5EF4-FFF2-40B4-BE49-F238E27FC236}">
                  <a16:creationId xmlns:a16="http://schemas.microsoft.com/office/drawing/2014/main" id="{5DCBC8DF-5BCF-47BA-8BEA-E9336AB083FC}"/>
                </a:ext>
              </a:extLst>
            </p:cNvPr>
            <p:cNvSpPr/>
            <p:nvPr/>
          </p:nvSpPr>
          <p:spPr>
            <a:xfrm>
              <a:off x="9685792" y="5524892"/>
              <a:ext cx="839656" cy="810937"/>
            </a:xfrm>
            <a:prstGeom prst="flowChartConnector">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BA5050A-6336-4402-9896-E1F169454AF1}"/>
                </a:ext>
              </a:extLst>
            </p:cNvPr>
            <p:cNvSpPr/>
            <p:nvPr/>
          </p:nvSpPr>
          <p:spPr>
            <a:xfrm>
              <a:off x="9848446" y="5776169"/>
              <a:ext cx="556025" cy="301784"/>
            </a:xfrm>
            <a:prstGeom prst="rect">
              <a:avLst/>
            </a:prstGeom>
          </p:spPr>
          <p:txBody>
            <a:bodyPr wrap="none">
              <a:spAutoFit/>
            </a:bodyPr>
            <a:lstStyle/>
            <a:p>
              <a:pPr algn="ctr" defTabSz="812028">
                <a:lnSpc>
                  <a:spcPct val="80000"/>
                </a:lnSpc>
              </a:pPr>
              <a:r>
                <a:rPr lang="en-US" sz="2400" dirty="0">
                  <a:solidFill>
                    <a:schemeClr val="bg1"/>
                  </a:solidFill>
                  <a:latin typeface="Calibri" panose="020F0502020204030204" pitchFamily="34" charset="0"/>
                  <a:cs typeface="Calibri" panose="020F0502020204030204" pitchFamily="34" charset="0"/>
                </a:rPr>
                <a:t>98%</a:t>
              </a:r>
              <a:endParaRPr lang="en-US" sz="1000" dirty="0">
                <a:solidFill>
                  <a:schemeClr val="bg1"/>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68065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A38DCC-2CC6-41ED-AC6E-B13B1D19780A}"/>
              </a:ext>
            </a:extLst>
          </p:cNvPr>
          <p:cNvSpPr>
            <a:spLocks noGrp="1"/>
          </p:cNvSpPr>
          <p:nvPr>
            <p:ph type="sldNum" sz="quarter" idx="4"/>
          </p:nvPr>
        </p:nvSpPr>
        <p:spPr/>
        <p:txBody>
          <a:bodyPr/>
          <a:lstStyle/>
          <a:p>
            <a:fld id="{D57F1E4F-1CFF-5643-939E-217C01CDF565}" type="slidenum">
              <a:rPr lang="en-US" smtClean="0"/>
              <a:pPr/>
              <a:t>5</a:t>
            </a:fld>
            <a:endParaRPr lang="en-US" dirty="0"/>
          </a:p>
        </p:txBody>
      </p:sp>
      <p:grpSp>
        <p:nvGrpSpPr>
          <p:cNvPr id="8" name="Group 7">
            <a:extLst>
              <a:ext uri="{FF2B5EF4-FFF2-40B4-BE49-F238E27FC236}">
                <a16:creationId xmlns:a16="http://schemas.microsoft.com/office/drawing/2014/main" id="{A6A749EA-146B-4AF4-8E96-1D6467520629}"/>
              </a:ext>
            </a:extLst>
          </p:cNvPr>
          <p:cNvGrpSpPr/>
          <p:nvPr/>
        </p:nvGrpSpPr>
        <p:grpSpPr>
          <a:xfrm>
            <a:off x="4994648" y="2619240"/>
            <a:ext cx="2202703" cy="1619519"/>
            <a:chOff x="3917809" y="2090155"/>
            <a:chExt cx="2202703" cy="1619519"/>
          </a:xfrm>
        </p:grpSpPr>
        <p:sp>
          <p:nvSpPr>
            <p:cNvPr id="18" name="Rectangle 17">
              <a:extLst>
                <a:ext uri="{FF2B5EF4-FFF2-40B4-BE49-F238E27FC236}">
                  <a16:creationId xmlns:a16="http://schemas.microsoft.com/office/drawing/2014/main" id="{8A2850C6-E8FE-41C9-B355-848794C61F6D}"/>
                </a:ext>
              </a:extLst>
            </p:cNvPr>
            <p:cNvSpPr/>
            <p:nvPr/>
          </p:nvSpPr>
          <p:spPr>
            <a:xfrm>
              <a:off x="3917809" y="2740072"/>
              <a:ext cx="2190710" cy="457200"/>
            </a:xfrm>
            <a:prstGeom prst="rect">
              <a:avLst/>
            </a:prstGeom>
            <a:noFill/>
            <a:ln w="6350">
              <a:noFill/>
            </a:ln>
            <a:effectLst/>
          </p:spPr>
          <p:txBody>
            <a:bodyPr wrap="square" lIns="0" tIns="91440" rIns="0" bIns="91440" rtlCol="0" anchor="t">
              <a:noAutofit/>
            </a:bodyPr>
            <a:lstStyle/>
            <a:p>
              <a:pPr algn="ctr" fontAlgn="auto">
                <a:lnSpc>
                  <a:spcPct val="90000"/>
                </a:lnSpc>
                <a:spcBef>
                  <a:spcPts val="481"/>
                </a:spcBef>
                <a:spcAft>
                  <a:spcPts val="0"/>
                </a:spcAft>
                <a:defRPr/>
              </a:pPr>
              <a:r>
                <a:rPr lang="en-US" sz="2800" dirty="0">
                  <a:solidFill>
                    <a:srgbClr val="99CC00"/>
                  </a:solidFill>
                  <a:latin typeface="Calibri" panose="020F0502020204030204" pitchFamily="34" charset="0"/>
                  <a:cs typeface="Calibri" panose="020F0502020204030204" pitchFamily="34" charset="0"/>
                </a:rPr>
                <a:t>Quantifying Uncertainty</a:t>
              </a:r>
            </a:p>
          </p:txBody>
        </p:sp>
        <p:cxnSp>
          <p:nvCxnSpPr>
            <p:cNvPr id="20" name="Straight Connector 19">
              <a:extLst>
                <a:ext uri="{FF2B5EF4-FFF2-40B4-BE49-F238E27FC236}">
                  <a16:creationId xmlns:a16="http://schemas.microsoft.com/office/drawing/2014/main" id="{5F5DFCDC-022D-49F5-B95E-A3225320236D}"/>
                </a:ext>
              </a:extLst>
            </p:cNvPr>
            <p:cNvCxnSpPr/>
            <p:nvPr/>
          </p:nvCxnSpPr>
          <p:spPr>
            <a:xfrm>
              <a:off x="4017392" y="3709674"/>
              <a:ext cx="2103120" cy="0"/>
            </a:xfrm>
            <a:prstGeom prst="line">
              <a:avLst/>
            </a:prstGeom>
            <a:ln w="19050" cap="sq">
              <a:solidFill>
                <a:srgbClr val="99CC00"/>
              </a:solidFill>
              <a:miter lim="800000"/>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92EBA08F-0419-4904-B8CB-32F6C6BAF188}"/>
                </a:ext>
              </a:extLst>
            </p:cNvPr>
            <p:cNvGrpSpPr/>
            <p:nvPr/>
          </p:nvGrpSpPr>
          <p:grpSpPr>
            <a:xfrm>
              <a:off x="4610153" y="2090155"/>
              <a:ext cx="849821" cy="1004545"/>
              <a:chOff x="4436130" y="1965153"/>
              <a:chExt cx="849821" cy="1004545"/>
            </a:xfrm>
          </p:grpSpPr>
          <p:sp>
            <p:nvSpPr>
              <p:cNvPr id="22" name="Arc 21">
                <a:extLst>
                  <a:ext uri="{FF2B5EF4-FFF2-40B4-BE49-F238E27FC236}">
                    <a16:creationId xmlns:a16="http://schemas.microsoft.com/office/drawing/2014/main" id="{1D540E2D-B9FE-41CE-8F19-2A81078C33C0}"/>
                  </a:ext>
                </a:extLst>
              </p:cNvPr>
              <p:cNvSpPr/>
              <p:nvPr/>
            </p:nvSpPr>
            <p:spPr>
              <a:xfrm>
                <a:off x="4521135" y="2056159"/>
                <a:ext cx="667963" cy="789577"/>
              </a:xfrm>
              <a:prstGeom prst="arc">
                <a:avLst>
                  <a:gd name="adj1" fmla="val 10924359"/>
                  <a:gd name="adj2" fmla="val 0"/>
                </a:avLst>
              </a:prstGeom>
              <a:ln w="6350" cmpd="sng">
                <a:solidFill>
                  <a:srgbClr val="99CC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EB0E3894-08F6-4389-963C-B7013378A993}"/>
                  </a:ext>
                </a:extLst>
              </p:cNvPr>
              <p:cNvSpPr/>
              <p:nvPr/>
            </p:nvSpPr>
            <p:spPr>
              <a:xfrm>
                <a:off x="4436130" y="1965153"/>
                <a:ext cx="849821" cy="1004545"/>
              </a:xfrm>
              <a:prstGeom prst="arc">
                <a:avLst>
                  <a:gd name="adj1" fmla="val 10924359"/>
                  <a:gd name="adj2" fmla="val 0"/>
                </a:avLst>
              </a:prstGeom>
              <a:ln w="6350" cmpd="sng">
                <a:solidFill>
                  <a:srgbClr val="99CC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Flowchart: Terminator 23">
                <a:extLst>
                  <a:ext uri="{FF2B5EF4-FFF2-40B4-BE49-F238E27FC236}">
                    <a16:creationId xmlns:a16="http://schemas.microsoft.com/office/drawing/2014/main" id="{76AF2719-FF01-406A-92A7-011008001B63}"/>
                  </a:ext>
                </a:extLst>
              </p:cNvPr>
              <p:cNvSpPr/>
              <p:nvPr/>
            </p:nvSpPr>
            <p:spPr>
              <a:xfrm rot="2640000">
                <a:off x="4597465" y="2264176"/>
                <a:ext cx="117630" cy="45719"/>
              </a:xfrm>
              <a:prstGeom prst="flowChartTerminator">
                <a:avLst/>
              </a:prstGeom>
              <a:solidFill>
                <a:schemeClr val="bg1"/>
              </a:solid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25" name="Flowchart: Terminator 24">
                <a:extLst>
                  <a:ext uri="{FF2B5EF4-FFF2-40B4-BE49-F238E27FC236}">
                    <a16:creationId xmlns:a16="http://schemas.microsoft.com/office/drawing/2014/main" id="{2266DB26-339A-4371-A584-E5A319575BD8}"/>
                  </a:ext>
                </a:extLst>
              </p:cNvPr>
              <p:cNvSpPr/>
              <p:nvPr/>
            </p:nvSpPr>
            <p:spPr>
              <a:xfrm rot="3720000">
                <a:off x="4683212" y="2166543"/>
                <a:ext cx="117630" cy="45719"/>
              </a:xfrm>
              <a:prstGeom prst="flowChartTerminator">
                <a:avLst/>
              </a:prstGeom>
              <a:solidFill>
                <a:schemeClr val="bg1"/>
              </a:solid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26" name="Flowchart: Terminator 25">
                <a:extLst>
                  <a:ext uri="{FF2B5EF4-FFF2-40B4-BE49-F238E27FC236}">
                    <a16:creationId xmlns:a16="http://schemas.microsoft.com/office/drawing/2014/main" id="{0CCEE909-215E-4DAB-99C0-FCF2426D0C12}"/>
                  </a:ext>
                </a:extLst>
              </p:cNvPr>
              <p:cNvSpPr/>
              <p:nvPr/>
            </p:nvSpPr>
            <p:spPr>
              <a:xfrm rot="5400000">
                <a:off x="4803186" y="2121128"/>
                <a:ext cx="117630" cy="45719"/>
              </a:xfrm>
              <a:prstGeom prst="flowChartTerminator">
                <a:avLst/>
              </a:prstGeom>
              <a:solidFill>
                <a:schemeClr val="bg1"/>
              </a:solid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27" name="Flowchart: Terminator 26">
                <a:extLst>
                  <a:ext uri="{FF2B5EF4-FFF2-40B4-BE49-F238E27FC236}">
                    <a16:creationId xmlns:a16="http://schemas.microsoft.com/office/drawing/2014/main" id="{8A067C1B-AC8C-4554-A6FD-86DE83A0E6BC}"/>
                  </a:ext>
                </a:extLst>
              </p:cNvPr>
              <p:cNvSpPr/>
              <p:nvPr/>
            </p:nvSpPr>
            <p:spPr>
              <a:xfrm rot="18960000">
                <a:off x="5011584" y="2264178"/>
                <a:ext cx="117630" cy="45719"/>
              </a:xfrm>
              <a:prstGeom prst="flowChartTerminator">
                <a:avLst/>
              </a:prstGeom>
              <a:solidFill>
                <a:schemeClr val="bg1"/>
              </a:solid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grpSp>
            <p:nvGrpSpPr>
              <p:cNvPr id="28" name="Group 27">
                <a:extLst>
                  <a:ext uri="{FF2B5EF4-FFF2-40B4-BE49-F238E27FC236}">
                    <a16:creationId xmlns:a16="http://schemas.microsoft.com/office/drawing/2014/main" id="{F47F217C-C3EB-4D44-84F0-F6165C73194F}"/>
                  </a:ext>
                </a:extLst>
              </p:cNvPr>
              <p:cNvGrpSpPr/>
              <p:nvPr/>
            </p:nvGrpSpPr>
            <p:grpSpPr>
              <a:xfrm rot="21240000">
                <a:off x="4755787" y="2090549"/>
                <a:ext cx="517737" cy="348843"/>
                <a:chOff x="3765722" y="2589671"/>
                <a:chExt cx="517737" cy="348843"/>
              </a:xfrm>
              <a:solidFill>
                <a:schemeClr val="bg1"/>
              </a:solidFill>
            </p:grpSpPr>
            <p:sp>
              <p:nvSpPr>
                <p:cNvPr id="29" name="Chord 28">
                  <a:extLst>
                    <a:ext uri="{FF2B5EF4-FFF2-40B4-BE49-F238E27FC236}">
                      <a16:creationId xmlns:a16="http://schemas.microsoft.com/office/drawing/2014/main" id="{DA678556-DAE6-4BF1-B8B4-5FB502B6D0B0}"/>
                    </a:ext>
                  </a:extLst>
                </p:cNvPr>
                <p:cNvSpPr/>
                <p:nvPr/>
              </p:nvSpPr>
              <p:spPr>
                <a:xfrm rot="20160000">
                  <a:off x="3765722" y="2767326"/>
                  <a:ext cx="171188" cy="171188"/>
                </a:xfrm>
                <a:prstGeom prst="chord">
                  <a:avLst/>
                </a:prstGeom>
                <a:grp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30" name="Isosceles Triangle 29">
                  <a:extLst>
                    <a:ext uri="{FF2B5EF4-FFF2-40B4-BE49-F238E27FC236}">
                      <a16:creationId xmlns:a16="http://schemas.microsoft.com/office/drawing/2014/main" id="{E742766F-00BD-438C-8C67-63FAB9955298}"/>
                    </a:ext>
                  </a:extLst>
                </p:cNvPr>
                <p:cNvSpPr/>
                <p:nvPr/>
              </p:nvSpPr>
              <p:spPr>
                <a:xfrm rot="2820000">
                  <a:off x="3953255" y="2433631"/>
                  <a:ext cx="174163" cy="486244"/>
                </a:xfrm>
                <a:prstGeom prst="triangle">
                  <a:avLst/>
                </a:prstGeom>
                <a:grpFill/>
                <a:ln w="12700" cmpd="sng">
                  <a:solidFill>
                    <a:srgbClr val="99CC00"/>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grpSp>
        </p:grpSp>
      </p:grpSp>
    </p:spTree>
    <p:extLst>
      <p:ext uri="{BB962C8B-B14F-4D97-AF65-F5344CB8AC3E}">
        <p14:creationId xmlns:p14="http://schemas.microsoft.com/office/powerpoint/2010/main" val="1673470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A1CE45-B613-488C-BAA8-46BD71057507}"/>
              </a:ext>
            </a:extLst>
          </p:cNvPr>
          <p:cNvSpPr>
            <a:spLocks noGrp="1"/>
          </p:cNvSpPr>
          <p:nvPr>
            <p:ph type="sldNum" sz="quarter" idx="4"/>
          </p:nvPr>
        </p:nvSpPr>
        <p:spPr/>
        <p:txBody>
          <a:bodyPr/>
          <a:lstStyle/>
          <a:p>
            <a:fld id="{D57F1E4F-1CFF-5643-939E-217C01CDF565}" type="slidenum">
              <a:rPr lang="en-US" smtClean="0"/>
              <a:pPr/>
              <a:t>6</a:t>
            </a:fld>
            <a:endParaRPr lang="en-US" dirty="0"/>
          </a:p>
        </p:txBody>
      </p:sp>
      <p:sp>
        <p:nvSpPr>
          <p:cNvPr id="4" name="Title 3">
            <a:extLst>
              <a:ext uri="{FF2B5EF4-FFF2-40B4-BE49-F238E27FC236}">
                <a16:creationId xmlns:a16="http://schemas.microsoft.com/office/drawing/2014/main" id="{542C3E66-5CBA-47AB-9FAD-7E447E070438}"/>
              </a:ext>
            </a:extLst>
          </p:cNvPr>
          <p:cNvSpPr>
            <a:spLocks noGrp="1"/>
          </p:cNvSpPr>
          <p:nvPr>
            <p:ph type="title"/>
          </p:nvPr>
        </p:nvSpPr>
        <p:spPr/>
        <p:txBody>
          <a:bodyPr/>
          <a:lstStyle/>
          <a:p>
            <a:r>
              <a:rPr lang="en-US" dirty="0"/>
              <a:t>Uncertainty Sources</a:t>
            </a:r>
          </a:p>
        </p:txBody>
      </p:sp>
      <p:sp>
        <p:nvSpPr>
          <p:cNvPr id="33" name="Rectangle 32">
            <a:extLst>
              <a:ext uri="{FF2B5EF4-FFF2-40B4-BE49-F238E27FC236}">
                <a16:creationId xmlns:a16="http://schemas.microsoft.com/office/drawing/2014/main" id="{F95FC47A-91B2-439B-9364-ED261B285439}"/>
              </a:ext>
            </a:extLst>
          </p:cNvPr>
          <p:cNvSpPr/>
          <p:nvPr/>
        </p:nvSpPr>
        <p:spPr>
          <a:xfrm>
            <a:off x="977815" y="4372113"/>
            <a:ext cx="4686137" cy="737648"/>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DF60B19D-19F7-43C6-BF9F-E0D43DDE46FC}"/>
              </a:ext>
            </a:extLst>
          </p:cNvPr>
          <p:cNvSpPr txBox="1"/>
          <p:nvPr/>
        </p:nvSpPr>
        <p:spPr>
          <a:xfrm>
            <a:off x="1958614" y="4529909"/>
            <a:ext cx="2724538" cy="369332"/>
          </a:xfrm>
          <a:prstGeom prst="rect">
            <a:avLst/>
          </a:prstGeom>
          <a:noFill/>
        </p:spPr>
        <p:txBody>
          <a:bodyPr wrap="square" rtlCol="0">
            <a:spAutoFit/>
          </a:bodyPr>
          <a:lstStyle/>
          <a:p>
            <a:pPr algn="ctr"/>
            <a:r>
              <a:rPr lang="en-US" dirty="0">
                <a:solidFill>
                  <a:schemeClr val="bg1"/>
                </a:solidFill>
                <a:latin typeface="Calibri" panose="020F0502020204030204" pitchFamily="34" charset="0"/>
                <a:cs typeface="Calibri" panose="020F0502020204030204" pitchFamily="34" charset="0"/>
              </a:rPr>
              <a:t>Prediction Uncertainty</a:t>
            </a:r>
          </a:p>
        </p:txBody>
      </p:sp>
      <p:grpSp>
        <p:nvGrpSpPr>
          <p:cNvPr id="6" name="Group 5">
            <a:extLst>
              <a:ext uri="{FF2B5EF4-FFF2-40B4-BE49-F238E27FC236}">
                <a16:creationId xmlns:a16="http://schemas.microsoft.com/office/drawing/2014/main" id="{4095CE3A-CFD0-4D9D-8297-8F2FBFDACE2F}"/>
              </a:ext>
            </a:extLst>
          </p:cNvPr>
          <p:cNvGrpSpPr/>
          <p:nvPr/>
        </p:nvGrpSpPr>
        <p:grpSpPr>
          <a:xfrm>
            <a:off x="761791" y="1637820"/>
            <a:ext cx="2592288" cy="2583561"/>
            <a:chOff x="761791" y="1637820"/>
            <a:chExt cx="2592288" cy="2583561"/>
          </a:xfrm>
        </p:grpSpPr>
        <p:sp>
          <p:nvSpPr>
            <p:cNvPr id="5" name="Rectangle 4">
              <a:extLst>
                <a:ext uri="{FF2B5EF4-FFF2-40B4-BE49-F238E27FC236}">
                  <a16:creationId xmlns:a16="http://schemas.microsoft.com/office/drawing/2014/main" id="{35759D59-C6A4-4E88-A6DF-E3CEC94CACCF}"/>
                </a:ext>
              </a:extLst>
            </p:cNvPr>
            <p:cNvSpPr/>
            <p:nvPr/>
          </p:nvSpPr>
          <p:spPr>
            <a:xfrm>
              <a:off x="977816" y="2133149"/>
              <a:ext cx="2160240" cy="2088232"/>
            </a:xfrm>
            <a:prstGeom prst="rect">
              <a:avLst/>
            </a:prstGeom>
            <a:solidFill>
              <a:srgbClr val="0070C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0FBAC19-1488-4448-993A-DE7F1757907B}"/>
                </a:ext>
              </a:extLst>
            </p:cNvPr>
            <p:cNvSpPr/>
            <p:nvPr/>
          </p:nvSpPr>
          <p:spPr>
            <a:xfrm>
              <a:off x="977815" y="1637820"/>
              <a:ext cx="2160240" cy="375263"/>
            </a:xfrm>
            <a:prstGeom prst="rect">
              <a:avLst/>
            </a:prstGeom>
            <a:solidFill>
              <a:srgbClr val="0070C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E00C3CE-6502-43D0-A6E9-F0C7398F862F}"/>
                </a:ext>
              </a:extLst>
            </p:cNvPr>
            <p:cNvSpPr txBox="1"/>
            <p:nvPr/>
          </p:nvSpPr>
          <p:spPr>
            <a:xfrm>
              <a:off x="1301851" y="1637820"/>
              <a:ext cx="1512168" cy="369332"/>
            </a:xfrm>
            <a:prstGeom prst="rect">
              <a:avLst/>
            </a:prstGeom>
            <a:noFill/>
          </p:spPr>
          <p:txBody>
            <a:bodyPr wrap="square" rtlCol="0">
              <a:spAutoFit/>
            </a:bodyPr>
            <a:lstStyle/>
            <a:p>
              <a:pPr algn="ctr"/>
              <a:r>
                <a:rPr lang="en-US" b="1" dirty="0">
                  <a:solidFill>
                    <a:schemeClr val="bg1"/>
                  </a:solidFill>
                  <a:latin typeface="Calibri" panose="020F0502020204030204" pitchFamily="34" charset="0"/>
                  <a:cs typeface="Calibri" panose="020F0502020204030204" pitchFamily="34" charset="0"/>
                </a:rPr>
                <a:t>Data</a:t>
              </a:r>
            </a:p>
          </p:txBody>
        </p:sp>
        <p:sp>
          <p:nvSpPr>
            <p:cNvPr id="50" name="TextBox 49">
              <a:extLst>
                <a:ext uri="{FF2B5EF4-FFF2-40B4-BE49-F238E27FC236}">
                  <a16:creationId xmlns:a16="http://schemas.microsoft.com/office/drawing/2014/main" id="{205944A8-8BEF-467E-B54C-DBEC22E0EF69}"/>
                </a:ext>
              </a:extLst>
            </p:cNvPr>
            <p:cNvSpPr txBox="1"/>
            <p:nvPr/>
          </p:nvSpPr>
          <p:spPr>
            <a:xfrm>
              <a:off x="761791" y="2358181"/>
              <a:ext cx="2592288" cy="1754326"/>
            </a:xfrm>
            <a:prstGeom prst="rect">
              <a:avLst/>
            </a:prstGeom>
            <a:noFill/>
          </p:spPr>
          <p:txBody>
            <a:bodyPr wrap="square" rtlCol="0">
              <a:spAutoFit/>
            </a:bodyPr>
            <a:lstStyle/>
            <a:p>
              <a:pPr algn="ctr"/>
              <a:r>
                <a:rPr lang="en-US" i="1" dirty="0">
                  <a:solidFill>
                    <a:schemeClr val="bg1"/>
                  </a:solidFill>
                  <a:latin typeface="Calibri" panose="020F0502020204030204" pitchFamily="34" charset="0"/>
                  <a:cs typeface="Calibri" panose="020F0502020204030204" pitchFamily="34" charset="0"/>
                </a:rPr>
                <a:t>Impacts accuracy</a:t>
              </a:r>
            </a:p>
            <a:p>
              <a:pPr algn="ctr"/>
              <a:endParaRPr lang="en-US" dirty="0">
                <a:solidFill>
                  <a:schemeClr val="bg1"/>
                </a:solidFill>
                <a:latin typeface="Calibri" panose="020F0502020204030204" pitchFamily="34" charset="0"/>
                <a:cs typeface="Calibri" panose="020F0502020204030204" pitchFamily="34" charset="0"/>
              </a:endParaRPr>
            </a:p>
            <a:p>
              <a:pPr algn="ctr"/>
              <a:r>
                <a:rPr lang="en-US" dirty="0">
                  <a:solidFill>
                    <a:schemeClr val="bg1"/>
                  </a:solidFill>
                  <a:latin typeface="Calibri" panose="020F0502020204030204" pitchFamily="34" charset="0"/>
                  <a:cs typeface="Calibri" panose="020F0502020204030204" pitchFamily="34" charset="0"/>
                </a:rPr>
                <a:t>Noise</a:t>
              </a:r>
            </a:p>
            <a:p>
              <a:pPr algn="ctr"/>
              <a:r>
                <a:rPr lang="en-US" dirty="0">
                  <a:solidFill>
                    <a:schemeClr val="bg1"/>
                  </a:solidFill>
                  <a:latin typeface="Calibri" panose="020F0502020204030204" pitchFamily="34" charset="0"/>
                  <a:cs typeface="Calibri" panose="020F0502020204030204" pitchFamily="34" charset="0"/>
                </a:rPr>
                <a:t>Missing values</a:t>
              </a:r>
            </a:p>
            <a:p>
              <a:pPr algn="ctr"/>
              <a:r>
                <a:rPr lang="en-US" dirty="0">
                  <a:solidFill>
                    <a:schemeClr val="bg1"/>
                  </a:solidFill>
                  <a:latin typeface="Calibri" panose="020F0502020204030204" pitchFamily="34" charset="0"/>
                  <a:cs typeface="Calibri" panose="020F0502020204030204" pitchFamily="34" charset="0"/>
                </a:rPr>
                <a:t>Anomaly</a:t>
              </a:r>
            </a:p>
            <a:p>
              <a:endParaRPr lang="en-US" dirty="0">
                <a:solidFill>
                  <a:schemeClr val="bg1"/>
                </a:solidFill>
                <a:latin typeface="Calibri" panose="020F0502020204030204" pitchFamily="34" charset="0"/>
                <a:cs typeface="Calibri" panose="020F0502020204030204" pitchFamily="34" charset="0"/>
              </a:endParaRPr>
            </a:p>
          </p:txBody>
        </p:sp>
      </p:grpSp>
      <p:sp>
        <p:nvSpPr>
          <p:cNvPr id="59" name="TextBox 58">
            <a:extLst>
              <a:ext uri="{FF2B5EF4-FFF2-40B4-BE49-F238E27FC236}">
                <a16:creationId xmlns:a16="http://schemas.microsoft.com/office/drawing/2014/main" id="{58CA3FB8-7896-4516-8D99-04C46D4D65CE}"/>
              </a:ext>
            </a:extLst>
          </p:cNvPr>
          <p:cNvSpPr txBox="1"/>
          <p:nvPr/>
        </p:nvSpPr>
        <p:spPr>
          <a:xfrm>
            <a:off x="6555452" y="2223889"/>
            <a:ext cx="1512168" cy="369332"/>
          </a:xfrm>
          <a:prstGeom prst="rect">
            <a:avLst/>
          </a:prstGeom>
          <a:noFill/>
        </p:spPr>
        <p:txBody>
          <a:bodyPr wrap="square" rtlCol="0">
            <a:spAutoFit/>
          </a:bodyPr>
          <a:lstStyle/>
          <a:p>
            <a:r>
              <a:rPr lang="en-US" dirty="0">
                <a:solidFill>
                  <a:schemeClr val="bg1"/>
                </a:solidFill>
                <a:latin typeface="Calibri" panose="020F0502020204030204" pitchFamily="34" charset="0"/>
                <a:cs typeface="Calibri" panose="020F0502020204030204" pitchFamily="34" charset="0"/>
              </a:rPr>
              <a:t>Model Fit</a:t>
            </a:r>
          </a:p>
        </p:txBody>
      </p:sp>
      <p:graphicFrame>
        <p:nvGraphicFramePr>
          <p:cNvPr id="8" name="Table 7">
            <a:extLst>
              <a:ext uri="{FF2B5EF4-FFF2-40B4-BE49-F238E27FC236}">
                <a16:creationId xmlns:a16="http://schemas.microsoft.com/office/drawing/2014/main" id="{509DA390-C1A5-4AB1-9C10-CAB2871296A2}"/>
              </a:ext>
            </a:extLst>
          </p:cNvPr>
          <p:cNvGraphicFramePr>
            <a:graphicFrameLocks noGrp="1"/>
          </p:cNvGraphicFramePr>
          <p:nvPr>
            <p:extLst>
              <p:ext uri="{D42A27DB-BD31-4B8C-83A1-F6EECF244321}">
                <p14:modId xmlns:p14="http://schemas.microsoft.com/office/powerpoint/2010/main" val="3224179900"/>
              </p:ext>
            </p:extLst>
          </p:nvPr>
        </p:nvGraphicFramePr>
        <p:xfrm>
          <a:off x="6389648" y="1605776"/>
          <a:ext cx="4824535" cy="3503985"/>
        </p:xfrm>
        <a:graphic>
          <a:graphicData uri="http://schemas.openxmlformats.org/drawingml/2006/table">
            <a:tbl>
              <a:tblPr firstRow="1" bandRow="1">
                <a:tableStyleId>{3B4B98B0-60AC-42C2-AFA5-B58CD77FA1E5}</a:tableStyleId>
              </a:tblPr>
              <a:tblGrid>
                <a:gridCol w="1826093">
                  <a:extLst>
                    <a:ext uri="{9D8B030D-6E8A-4147-A177-3AD203B41FA5}">
                      <a16:colId xmlns:a16="http://schemas.microsoft.com/office/drawing/2014/main" val="160764762"/>
                    </a:ext>
                  </a:extLst>
                </a:gridCol>
                <a:gridCol w="2998442">
                  <a:extLst>
                    <a:ext uri="{9D8B030D-6E8A-4147-A177-3AD203B41FA5}">
                      <a16:colId xmlns:a16="http://schemas.microsoft.com/office/drawing/2014/main" val="3082703265"/>
                    </a:ext>
                  </a:extLst>
                </a:gridCol>
              </a:tblGrid>
              <a:tr h="677707">
                <a:tc>
                  <a:txBody>
                    <a:bodyPr/>
                    <a:lstStyle/>
                    <a:p>
                      <a:r>
                        <a:rPr lang="en-US" b="1" i="1" dirty="0">
                          <a:latin typeface="Calibri" panose="020F0502020204030204" pitchFamily="34" charset="0"/>
                          <a:cs typeface="Calibri" panose="020F0502020204030204" pitchFamily="34" charset="0"/>
                        </a:rPr>
                        <a:t>Uncertainty Estimates</a:t>
                      </a:r>
                    </a:p>
                  </a:txBody>
                  <a:tcPr/>
                </a:tc>
                <a:tc>
                  <a:txBody>
                    <a:bodyPr/>
                    <a:lstStyle/>
                    <a:p>
                      <a:r>
                        <a:rPr lang="en-US" b="1" i="1" dirty="0">
                          <a:latin typeface="Calibri" panose="020F0502020204030204" pitchFamily="34" charset="0"/>
                          <a:cs typeface="Calibri" panose="020F0502020204030204" pitchFamily="34" charset="0"/>
                        </a:rPr>
                        <a:t>Description</a:t>
                      </a:r>
                    </a:p>
                  </a:txBody>
                  <a:tcPr/>
                </a:tc>
                <a:extLst>
                  <a:ext uri="{0D108BD9-81ED-4DB2-BD59-A6C34878D82A}">
                    <a16:rowId xmlns:a16="http://schemas.microsoft.com/office/drawing/2014/main" val="1743339649"/>
                  </a:ext>
                </a:extLst>
              </a:tr>
              <a:tr h="542148">
                <a:tc>
                  <a:txBody>
                    <a:bodyPr/>
                    <a:lstStyle/>
                    <a:p>
                      <a:r>
                        <a:rPr lang="en-US" b="0" dirty="0">
                          <a:latin typeface="Calibri" panose="020F0502020204030204" pitchFamily="34" charset="0"/>
                          <a:cs typeface="Calibri" panose="020F0502020204030204" pitchFamily="34" charset="0"/>
                        </a:rPr>
                        <a:t>Probabilistic</a:t>
                      </a:r>
                    </a:p>
                  </a:txBody>
                  <a:tcPr/>
                </a:tc>
                <a:tc>
                  <a:txBody>
                    <a:bodyPr/>
                    <a:lstStyle/>
                    <a:p>
                      <a:r>
                        <a:rPr lang="en-US" b="0" dirty="0">
                          <a:latin typeface="Calibri" panose="020F0502020204030204" pitchFamily="34" charset="0"/>
                          <a:cs typeface="Calibri" panose="020F0502020204030204" pitchFamily="34" charset="0"/>
                        </a:rPr>
                        <a:t>Model output as probability </a:t>
                      </a:r>
                    </a:p>
                  </a:txBody>
                  <a:tcPr/>
                </a:tc>
                <a:extLst>
                  <a:ext uri="{0D108BD9-81ED-4DB2-BD59-A6C34878D82A}">
                    <a16:rowId xmlns:a16="http://schemas.microsoft.com/office/drawing/2014/main" val="3474092596"/>
                  </a:ext>
                </a:extLst>
              </a:tr>
              <a:tr h="542992">
                <a:tc>
                  <a:txBody>
                    <a:bodyPr/>
                    <a:lstStyle/>
                    <a:p>
                      <a:r>
                        <a:rPr lang="en-US" b="0" dirty="0">
                          <a:latin typeface="Calibri" panose="020F0502020204030204" pitchFamily="34" charset="0"/>
                          <a:cs typeface="Calibri" panose="020F0502020204030204" pitchFamily="34" charset="0"/>
                        </a:rPr>
                        <a:t>Statistical</a:t>
                      </a:r>
                    </a:p>
                  </a:txBody>
                  <a:tcPr/>
                </a:tc>
                <a:tc>
                  <a:txBody>
                    <a:bodyPr/>
                    <a:lstStyle/>
                    <a:p>
                      <a:r>
                        <a:rPr lang="en-US" b="0" dirty="0">
                          <a:latin typeface="Calibri" panose="020F0502020204030204" pitchFamily="34" charset="0"/>
                          <a:cs typeface="Calibri" panose="020F0502020204030204" pitchFamily="34" charset="0"/>
                        </a:rPr>
                        <a:t>Prediction interval</a:t>
                      </a:r>
                    </a:p>
                  </a:txBody>
                  <a:tcPr/>
                </a:tc>
                <a:extLst>
                  <a:ext uri="{0D108BD9-81ED-4DB2-BD59-A6C34878D82A}">
                    <a16:rowId xmlns:a16="http://schemas.microsoft.com/office/drawing/2014/main" val="622682618"/>
                  </a:ext>
                </a:extLst>
              </a:tr>
              <a:tr h="599073">
                <a:tc>
                  <a:txBody>
                    <a:bodyPr/>
                    <a:lstStyle/>
                    <a:p>
                      <a:r>
                        <a:rPr lang="en-US" b="0" dirty="0">
                          <a:latin typeface="Calibri" panose="020F0502020204030204" pitchFamily="34" charset="0"/>
                          <a:cs typeface="Calibri" panose="020F0502020204030204" pitchFamily="34" charset="0"/>
                        </a:rPr>
                        <a:t>Resampling</a:t>
                      </a:r>
                    </a:p>
                  </a:txBody>
                  <a:tcPr/>
                </a:tc>
                <a:tc>
                  <a:txBody>
                    <a:bodyPr/>
                    <a:lstStyle/>
                    <a:p>
                      <a:r>
                        <a:rPr lang="en-US" b="0" dirty="0">
                          <a:latin typeface="Calibri" panose="020F0502020204030204" pitchFamily="34" charset="0"/>
                          <a:cs typeface="Calibri" panose="020F0502020204030204" pitchFamily="34" charset="0"/>
                        </a:rPr>
                        <a:t>Monte Carlo Simulation</a:t>
                      </a:r>
                    </a:p>
                  </a:txBody>
                  <a:tcPr/>
                </a:tc>
                <a:extLst>
                  <a:ext uri="{0D108BD9-81ED-4DB2-BD59-A6C34878D82A}">
                    <a16:rowId xmlns:a16="http://schemas.microsoft.com/office/drawing/2014/main" val="844662483"/>
                  </a:ext>
                </a:extLst>
              </a:tr>
              <a:tr h="542992">
                <a:tc>
                  <a:txBody>
                    <a:bodyPr/>
                    <a:lstStyle/>
                    <a:p>
                      <a:r>
                        <a:rPr lang="en-US" b="0" dirty="0">
                          <a:latin typeface="Calibri" panose="020F0502020204030204" pitchFamily="34" charset="0"/>
                          <a:cs typeface="Calibri" panose="020F0502020204030204" pitchFamily="34" charset="0"/>
                        </a:rPr>
                        <a:t>Fuzzy</a:t>
                      </a:r>
                    </a:p>
                  </a:txBody>
                  <a:tcPr/>
                </a:tc>
                <a:tc>
                  <a:txBody>
                    <a:bodyPr/>
                    <a:lstStyle/>
                    <a:p>
                      <a:r>
                        <a:rPr lang="en-US" b="0" dirty="0">
                          <a:latin typeface="Calibri" panose="020F0502020204030204" pitchFamily="34" charset="0"/>
                          <a:cs typeface="Calibri" panose="020F0502020204030204" pitchFamily="34" charset="0"/>
                        </a:rPr>
                        <a:t>Non-Probabilistic </a:t>
                      </a:r>
                    </a:p>
                  </a:txBody>
                  <a:tcPr/>
                </a:tc>
                <a:extLst>
                  <a:ext uri="{0D108BD9-81ED-4DB2-BD59-A6C34878D82A}">
                    <a16:rowId xmlns:a16="http://schemas.microsoft.com/office/drawing/2014/main" val="1807977869"/>
                  </a:ext>
                </a:extLst>
              </a:tr>
              <a:tr h="599073">
                <a:tc>
                  <a:txBody>
                    <a:bodyPr/>
                    <a:lstStyle/>
                    <a:p>
                      <a:r>
                        <a:rPr lang="en-US" b="0" dirty="0">
                          <a:latin typeface="Calibri" panose="020F0502020204030204" pitchFamily="34" charset="0"/>
                          <a:cs typeface="Calibri" panose="020F0502020204030204" pitchFamily="34" charset="0"/>
                        </a:rPr>
                        <a:t>Evidence Based</a:t>
                      </a:r>
                    </a:p>
                  </a:txBody>
                  <a:tcPr/>
                </a:tc>
                <a:tc>
                  <a:txBody>
                    <a:bodyPr/>
                    <a:lstStyle/>
                    <a:p>
                      <a:r>
                        <a:rPr lang="en-US" b="0" dirty="0">
                          <a:latin typeface="Calibri" panose="020F0502020204030204" pitchFamily="34" charset="0"/>
                          <a:cs typeface="Calibri" panose="020F0502020204030204" pitchFamily="34" charset="0"/>
                        </a:rPr>
                        <a:t>Dempster-Shafer theory</a:t>
                      </a:r>
                    </a:p>
                  </a:txBody>
                  <a:tcPr/>
                </a:tc>
                <a:extLst>
                  <a:ext uri="{0D108BD9-81ED-4DB2-BD59-A6C34878D82A}">
                    <a16:rowId xmlns:a16="http://schemas.microsoft.com/office/drawing/2014/main" val="3381659849"/>
                  </a:ext>
                </a:extLst>
              </a:tr>
            </a:tbl>
          </a:graphicData>
        </a:graphic>
      </p:graphicFrame>
      <p:grpSp>
        <p:nvGrpSpPr>
          <p:cNvPr id="10" name="Group 9">
            <a:extLst>
              <a:ext uri="{FF2B5EF4-FFF2-40B4-BE49-F238E27FC236}">
                <a16:creationId xmlns:a16="http://schemas.microsoft.com/office/drawing/2014/main" id="{451377C9-F116-4B47-85BE-4C5A766B85E5}"/>
              </a:ext>
            </a:extLst>
          </p:cNvPr>
          <p:cNvGrpSpPr/>
          <p:nvPr/>
        </p:nvGrpSpPr>
        <p:grpSpPr>
          <a:xfrm>
            <a:off x="3229521" y="1628800"/>
            <a:ext cx="2736304" cy="2592581"/>
            <a:chOff x="3229521" y="1628800"/>
            <a:chExt cx="2736304" cy="2592581"/>
          </a:xfrm>
        </p:grpSpPr>
        <p:sp>
          <p:nvSpPr>
            <p:cNvPr id="36" name="Rectangle 35">
              <a:extLst>
                <a:ext uri="{FF2B5EF4-FFF2-40B4-BE49-F238E27FC236}">
                  <a16:creationId xmlns:a16="http://schemas.microsoft.com/office/drawing/2014/main" id="{1AE9E24D-3099-4EF8-B7F2-2D3C531CA13E}"/>
                </a:ext>
              </a:extLst>
            </p:cNvPr>
            <p:cNvSpPr/>
            <p:nvPr/>
          </p:nvSpPr>
          <p:spPr>
            <a:xfrm>
              <a:off x="3503712" y="2133149"/>
              <a:ext cx="2160240" cy="2088232"/>
            </a:xfrm>
            <a:prstGeom prst="rect">
              <a:avLst/>
            </a:prstGeom>
            <a:solidFill>
              <a:srgbClr val="0070C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5E7D5B6-C9D6-4FCF-A45C-C9420EB6D1C9}"/>
                </a:ext>
              </a:extLst>
            </p:cNvPr>
            <p:cNvSpPr/>
            <p:nvPr/>
          </p:nvSpPr>
          <p:spPr>
            <a:xfrm>
              <a:off x="3503712" y="1628800"/>
              <a:ext cx="2160240" cy="375263"/>
            </a:xfrm>
            <a:prstGeom prst="rect">
              <a:avLst/>
            </a:prstGeom>
            <a:solidFill>
              <a:srgbClr val="0070C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7DDABABA-7898-4D74-AE37-3A7CA785F92B}"/>
                </a:ext>
              </a:extLst>
            </p:cNvPr>
            <p:cNvSpPr txBox="1"/>
            <p:nvPr/>
          </p:nvSpPr>
          <p:spPr>
            <a:xfrm>
              <a:off x="3791743" y="1628800"/>
              <a:ext cx="1512168" cy="369332"/>
            </a:xfrm>
            <a:prstGeom prst="rect">
              <a:avLst/>
            </a:prstGeom>
            <a:noFill/>
          </p:spPr>
          <p:txBody>
            <a:bodyPr wrap="square" rtlCol="0">
              <a:spAutoFit/>
            </a:bodyPr>
            <a:lstStyle/>
            <a:p>
              <a:pPr algn="ctr"/>
              <a:r>
                <a:rPr lang="en-US" b="1" dirty="0">
                  <a:solidFill>
                    <a:schemeClr val="bg1"/>
                  </a:solidFill>
                  <a:latin typeface="Calibri" panose="020F0502020204030204" pitchFamily="34" charset="0"/>
                  <a:cs typeface="Calibri" panose="020F0502020204030204" pitchFamily="34" charset="0"/>
                </a:rPr>
                <a:t>Model </a:t>
              </a:r>
            </a:p>
          </p:txBody>
        </p:sp>
        <p:sp>
          <p:nvSpPr>
            <p:cNvPr id="37" name="TextBox 36">
              <a:extLst>
                <a:ext uri="{FF2B5EF4-FFF2-40B4-BE49-F238E27FC236}">
                  <a16:creationId xmlns:a16="http://schemas.microsoft.com/office/drawing/2014/main" id="{F8CC8853-C096-4E24-9BD6-FC375D8692B9}"/>
                </a:ext>
              </a:extLst>
            </p:cNvPr>
            <p:cNvSpPr txBox="1"/>
            <p:nvPr/>
          </p:nvSpPr>
          <p:spPr>
            <a:xfrm>
              <a:off x="3229521" y="2358181"/>
              <a:ext cx="2736304" cy="1415772"/>
            </a:xfrm>
            <a:prstGeom prst="rect">
              <a:avLst/>
            </a:prstGeom>
            <a:noFill/>
          </p:spPr>
          <p:txBody>
            <a:bodyPr wrap="square" rtlCol="0">
              <a:spAutoFit/>
            </a:bodyPr>
            <a:lstStyle/>
            <a:p>
              <a:pPr algn="ctr"/>
              <a:r>
                <a:rPr lang="en-US" sz="1600" b="1" i="1" dirty="0">
                  <a:solidFill>
                    <a:schemeClr val="bg1"/>
                  </a:solidFill>
                  <a:latin typeface="Calibri" panose="020F0502020204030204" pitchFamily="34" charset="0"/>
                  <a:cs typeface="Calibri" panose="020F0502020204030204" pitchFamily="34" charset="0"/>
                </a:rPr>
                <a:t>Function Approximation</a:t>
              </a:r>
            </a:p>
            <a:p>
              <a:endParaRPr lang="en-US" sz="1600" i="1" dirty="0">
                <a:solidFill>
                  <a:schemeClr val="bg1"/>
                </a:solidFill>
                <a:latin typeface="Calibri" panose="020F0502020204030204" pitchFamily="34" charset="0"/>
                <a:cs typeface="Calibri" panose="020F0502020204030204" pitchFamily="34" charset="0"/>
              </a:endParaRPr>
            </a:p>
            <a:p>
              <a:pPr algn="ctr"/>
              <a:endParaRPr lang="en-US" dirty="0">
                <a:solidFill>
                  <a:schemeClr val="bg1"/>
                </a:solidFill>
                <a:latin typeface="Calibri" panose="020F0502020204030204" pitchFamily="34" charset="0"/>
                <a:cs typeface="Calibri" panose="020F0502020204030204" pitchFamily="34" charset="0"/>
              </a:endParaRPr>
            </a:p>
            <a:p>
              <a:pPr algn="ctr"/>
              <a:r>
                <a:rPr lang="en-US" dirty="0">
                  <a:solidFill>
                    <a:schemeClr val="bg1"/>
                  </a:solidFill>
                  <a:latin typeface="Calibri" panose="020F0502020204030204" pitchFamily="34" charset="0"/>
                  <a:cs typeface="Calibri" panose="020F0502020204030204" pitchFamily="34" charset="0"/>
                </a:rPr>
                <a:t>Data Distribution </a:t>
              </a:r>
            </a:p>
            <a:p>
              <a:pPr algn="ctr"/>
              <a:r>
                <a:rPr lang="en-US" dirty="0">
                  <a:solidFill>
                    <a:schemeClr val="bg1"/>
                  </a:solidFill>
                  <a:latin typeface="Calibri" panose="020F0502020204030204" pitchFamily="34" charset="0"/>
                  <a:cs typeface="Calibri" panose="020F0502020204030204" pitchFamily="34" charset="0"/>
                </a:rPr>
                <a:t>Parameters</a:t>
              </a:r>
            </a:p>
          </p:txBody>
        </p:sp>
      </p:grpSp>
    </p:spTree>
    <p:extLst>
      <p:ext uri="{BB962C8B-B14F-4D97-AF65-F5344CB8AC3E}">
        <p14:creationId xmlns:p14="http://schemas.microsoft.com/office/powerpoint/2010/main" val="316693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A38DCC-2CC6-41ED-AC6E-B13B1D19780A}"/>
              </a:ext>
            </a:extLst>
          </p:cNvPr>
          <p:cNvSpPr>
            <a:spLocks noGrp="1"/>
          </p:cNvSpPr>
          <p:nvPr>
            <p:ph type="sldNum" sz="quarter" idx="4"/>
          </p:nvPr>
        </p:nvSpPr>
        <p:spPr/>
        <p:txBody>
          <a:bodyPr/>
          <a:lstStyle/>
          <a:p>
            <a:fld id="{D57F1E4F-1CFF-5643-939E-217C01CDF565}" type="slidenum">
              <a:rPr lang="en-US" smtClean="0"/>
              <a:pPr/>
              <a:t>7</a:t>
            </a:fld>
            <a:endParaRPr lang="en-US" dirty="0"/>
          </a:p>
        </p:txBody>
      </p:sp>
      <p:grpSp>
        <p:nvGrpSpPr>
          <p:cNvPr id="7" name="Group 6">
            <a:extLst>
              <a:ext uri="{FF2B5EF4-FFF2-40B4-BE49-F238E27FC236}">
                <a16:creationId xmlns:a16="http://schemas.microsoft.com/office/drawing/2014/main" id="{4E9B8A9F-87D7-40F7-8284-562DB6ED141F}"/>
              </a:ext>
            </a:extLst>
          </p:cNvPr>
          <p:cNvGrpSpPr/>
          <p:nvPr/>
        </p:nvGrpSpPr>
        <p:grpSpPr>
          <a:xfrm>
            <a:off x="5038282" y="2605698"/>
            <a:ext cx="2115436" cy="1646603"/>
            <a:chOff x="6275971" y="2064808"/>
            <a:chExt cx="2115436" cy="1646603"/>
          </a:xfrm>
        </p:grpSpPr>
        <p:cxnSp>
          <p:nvCxnSpPr>
            <p:cNvPr id="32" name="Straight Connector 31">
              <a:extLst>
                <a:ext uri="{FF2B5EF4-FFF2-40B4-BE49-F238E27FC236}">
                  <a16:creationId xmlns:a16="http://schemas.microsoft.com/office/drawing/2014/main" id="{999E9DE8-96E2-4008-84F5-39915C6BCC8E}"/>
                </a:ext>
              </a:extLst>
            </p:cNvPr>
            <p:cNvCxnSpPr/>
            <p:nvPr/>
          </p:nvCxnSpPr>
          <p:spPr>
            <a:xfrm>
              <a:off x="6288287" y="3711411"/>
              <a:ext cx="2103120" cy="0"/>
            </a:xfrm>
            <a:prstGeom prst="line">
              <a:avLst/>
            </a:prstGeom>
            <a:ln w="19050" cap="sq">
              <a:solidFill>
                <a:srgbClr val="9751CB"/>
              </a:solidFill>
              <a:miter lim="800000"/>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D0E066F-DA3F-4DF8-A346-59A1C7113764}"/>
                </a:ext>
              </a:extLst>
            </p:cNvPr>
            <p:cNvSpPr/>
            <p:nvPr/>
          </p:nvSpPr>
          <p:spPr>
            <a:xfrm>
              <a:off x="6275971" y="2746094"/>
              <a:ext cx="2057400" cy="457200"/>
            </a:xfrm>
            <a:prstGeom prst="rect">
              <a:avLst/>
            </a:prstGeom>
            <a:noFill/>
            <a:ln w="6350">
              <a:noFill/>
            </a:ln>
            <a:effectLst/>
          </p:spPr>
          <p:txBody>
            <a:bodyPr wrap="square" lIns="0" tIns="91440" rIns="0" bIns="91440" rtlCol="0" anchor="t">
              <a:noAutofit/>
            </a:bodyPr>
            <a:lstStyle/>
            <a:p>
              <a:pPr algn="ctr" fontAlgn="auto">
                <a:lnSpc>
                  <a:spcPct val="90000"/>
                </a:lnSpc>
                <a:spcBef>
                  <a:spcPts val="481"/>
                </a:spcBef>
                <a:spcAft>
                  <a:spcPts val="0"/>
                </a:spcAft>
                <a:defRPr/>
              </a:pPr>
              <a:r>
                <a:rPr lang="en-US" sz="2800" dirty="0">
                  <a:solidFill>
                    <a:srgbClr val="9751CB"/>
                  </a:solidFill>
                  <a:latin typeface="Calibri" panose="020F0502020204030204" pitchFamily="34" charset="0"/>
                  <a:cs typeface="Calibri" panose="020F0502020204030204" pitchFamily="34" charset="0"/>
                </a:rPr>
                <a:t>Conformal Prediction</a:t>
              </a:r>
            </a:p>
          </p:txBody>
        </p:sp>
        <p:grpSp>
          <p:nvGrpSpPr>
            <p:cNvPr id="34" name="Group 33">
              <a:extLst>
                <a:ext uri="{FF2B5EF4-FFF2-40B4-BE49-F238E27FC236}">
                  <a16:creationId xmlns:a16="http://schemas.microsoft.com/office/drawing/2014/main" id="{B905DB66-2041-4124-B8E5-A3F5A3016947}"/>
                </a:ext>
              </a:extLst>
            </p:cNvPr>
            <p:cNvGrpSpPr/>
            <p:nvPr/>
          </p:nvGrpSpPr>
          <p:grpSpPr>
            <a:xfrm>
              <a:off x="7010076" y="2064808"/>
              <a:ext cx="589192" cy="539693"/>
              <a:chOff x="3777916" y="553453"/>
              <a:chExt cx="1479883" cy="1355557"/>
            </a:xfrm>
          </p:grpSpPr>
          <p:sp>
            <p:nvSpPr>
              <p:cNvPr id="35" name="Rectangle 34">
                <a:extLst>
                  <a:ext uri="{FF2B5EF4-FFF2-40B4-BE49-F238E27FC236}">
                    <a16:creationId xmlns:a16="http://schemas.microsoft.com/office/drawing/2014/main" id="{72149B40-EE90-4C6E-86E2-38E1B5B0B1E1}"/>
                  </a:ext>
                </a:extLst>
              </p:cNvPr>
              <p:cNvSpPr/>
              <p:nvPr/>
            </p:nvSpPr>
            <p:spPr>
              <a:xfrm>
                <a:off x="3777916" y="553453"/>
                <a:ext cx="409073" cy="409073"/>
              </a:xfrm>
              <a:prstGeom prst="rect">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36" name="Oval 35">
                <a:extLst>
                  <a:ext uri="{FF2B5EF4-FFF2-40B4-BE49-F238E27FC236}">
                    <a16:creationId xmlns:a16="http://schemas.microsoft.com/office/drawing/2014/main" id="{EC1B5593-096E-45DD-8626-06BD8C7AD503}"/>
                  </a:ext>
                </a:extLst>
              </p:cNvPr>
              <p:cNvSpPr/>
              <p:nvPr/>
            </p:nvSpPr>
            <p:spPr>
              <a:xfrm>
                <a:off x="4848726" y="553453"/>
                <a:ext cx="409073" cy="409073"/>
              </a:xfrm>
              <a:prstGeom prst="ellipse">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37" name="Oval 36">
                <a:extLst>
                  <a:ext uri="{FF2B5EF4-FFF2-40B4-BE49-F238E27FC236}">
                    <a16:creationId xmlns:a16="http://schemas.microsoft.com/office/drawing/2014/main" id="{F8778664-A616-4E72-8B15-D5632F153D65}"/>
                  </a:ext>
                </a:extLst>
              </p:cNvPr>
              <p:cNvSpPr/>
              <p:nvPr/>
            </p:nvSpPr>
            <p:spPr>
              <a:xfrm>
                <a:off x="4313319" y="962526"/>
                <a:ext cx="409073" cy="409073"/>
              </a:xfrm>
              <a:prstGeom prst="ellipse">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38" name="Oval 37">
                <a:extLst>
                  <a:ext uri="{FF2B5EF4-FFF2-40B4-BE49-F238E27FC236}">
                    <a16:creationId xmlns:a16="http://schemas.microsoft.com/office/drawing/2014/main" id="{8E037DB7-CD91-4610-A38A-07AB0B52AA81}"/>
                  </a:ext>
                </a:extLst>
              </p:cNvPr>
              <p:cNvSpPr/>
              <p:nvPr/>
            </p:nvSpPr>
            <p:spPr>
              <a:xfrm>
                <a:off x="3777916" y="1499937"/>
                <a:ext cx="409073" cy="409073"/>
              </a:xfrm>
              <a:prstGeom prst="ellipse">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39" name="Rectangle 38">
                <a:extLst>
                  <a:ext uri="{FF2B5EF4-FFF2-40B4-BE49-F238E27FC236}">
                    <a16:creationId xmlns:a16="http://schemas.microsoft.com/office/drawing/2014/main" id="{5492BA0A-782A-493B-B20F-220B09310EF3}"/>
                  </a:ext>
                </a:extLst>
              </p:cNvPr>
              <p:cNvSpPr/>
              <p:nvPr/>
            </p:nvSpPr>
            <p:spPr>
              <a:xfrm>
                <a:off x="4848725" y="1499937"/>
                <a:ext cx="409073" cy="409073"/>
              </a:xfrm>
              <a:prstGeom prst="rect">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sp>
            <p:nvSpPr>
              <p:cNvPr id="40" name="Rectangle 39">
                <a:extLst>
                  <a:ext uri="{FF2B5EF4-FFF2-40B4-BE49-F238E27FC236}">
                    <a16:creationId xmlns:a16="http://schemas.microsoft.com/office/drawing/2014/main" id="{4795024F-761E-4153-9187-24728480B279}"/>
                  </a:ext>
                </a:extLst>
              </p:cNvPr>
              <p:cNvSpPr/>
              <p:nvPr/>
            </p:nvSpPr>
            <p:spPr>
              <a:xfrm>
                <a:off x="4313320" y="1499936"/>
                <a:ext cx="409073" cy="409073"/>
              </a:xfrm>
              <a:prstGeom prst="rect">
                <a:avLst/>
              </a:prstGeom>
              <a:noFill/>
              <a:ln w="12700" cmpd="sng">
                <a:solidFill>
                  <a:srgbClr val="9751CB"/>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chemeClr val="tx2"/>
                  </a:solidFill>
                  <a:latin typeface="+mn-lt"/>
                </a:endParaRPr>
              </a:p>
            </p:txBody>
          </p:sp>
          <p:cxnSp>
            <p:nvCxnSpPr>
              <p:cNvPr id="41" name="Straight Connector 40">
                <a:extLst>
                  <a:ext uri="{FF2B5EF4-FFF2-40B4-BE49-F238E27FC236}">
                    <a16:creationId xmlns:a16="http://schemas.microsoft.com/office/drawing/2014/main" id="{151CFC8E-9D39-40CF-A972-1960B305279B}"/>
                  </a:ext>
                </a:extLst>
              </p:cNvPr>
              <p:cNvCxnSpPr>
                <a:stCxn id="35" idx="3"/>
                <a:endCxn id="36" idx="2"/>
              </p:cNvCxnSpPr>
              <p:nvPr/>
            </p:nvCxnSpPr>
            <p:spPr>
              <a:xfrm>
                <a:off x="4186989" y="757990"/>
                <a:ext cx="661737" cy="0"/>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31B1B07-5441-49E8-A7D7-82BD23C94404}"/>
                  </a:ext>
                </a:extLst>
              </p:cNvPr>
              <p:cNvCxnSpPr>
                <a:stCxn id="36" idx="4"/>
                <a:endCxn id="39" idx="0"/>
              </p:cNvCxnSpPr>
              <p:nvPr/>
            </p:nvCxnSpPr>
            <p:spPr>
              <a:xfrm flipH="1">
                <a:off x="5053262" y="962526"/>
                <a:ext cx="1" cy="537411"/>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A423F53-AE44-4F3E-9013-F05A639B5CC3}"/>
                  </a:ext>
                </a:extLst>
              </p:cNvPr>
              <p:cNvCxnSpPr>
                <a:stCxn id="39" idx="1"/>
                <a:endCxn id="40" idx="3"/>
              </p:cNvCxnSpPr>
              <p:nvPr/>
            </p:nvCxnSpPr>
            <p:spPr>
              <a:xfrm flipH="1" flipV="1">
                <a:off x="4722393" y="1704473"/>
                <a:ext cx="126332" cy="1"/>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14F3EF45-B78A-41FA-A8DC-D81BB9526012}"/>
                  </a:ext>
                </a:extLst>
              </p:cNvPr>
              <p:cNvCxnSpPr>
                <a:stCxn id="40" idx="0"/>
                <a:endCxn id="37" idx="4"/>
              </p:cNvCxnSpPr>
              <p:nvPr/>
            </p:nvCxnSpPr>
            <p:spPr>
              <a:xfrm flipH="1" flipV="1">
                <a:off x="4517856" y="1371599"/>
                <a:ext cx="1" cy="128337"/>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B90C908-6E85-4BDC-90AE-EDB5843EB04D}"/>
                  </a:ext>
                </a:extLst>
              </p:cNvPr>
              <p:cNvCxnSpPr>
                <a:stCxn id="37" idx="3"/>
                <a:endCxn id="38" idx="7"/>
              </p:cNvCxnSpPr>
              <p:nvPr/>
            </p:nvCxnSpPr>
            <p:spPr>
              <a:xfrm flipH="1">
                <a:off x="4127082" y="1311692"/>
                <a:ext cx="246144" cy="248152"/>
              </a:xfrm>
              <a:prstGeom prst="line">
                <a:avLst/>
              </a:prstGeom>
              <a:ln w="12700" cmpd="sng">
                <a:solidFill>
                  <a:srgbClr val="9751CB"/>
                </a:solidFill>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646504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A1CE45-B613-488C-BAA8-46BD71057507}"/>
              </a:ext>
            </a:extLst>
          </p:cNvPr>
          <p:cNvSpPr>
            <a:spLocks noGrp="1"/>
          </p:cNvSpPr>
          <p:nvPr>
            <p:ph type="sldNum" sz="quarter" idx="4"/>
          </p:nvPr>
        </p:nvSpPr>
        <p:spPr>
          <a:xfrm>
            <a:off x="8032665" y="6376243"/>
            <a:ext cx="683339" cy="365125"/>
          </a:xfrm>
        </p:spPr>
        <p:txBody>
          <a:bodyPr/>
          <a:lstStyle/>
          <a:p>
            <a:fld id="{D57F1E4F-1CFF-5643-939E-217C01CDF565}" type="slidenum">
              <a:rPr lang="en-US" smtClean="0"/>
              <a:pPr/>
              <a:t>8</a:t>
            </a:fld>
            <a:endParaRPr lang="en-US" dirty="0"/>
          </a:p>
        </p:txBody>
      </p:sp>
      <p:sp>
        <p:nvSpPr>
          <p:cNvPr id="4" name="Title 3">
            <a:extLst>
              <a:ext uri="{FF2B5EF4-FFF2-40B4-BE49-F238E27FC236}">
                <a16:creationId xmlns:a16="http://schemas.microsoft.com/office/drawing/2014/main" id="{542C3E66-5CBA-47AB-9FAD-7E447E070438}"/>
              </a:ext>
            </a:extLst>
          </p:cNvPr>
          <p:cNvSpPr>
            <a:spLocks noGrp="1"/>
          </p:cNvSpPr>
          <p:nvPr>
            <p:ph type="title"/>
          </p:nvPr>
        </p:nvSpPr>
        <p:spPr/>
        <p:txBody>
          <a:bodyPr/>
          <a:lstStyle/>
          <a:p>
            <a:r>
              <a:rPr lang="en-US" dirty="0"/>
              <a:t>Conformal Framework</a:t>
            </a:r>
          </a:p>
        </p:txBody>
      </p:sp>
      <p:sp>
        <p:nvSpPr>
          <p:cNvPr id="19" name="Rounded Rectangle 20">
            <a:extLst>
              <a:ext uri="{FF2B5EF4-FFF2-40B4-BE49-F238E27FC236}">
                <a16:creationId xmlns:a16="http://schemas.microsoft.com/office/drawing/2014/main" id="{E348BE4D-9FCC-4F90-93E6-50A152A5CBAC}"/>
              </a:ext>
            </a:extLst>
          </p:cNvPr>
          <p:cNvSpPr/>
          <p:nvPr/>
        </p:nvSpPr>
        <p:spPr bwMode="auto">
          <a:xfrm>
            <a:off x="7064257" y="1416337"/>
            <a:ext cx="1981137" cy="1431817"/>
          </a:xfrm>
          <a:prstGeom prst="roundRect">
            <a:avLst>
              <a:gd name="adj" fmla="val 4479"/>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22" name="TextBox 21">
            <a:extLst>
              <a:ext uri="{FF2B5EF4-FFF2-40B4-BE49-F238E27FC236}">
                <a16:creationId xmlns:a16="http://schemas.microsoft.com/office/drawing/2014/main" id="{6532762A-9D32-481F-A4DE-5D94A3291410}"/>
              </a:ext>
            </a:extLst>
          </p:cNvPr>
          <p:cNvSpPr txBox="1"/>
          <p:nvPr/>
        </p:nvSpPr>
        <p:spPr>
          <a:xfrm>
            <a:off x="4369456" y="1797890"/>
            <a:ext cx="2139632" cy="728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CLASSIFIER</a:t>
            </a:r>
          </a:p>
          <a:p>
            <a:pPr algn="ctr" defTabSz="291823" hangingPunct="0">
              <a:spcAft>
                <a:spcPts val="799"/>
              </a:spcAft>
            </a:pPr>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ALGORITHM</a:t>
            </a:r>
          </a:p>
        </p:txBody>
      </p:sp>
      <p:sp>
        <p:nvSpPr>
          <p:cNvPr id="24" name="Rectangle 23">
            <a:extLst>
              <a:ext uri="{FF2B5EF4-FFF2-40B4-BE49-F238E27FC236}">
                <a16:creationId xmlns:a16="http://schemas.microsoft.com/office/drawing/2014/main" id="{1EE87333-E418-4876-86BC-1AEF9F778A4B}"/>
              </a:ext>
            </a:extLst>
          </p:cNvPr>
          <p:cNvSpPr/>
          <p:nvPr/>
        </p:nvSpPr>
        <p:spPr>
          <a:xfrm>
            <a:off x="7254984" y="1456786"/>
            <a:ext cx="1680140" cy="369332"/>
          </a:xfrm>
          <a:prstGeom prst="rect">
            <a:avLst/>
          </a:prstGeom>
        </p:spPr>
        <p:txBody>
          <a:bodyPr wrap="none">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Point Prediction</a:t>
            </a:r>
            <a:endParaRPr lang="en-US" dirty="0">
              <a:solidFill>
                <a:schemeClr val="bg2">
                  <a:lumMod val="50000"/>
                </a:schemeClr>
              </a:solidFill>
              <a:latin typeface="Calibri" panose="020F0502020204030204" pitchFamily="34" charset="0"/>
              <a:ea typeface="+mj-ea"/>
              <a:cs typeface="Calibri" panose="020F0502020204030204" pitchFamily="34" charset="0"/>
            </a:endParaRPr>
          </a:p>
        </p:txBody>
      </p:sp>
      <p:sp>
        <p:nvSpPr>
          <p:cNvPr id="31" name="Rounded Rectangle 44">
            <a:extLst>
              <a:ext uri="{FF2B5EF4-FFF2-40B4-BE49-F238E27FC236}">
                <a16:creationId xmlns:a16="http://schemas.microsoft.com/office/drawing/2014/main" id="{05D3E4EF-3C9B-4A18-9046-DE8B03D57AEC}"/>
              </a:ext>
            </a:extLst>
          </p:cNvPr>
          <p:cNvSpPr/>
          <p:nvPr/>
        </p:nvSpPr>
        <p:spPr bwMode="auto">
          <a:xfrm>
            <a:off x="1384831" y="1416337"/>
            <a:ext cx="2502753" cy="1435377"/>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32" name="Rounded Rectangle 45">
            <a:extLst>
              <a:ext uri="{FF2B5EF4-FFF2-40B4-BE49-F238E27FC236}">
                <a16:creationId xmlns:a16="http://schemas.microsoft.com/office/drawing/2014/main" id="{DD4BB6C3-1912-4440-B572-DA0FEFC7C4BB}"/>
              </a:ext>
            </a:extLst>
          </p:cNvPr>
          <p:cNvSpPr/>
          <p:nvPr/>
        </p:nvSpPr>
        <p:spPr bwMode="auto">
          <a:xfrm>
            <a:off x="4218969" y="1412776"/>
            <a:ext cx="2502753" cy="1435378"/>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34" name="Right Arrow 47">
            <a:extLst>
              <a:ext uri="{FF2B5EF4-FFF2-40B4-BE49-F238E27FC236}">
                <a16:creationId xmlns:a16="http://schemas.microsoft.com/office/drawing/2014/main" id="{85908F15-92AF-4293-A2B1-9C2181A525D9}"/>
              </a:ext>
            </a:extLst>
          </p:cNvPr>
          <p:cNvSpPr/>
          <p:nvPr/>
        </p:nvSpPr>
        <p:spPr>
          <a:xfrm>
            <a:off x="3765073" y="1870613"/>
            <a:ext cx="560219" cy="50999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endParaRPr lang="en-US" sz="1200">
              <a:solidFill>
                <a:prstClr val="black"/>
              </a:solidFill>
              <a:latin typeface="Intel Clear"/>
              <a:sym typeface="Helvetica Light"/>
            </a:endParaRPr>
          </a:p>
        </p:txBody>
      </p:sp>
      <p:sp>
        <p:nvSpPr>
          <p:cNvPr id="35" name="Right Arrow 48">
            <a:extLst>
              <a:ext uri="{FF2B5EF4-FFF2-40B4-BE49-F238E27FC236}">
                <a16:creationId xmlns:a16="http://schemas.microsoft.com/office/drawing/2014/main" id="{4A5A6A32-E969-41BC-A70A-2C9E9E2EB634}"/>
              </a:ext>
            </a:extLst>
          </p:cNvPr>
          <p:cNvSpPr/>
          <p:nvPr/>
        </p:nvSpPr>
        <p:spPr>
          <a:xfrm>
            <a:off x="6599226" y="1910897"/>
            <a:ext cx="560219" cy="50999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endParaRPr lang="en-US" sz="1200">
              <a:solidFill>
                <a:prstClr val="black"/>
              </a:solidFill>
              <a:latin typeface="Intel Clear"/>
              <a:sym typeface="Helvetica Light"/>
            </a:endParaRPr>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2FF9F084-5FAA-4CBC-9F86-A95E88C2E863}"/>
                  </a:ext>
                </a:extLst>
              </p:cNvPr>
              <p:cNvSpPr/>
              <p:nvPr/>
            </p:nvSpPr>
            <p:spPr>
              <a:xfrm>
                <a:off x="1486296" y="1941414"/>
                <a:ext cx="235923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140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1</m:t>
                              </m:r>
                            </m:sub>
                          </m:sSub>
                        </m:e>
                      </m:d>
                      <m:r>
                        <a:rPr lang="en-US" sz="1400" i="1">
                          <a:latin typeface="Cambria Math" panose="02040503050406030204" pitchFamily="18" charset="0"/>
                        </a:rPr>
                        <m:t>,</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2</m:t>
                              </m:r>
                            </m:sub>
                          </m:sSub>
                        </m:e>
                      </m:d>
                      <m:r>
                        <a:rPr lang="en-US" sz="1400" i="1">
                          <a:latin typeface="Cambria Math" panose="02040503050406030204" pitchFamily="18" charset="0"/>
                        </a:rPr>
                        <m:t>,</m:t>
                      </m:r>
                      <m:r>
                        <a:rPr lang="en-US" sz="1400" b="0" i="1" smtClean="0">
                          <a:latin typeface="Cambria Math" panose="02040503050406030204" pitchFamily="18" charset="0"/>
                        </a:rPr>
                        <m:t> . . ., </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𝑛</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𝑛</m:t>
                              </m:r>
                            </m:sub>
                          </m:sSub>
                        </m:e>
                      </m:d>
                    </m:oMath>
                  </m:oMathPara>
                </a14:m>
                <a:endParaRPr lang="en-US" sz="1400" dirty="0"/>
              </a:p>
            </p:txBody>
          </p:sp>
        </mc:Choice>
        <mc:Fallback xmlns="">
          <p:sp>
            <p:nvSpPr>
              <p:cNvPr id="25" name="Rectangle 24">
                <a:extLst>
                  <a:ext uri="{FF2B5EF4-FFF2-40B4-BE49-F238E27FC236}">
                    <a16:creationId xmlns:a16="http://schemas.microsoft.com/office/drawing/2014/main" id="{2FF9F084-5FAA-4CBC-9F86-A95E88C2E863}"/>
                  </a:ext>
                </a:extLst>
              </p:cNvPr>
              <p:cNvSpPr>
                <a:spLocks noRot="1" noChangeAspect="1" noMove="1" noResize="1" noEditPoints="1" noAdjustHandles="1" noChangeArrowheads="1" noChangeShapeType="1" noTextEdit="1"/>
              </p:cNvSpPr>
              <p:nvPr/>
            </p:nvSpPr>
            <p:spPr>
              <a:xfrm>
                <a:off x="1486296" y="1941414"/>
                <a:ext cx="2359236" cy="307777"/>
              </a:xfrm>
              <a:prstGeom prst="rect">
                <a:avLst/>
              </a:prstGeom>
              <a:blipFill>
                <a:blip r:embed="rId2"/>
                <a:stretch>
                  <a:fillRect b="-1961"/>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51C8DB7C-A8EB-46F4-BCC3-178EBBBC5344}"/>
              </a:ext>
            </a:extLst>
          </p:cNvPr>
          <p:cNvSpPr txBox="1"/>
          <p:nvPr/>
        </p:nvSpPr>
        <p:spPr>
          <a:xfrm>
            <a:off x="1579920" y="1516053"/>
            <a:ext cx="2139632" cy="3490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DATASET</a:t>
            </a:r>
          </a:p>
        </p:txBody>
      </p:sp>
      <p:sp>
        <p:nvSpPr>
          <p:cNvPr id="43" name="TextBox 42">
            <a:extLst>
              <a:ext uri="{FF2B5EF4-FFF2-40B4-BE49-F238E27FC236}">
                <a16:creationId xmlns:a16="http://schemas.microsoft.com/office/drawing/2014/main" id="{B87E5D4C-5A16-42E9-86C5-C80993451487}"/>
              </a:ext>
            </a:extLst>
          </p:cNvPr>
          <p:cNvSpPr txBox="1"/>
          <p:nvPr/>
        </p:nvSpPr>
        <p:spPr>
          <a:xfrm>
            <a:off x="7012496" y="1781633"/>
            <a:ext cx="2179848" cy="1096784"/>
          </a:xfrm>
          <a:prstGeom prst="rect">
            <a:avLst/>
          </a:prstGeom>
          <a:noFill/>
        </p:spPr>
        <p:txBody>
          <a:bodyPr vert="horz" wrap="square" lIns="0" tIns="0" rIns="0" bIns="0" rtlCol="0">
            <a:noAutofit/>
          </a:bodyPr>
          <a:lstStyle/>
          <a:p>
            <a:pPr algn="ctr" defTabSz="812028">
              <a:lnSpc>
                <a:spcPct val="80000"/>
              </a:lnSpc>
            </a:pPr>
            <a:r>
              <a:rPr lang="en-US" sz="2000" dirty="0">
                <a:solidFill>
                  <a:schemeClr val="bg2">
                    <a:lumMod val="50000"/>
                  </a:schemeClr>
                </a:solidFill>
                <a:latin typeface="Calibri" panose="020F0502020204030204" pitchFamily="34" charset="0"/>
                <a:ea typeface="+mj-ea"/>
                <a:cs typeface="Calibri" panose="020F0502020204030204" pitchFamily="34" charset="0"/>
              </a:rPr>
              <a:t>Accuracy</a:t>
            </a:r>
          </a:p>
          <a:p>
            <a:pPr algn="ctr" defTabSz="812028">
              <a:lnSpc>
                <a:spcPct val="80000"/>
              </a:lnSpc>
            </a:pPr>
            <a:endParaRPr lang="en-US" sz="3600" dirty="0">
              <a:solidFill>
                <a:schemeClr val="bg2">
                  <a:lumMod val="50000"/>
                </a:schemeClr>
              </a:solidFill>
              <a:latin typeface="Calibri" panose="020F0502020204030204" pitchFamily="34" charset="0"/>
              <a:ea typeface="+mj-ea"/>
              <a:cs typeface="Calibri" panose="020F0502020204030204" pitchFamily="34" charset="0"/>
            </a:endParaRPr>
          </a:p>
        </p:txBody>
      </p:sp>
      <p:grpSp>
        <p:nvGrpSpPr>
          <p:cNvPr id="56" name="Group 55">
            <a:extLst>
              <a:ext uri="{FF2B5EF4-FFF2-40B4-BE49-F238E27FC236}">
                <a16:creationId xmlns:a16="http://schemas.microsoft.com/office/drawing/2014/main" id="{6206A4AA-AD0E-4FE0-8E7A-522A95B516F3}"/>
              </a:ext>
            </a:extLst>
          </p:cNvPr>
          <p:cNvGrpSpPr/>
          <p:nvPr/>
        </p:nvGrpSpPr>
        <p:grpSpPr>
          <a:xfrm>
            <a:off x="7714161" y="2056813"/>
            <a:ext cx="705651" cy="674269"/>
            <a:chOff x="9712171" y="3029817"/>
            <a:chExt cx="1250662" cy="1249661"/>
          </a:xfrm>
        </p:grpSpPr>
        <p:sp>
          <p:nvSpPr>
            <p:cNvPr id="29" name="Flowchart: Connector 28">
              <a:extLst>
                <a:ext uri="{FF2B5EF4-FFF2-40B4-BE49-F238E27FC236}">
                  <a16:creationId xmlns:a16="http://schemas.microsoft.com/office/drawing/2014/main" id="{03B90C12-31BC-4F1C-BBE4-0A67BD67E3EF}"/>
                </a:ext>
              </a:extLst>
            </p:cNvPr>
            <p:cNvSpPr/>
            <p:nvPr/>
          </p:nvSpPr>
          <p:spPr>
            <a:xfrm>
              <a:off x="9712171" y="3029817"/>
              <a:ext cx="1250662" cy="1249661"/>
            </a:xfrm>
            <a:prstGeom prst="flowChartConnector">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4DDE76F-1910-4E19-A5FA-F7DC4E7A735B}"/>
                </a:ext>
              </a:extLst>
            </p:cNvPr>
            <p:cNvSpPr/>
            <p:nvPr/>
          </p:nvSpPr>
          <p:spPr>
            <a:xfrm>
              <a:off x="9963113" y="3334694"/>
              <a:ext cx="828195" cy="465052"/>
            </a:xfrm>
            <a:prstGeom prst="rect">
              <a:avLst/>
            </a:prstGeom>
          </p:spPr>
          <p:txBody>
            <a:bodyPr wrap="none">
              <a:spAutoFit/>
            </a:bodyPr>
            <a:lstStyle/>
            <a:p>
              <a:pPr algn="ctr" defTabSz="812028">
                <a:lnSpc>
                  <a:spcPct val="80000"/>
                </a:lnSpc>
              </a:pPr>
              <a:r>
                <a:rPr lang="en-US" sz="2400" dirty="0">
                  <a:solidFill>
                    <a:schemeClr val="bg1"/>
                  </a:solidFill>
                  <a:latin typeface="Calibri" panose="020F0502020204030204" pitchFamily="34" charset="0"/>
                  <a:cs typeface="Calibri" panose="020F0502020204030204" pitchFamily="34" charset="0"/>
                </a:rPr>
                <a:t>98%</a:t>
              </a:r>
              <a:endParaRPr lang="en-US" sz="1000" dirty="0">
                <a:solidFill>
                  <a:schemeClr val="bg1"/>
                </a:solidFill>
                <a:latin typeface="Calibri" panose="020F0502020204030204" pitchFamily="34" charset="0"/>
                <a:cs typeface="Calibri" panose="020F0502020204030204" pitchFamily="34" charset="0"/>
              </a:endParaRPr>
            </a:p>
          </p:txBody>
        </p:sp>
      </p:grpSp>
      <p:sp>
        <p:nvSpPr>
          <p:cNvPr id="8" name="Rectangle 7">
            <a:extLst>
              <a:ext uri="{FF2B5EF4-FFF2-40B4-BE49-F238E27FC236}">
                <a16:creationId xmlns:a16="http://schemas.microsoft.com/office/drawing/2014/main" id="{AC951960-C227-4CAB-A263-0D977CC50B29}"/>
              </a:ext>
            </a:extLst>
          </p:cNvPr>
          <p:cNvSpPr/>
          <p:nvPr/>
        </p:nvSpPr>
        <p:spPr>
          <a:xfrm>
            <a:off x="1384831" y="3075781"/>
            <a:ext cx="7633488" cy="329338"/>
          </a:xfrm>
          <a:prstGeom prst="rect">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18444031-53D7-4600-BCFE-250E3287E3CD}"/>
              </a:ext>
            </a:extLst>
          </p:cNvPr>
          <p:cNvGrpSpPr/>
          <p:nvPr/>
        </p:nvGrpSpPr>
        <p:grpSpPr>
          <a:xfrm>
            <a:off x="4103607" y="3762283"/>
            <a:ext cx="5018982" cy="1943130"/>
            <a:chOff x="4103607" y="3762283"/>
            <a:chExt cx="5018982" cy="1943130"/>
          </a:xfrm>
        </p:grpSpPr>
        <p:sp>
          <p:nvSpPr>
            <p:cNvPr id="36" name="TextBox 35">
              <a:extLst>
                <a:ext uri="{FF2B5EF4-FFF2-40B4-BE49-F238E27FC236}">
                  <a16:creationId xmlns:a16="http://schemas.microsoft.com/office/drawing/2014/main" id="{3F3BCEE0-9784-451E-BB3A-199A0B74211E}"/>
                </a:ext>
              </a:extLst>
            </p:cNvPr>
            <p:cNvSpPr txBox="1"/>
            <p:nvPr/>
          </p:nvSpPr>
          <p:spPr>
            <a:xfrm>
              <a:off x="4103607" y="3762283"/>
              <a:ext cx="2671330" cy="3182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sz="1600" b="1" dirty="0">
                  <a:solidFill>
                    <a:srgbClr val="7030A0"/>
                  </a:solidFill>
                  <a:latin typeface="Calibri" panose="020F0502020204030204" pitchFamily="34" charset="0"/>
                  <a:ea typeface="+mj-ea"/>
                  <a:cs typeface="Calibri" panose="020F0502020204030204" pitchFamily="34" charset="0"/>
                  <a:sym typeface="Helvetica Light"/>
                </a:rPr>
                <a:t>CONFORMAL FRAMEWORK</a:t>
              </a:r>
            </a:p>
          </p:txBody>
        </p:sp>
        <p:grpSp>
          <p:nvGrpSpPr>
            <p:cNvPr id="7" name="Group 6">
              <a:extLst>
                <a:ext uri="{FF2B5EF4-FFF2-40B4-BE49-F238E27FC236}">
                  <a16:creationId xmlns:a16="http://schemas.microsoft.com/office/drawing/2014/main" id="{E1B12A0A-58E2-4D59-B0E7-045068D679E5}"/>
                </a:ext>
              </a:extLst>
            </p:cNvPr>
            <p:cNvGrpSpPr/>
            <p:nvPr/>
          </p:nvGrpSpPr>
          <p:grpSpPr>
            <a:xfrm>
              <a:off x="6942741" y="4629372"/>
              <a:ext cx="2179848" cy="479760"/>
              <a:chOff x="8615945" y="3232984"/>
              <a:chExt cx="2671330" cy="479760"/>
            </a:xfrm>
          </p:grpSpPr>
          <p:sp>
            <p:nvSpPr>
              <p:cNvPr id="5" name="Rectangle 4">
                <a:extLst>
                  <a:ext uri="{FF2B5EF4-FFF2-40B4-BE49-F238E27FC236}">
                    <a16:creationId xmlns:a16="http://schemas.microsoft.com/office/drawing/2014/main" id="{16477B7D-C81C-49DD-92FB-6816C3706068}"/>
                  </a:ext>
                </a:extLst>
              </p:cNvPr>
              <p:cNvSpPr/>
              <p:nvPr/>
            </p:nvSpPr>
            <p:spPr>
              <a:xfrm>
                <a:off x="9045394" y="3232984"/>
                <a:ext cx="1875142" cy="479760"/>
              </a:xfrm>
              <a:prstGeom prst="rect">
                <a:avLst/>
              </a:prstGeom>
              <a:solidFill>
                <a:srgbClr val="7030A0">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7749F1C8-DEDD-4C11-A5AF-C38C3D33482E}"/>
                  </a:ext>
                </a:extLst>
              </p:cNvPr>
              <p:cNvSpPr txBox="1"/>
              <p:nvPr/>
            </p:nvSpPr>
            <p:spPr>
              <a:xfrm>
                <a:off x="8615945" y="3322695"/>
                <a:ext cx="2671330" cy="3182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sz="1600" dirty="0">
                    <a:solidFill>
                      <a:schemeClr val="bg1"/>
                    </a:solidFill>
                    <a:latin typeface="Calibri" panose="020F0502020204030204" pitchFamily="34" charset="0"/>
                    <a:ea typeface="+mj-ea"/>
                    <a:cs typeface="Calibri" panose="020F0502020204030204" pitchFamily="34" charset="0"/>
                    <a:sym typeface="Helvetica Light"/>
                  </a:rPr>
                  <a:t>CONFIDENCE</a:t>
                </a:r>
              </a:p>
            </p:txBody>
          </p:sp>
        </p:grpSp>
        <p:grpSp>
          <p:nvGrpSpPr>
            <p:cNvPr id="70" name="Group 69">
              <a:extLst>
                <a:ext uri="{FF2B5EF4-FFF2-40B4-BE49-F238E27FC236}">
                  <a16:creationId xmlns:a16="http://schemas.microsoft.com/office/drawing/2014/main" id="{DA09B26E-0DC6-4879-9102-FCF0510FB69B}"/>
                </a:ext>
              </a:extLst>
            </p:cNvPr>
            <p:cNvGrpSpPr/>
            <p:nvPr/>
          </p:nvGrpSpPr>
          <p:grpSpPr>
            <a:xfrm>
              <a:off x="6942741" y="5225653"/>
              <a:ext cx="2179848" cy="479760"/>
              <a:chOff x="8615945" y="3232984"/>
              <a:chExt cx="2671330" cy="479760"/>
            </a:xfrm>
          </p:grpSpPr>
          <p:sp>
            <p:nvSpPr>
              <p:cNvPr id="71" name="Rectangle 70">
                <a:extLst>
                  <a:ext uri="{FF2B5EF4-FFF2-40B4-BE49-F238E27FC236}">
                    <a16:creationId xmlns:a16="http://schemas.microsoft.com/office/drawing/2014/main" id="{74377B4A-E108-473E-9605-A90D7628122E}"/>
                  </a:ext>
                </a:extLst>
              </p:cNvPr>
              <p:cNvSpPr/>
              <p:nvPr/>
            </p:nvSpPr>
            <p:spPr>
              <a:xfrm>
                <a:off x="9045394" y="3232984"/>
                <a:ext cx="1875142" cy="479760"/>
              </a:xfrm>
              <a:prstGeom prst="rect">
                <a:avLst/>
              </a:prstGeom>
              <a:solidFill>
                <a:srgbClr val="7030A0">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1F219D31-D6A2-4C9A-A392-5A6FF92AD36A}"/>
                  </a:ext>
                </a:extLst>
              </p:cNvPr>
              <p:cNvSpPr txBox="1"/>
              <p:nvPr/>
            </p:nvSpPr>
            <p:spPr>
              <a:xfrm>
                <a:off x="8615945" y="3322695"/>
                <a:ext cx="2671330" cy="3182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sz="1600" dirty="0">
                    <a:solidFill>
                      <a:schemeClr val="bg1"/>
                    </a:solidFill>
                    <a:latin typeface="Calibri" panose="020F0502020204030204" pitchFamily="34" charset="0"/>
                    <a:ea typeface="+mj-ea"/>
                    <a:cs typeface="Calibri" panose="020F0502020204030204" pitchFamily="34" charset="0"/>
                    <a:sym typeface="Helvetica Light"/>
                  </a:rPr>
                  <a:t>CREDIBILITY</a:t>
                </a:r>
              </a:p>
            </p:txBody>
          </p:sp>
        </p:grpSp>
      </p:grpSp>
      <p:grpSp>
        <p:nvGrpSpPr>
          <p:cNvPr id="11" name="Group 10">
            <a:extLst>
              <a:ext uri="{FF2B5EF4-FFF2-40B4-BE49-F238E27FC236}">
                <a16:creationId xmlns:a16="http://schemas.microsoft.com/office/drawing/2014/main" id="{195C6753-4E8F-4A99-81D7-6880013FB948}"/>
              </a:ext>
            </a:extLst>
          </p:cNvPr>
          <p:cNvGrpSpPr/>
          <p:nvPr/>
        </p:nvGrpSpPr>
        <p:grpSpPr>
          <a:xfrm>
            <a:off x="1371802" y="3645024"/>
            <a:ext cx="7660563" cy="2256831"/>
            <a:chOff x="1371802" y="3645024"/>
            <a:chExt cx="7660563" cy="2256831"/>
          </a:xfrm>
        </p:grpSpPr>
        <p:grpSp>
          <p:nvGrpSpPr>
            <p:cNvPr id="2" name="Group 1">
              <a:extLst>
                <a:ext uri="{FF2B5EF4-FFF2-40B4-BE49-F238E27FC236}">
                  <a16:creationId xmlns:a16="http://schemas.microsoft.com/office/drawing/2014/main" id="{9C16BC97-1690-4943-B3DB-A538C39DCA1D}"/>
                </a:ext>
              </a:extLst>
            </p:cNvPr>
            <p:cNvGrpSpPr/>
            <p:nvPr/>
          </p:nvGrpSpPr>
          <p:grpSpPr>
            <a:xfrm>
              <a:off x="1371802" y="3645024"/>
              <a:ext cx="7660563" cy="2256831"/>
              <a:chOff x="1371802" y="3645024"/>
              <a:chExt cx="7660563" cy="2256831"/>
            </a:xfrm>
          </p:grpSpPr>
          <p:sp>
            <p:nvSpPr>
              <p:cNvPr id="33" name="Rounded Rectangle 20">
                <a:extLst>
                  <a:ext uri="{FF2B5EF4-FFF2-40B4-BE49-F238E27FC236}">
                    <a16:creationId xmlns:a16="http://schemas.microsoft.com/office/drawing/2014/main" id="{1C513729-0784-487B-96F7-D6B8D85DAC75}"/>
                  </a:ext>
                </a:extLst>
              </p:cNvPr>
              <p:cNvSpPr/>
              <p:nvPr/>
            </p:nvSpPr>
            <p:spPr bwMode="auto">
              <a:xfrm>
                <a:off x="7051228" y="3648586"/>
                <a:ext cx="1981137" cy="2253269"/>
              </a:xfrm>
              <a:prstGeom prst="roundRect">
                <a:avLst>
                  <a:gd name="adj" fmla="val 4479"/>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37" name="Rectangle 36">
                <a:extLst>
                  <a:ext uri="{FF2B5EF4-FFF2-40B4-BE49-F238E27FC236}">
                    <a16:creationId xmlns:a16="http://schemas.microsoft.com/office/drawing/2014/main" id="{EC7020A5-B47C-45D8-8DAA-251C8B7730E2}"/>
                  </a:ext>
                </a:extLst>
              </p:cNvPr>
              <p:cNvSpPr/>
              <p:nvPr/>
            </p:nvSpPr>
            <p:spPr>
              <a:xfrm>
                <a:off x="7047010" y="3779778"/>
                <a:ext cx="1971309" cy="307777"/>
              </a:xfrm>
              <a:prstGeom prst="rect">
                <a:avLst/>
              </a:prstGeom>
            </p:spPr>
            <p:txBody>
              <a:bodyPr wrap="none">
                <a:spAutoFit/>
              </a:bodyPr>
              <a:lstStyle/>
              <a:p>
                <a:pPr algn="ctr" defTabSz="291823" hangingPunct="0"/>
                <a:r>
                  <a:rPr lang="en-US" sz="1400" dirty="0">
                    <a:solidFill>
                      <a:schemeClr val="bg2">
                        <a:lumMod val="50000"/>
                      </a:schemeClr>
                    </a:solidFill>
                    <a:latin typeface="Calibri" panose="020F0502020204030204" pitchFamily="34" charset="0"/>
                    <a:ea typeface="+mj-ea"/>
                    <a:cs typeface="Calibri" panose="020F0502020204030204" pitchFamily="34" charset="0"/>
                    <a:sym typeface="Helvetica Light"/>
                  </a:rPr>
                  <a:t>UNCERTAINTY ESTIMATE</a:t>
                </a:r>
                <a:endParaRPr lang="en-US" sz="1400" dirty="0">
                  <a:solidFill>
                    <a:schemeClr val="bg2">
                      <a:lumMod val="50000"/>
                    </a:schemeClr>
                  </a:solidFill>
                  <a:latin typeface="Calibri" panose="020F0502020204030204" pitchFamily="34" charset="0"/>
                  <a:ea typeface="+mj-ea"/>
                  <a:cs typeface="Calibri" panose="020F0502020204030204" pitchFamily="34" charset="0"/>
                </a:endParaRPr>
              </a:p>
            </p:txBody>
          </p:sp>
          <p:sp>
            <p:nvSpPr>
              <p:cNvPr id="38" name="Rounded Rectangle 44">
                <a:extLst>
                  <a:ext uri="{FF2B5EF4-FFF2-40B4-BE49-F238E27FC236}">
                    <a16:creationId xmlns:a16="http://schemas.microsoft.com/office/drawing/2014/main" id="{74DB32FE-BBBB-4208-9B3E-69DB424EAB18}"/>
                  </a:ext>
                </a:extLst>
              </p:cNvPr>
              <p:cNvSpPr/>
              <p:nvPr/>
            </p:nvSpPr>
            <p:spPr bwMode="auto">
              <a:xfrm>
                <a:off x="1371802" y="3648586"/>
                <a:ext cx="2502753" cy="2253269"/>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39" name="Rounded Rectangle 45">
                <a:extLst>
                  <a:ext uri="{FF2B5EF4-FFF2-40B4-BE49-F238E27FC236}">
                    <a16:creationId xmlns:a16="http://schemas.microsoft.com/office/drawing/2014/main" id="{B679283F-FBA5-403A-851F-A501B0C76EDB}"/>
                  </a:ext>
                </a:extLst>
              </p:cNvPr>
              <p:cNvSpPr/>
              <p:nvPr/>
            </p:nvSpPr>
            <p:spPr bwMode="auto">
              <a:xfrm>
                <a:off x="4205940" y="3645024"/>
                <a:ext cx="2502753" cy="2253269"/>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42" name="Right Arrow 47">
                <a:extLst>
                  <a:ext uri="{FF2B5EF4-FFF2-40B4-BE49-F238E27FC236}">
                    <a16:creationId xmlns:a16="http://schemas.microsoft.com/office/drawing/2014/main" id="{F3BD29D4-7EA3-4E0C-A1B4-CB8ADBA1736B}"/>
                  </a:ext>
                </a:extLst>
              </p:cNvPr>
              <p:cNvSpPr/>
              <p:nvPr/>
            </p:nvSpPr>
            <p:spPr>
              <a:xfrm>
                <a:off x="3752044" y="4573973"/>
                <a:ext cx="560219" cy="50999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endParaRPr lang="en-US" sz="1200">
                  <a:solidFill>
                    <a:prstClr val="black"/>
                  </a:solidFill>
                  <a:latin typeface="Intel Clear"/>
                  <a:sym typeface="Helvetica Light"/>
                </a:endParaRPr>
              </a:p>
            </p:txBody>
          </p:sp>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6693A4CA-DA71-43EC-9983-DD16110BB813}"/>
                      </a:ext>
                    </a:extLst>
                  </p:cNvPr>
                  <p:cNvSpPr/>
                  <p:nvPr/>
                </p:nvSpPr>
                <p:spPr>
                  <a:xfrm>
                    <a:off x="1425810" y="4616991"/>
                    <a:ext cx="235923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1400" i="1" smtClean="0">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1</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1</m:t>
                                  </m:r>
                                </m:sub>
                              </m:sSub>
                            </m:e>
                          </m:d>
                          <m:r>
                            <a:rPr lang="en-US" sz="1400" i="1">
                              <a:latin typeface="Cambria Math" panose="02040503050406030204" pitchFamily="18" charset="0"/>
                            </a:rPr>
                            <m:t>,</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2</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2</m:t>
                                  </m:r>
                                </m:sub>
                              </m:sSub>
                            </m:e>
                          </m:d>
                          <m:r>
                            <a:rPr lang="en-US" sz="1400" i="1">
                              <a:latin typeface="Cambria Math" panose="02040503050406030204" pitchFamily="18" charset="0"/>
                            </a:rPr>
                            <m:t>,</m:t>
                          </m:r>
                          <m:r>
                            <a:rPr lang="en-US" sz="1400" b="0" i="1" smtClean="0">
                              <a:latin typeface="Cambria Math" panose="02040503050406030204" pitchFamily="18" charset="0"/>
                            </a:rPr>
                            <m:t> . . ., </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𝑥</m:t>
                                  </m:r>
                                </m:e>
                                <m:sub>
                                  <m:r>
                                    <a:rPr lang="en-US" sz="1400" i="1">
                                      <a:latin typeface="Cambria Math" panose="02040503050406030204" pitchFamily="18" charset="0"/>
                                    </a:rPr>
                                    <m:t>𝑛</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𝑛</m:t>
                                  </m:r>
                                </m:sub>
                              </m:sSub>
                            </m:e>
                          </m:d>
                        </m:oMath>
                      </m:oMathPara>
                    </a14:m>
                    <a:endParaRPr lang="en-US" sz="1400" dirty="0"/>
                  </a:p>
                </p:txBody>
              </p:sp>
            </mc:Choice>
            <mc:Fallback xmlns="">
              <p:sp>
                <p:nvSpPr>
                  <p:cNvPr id="58" name="Rectangle 57">
                    <a:extLst>
                      <a:ext uri="{FF2B5EF4-FFF2-40B4-BE49-F238E27FC236}">
                        <a16:creationId xmlns:a16="http://schemas.microsoft.com/office/drawing/2014/main" id="{6693A4CA-DA71-43EC-9983-DD16110BB813}"/>
                      </a:ext>
                    </a:extLst>
                  </p:cNvPr>
                  <p:cNvSpPr>
                    <a:spLocks noRot="1" noChangeAspect="1" noMove="1" noResize="1" noEditPoints="1" noAdjustHandles="1" noChangeArrowheads="1" noChangeShapeType="1" noTextEdit="1"/>
                  </p:cNvSpPr>
                  <p:nvPr/>
                </p:nvSpPr>
                <p:spPr>
                  <a:xfrm>
                    <a:off x="1425810" y="4616991"/>
                    <a:ext cx="2359236" cy="307777"/>
                  </a:xfrm>
                  <a:prstGeom prst="rect">
                    <a:avLst/>
                  </a:prstGeom>
                  <a:blipFill>
                    <a:blip r:embed="rId3"/>
                    <a:stretch>
                      <a:fillRect b="-1961"/>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551125C6-8A8B-4299-93BB-3CA306611638}"/>
                  </a:ext>
                </a:extLst>
              </p:cNvPr>
              <p:cNvSpPr txBox="1"/>
              <p:nvPr/>
            </p:nvSpPr>
            <p:spPr>
              <a:xfrm>
                <a:off x="1566891" y="3748302"/>
                <a:ext cx="2139632" cy="3490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DATASET</a:t>
                </a:r>
              </a:p>
            </p:txBody>
          </p:sp>
          <p:sp>
            <p:nvSpPr>
              <p:cNvPr id="65" name="Rounded Rectangle 45">
                <a:extLst>
                  <a:ext uri="{FF2B5EF4-FFF2-40B4-BE49-F238E27FC236}">
                    <a16:creationId xmlns:a16="http://schemas.microsoft.com/office/drawing/2014/main" id="{56A3F5C1-2E57-4052-976C-48A42F8F06EE}"/>
                  </a:ext>
                </a:extLst>
              </p:cNvPr>
              <p:cNvSpPr/>
              <p:nvPr/>
            </p:nvSpPr>
            <p:spPr bwMode="auto">
              <a:xfrm>
                <a:off x="4579204" y="4311296"/>
                <a:ext cx="1708231" cy="1133861"/>
              </a:xfrm>
              <a:prstGeom prst="roundRect">
                <a:avLst>
                  <a:gd name="adj" fmla="val 2366"/>
                </a:avLst>
              </a:prstGeom>
              <a:no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b="1">
                  <a:solidFill>
                    <a:srgbClr val="00AEEF"/>
                  </a:solidFill>
                  <a:latin typeface="Intel Clear"/>
                </a:endParaRPr>
              </a:p>
            </p:txBody>
          </p:sp>
          <p:sp>
            <p:nvSpPr>
              <p:cNvPr id="66" name="TextBox 65">
                <a:extLst>
                  <a:ext uri="{FF2B5EF4-FFF2-40B4-BE49-F238E27FC236}">
                    <a16:creationId xmlns:a16="http://schemas.microsoft.com/office/drawing/2014/main" id="{E7109C0D-D413-4F4D-9ECA-E6ED88343A86}"/>
                  </a:ext>
                </a:extLst>
              </p:cNvPr>
              <p:cNvSpPr txBox="1"/>
              <p:nvPr/>
            </p:nvSpPr>
            <p:spPr>
              <a:xfrm>
                <a:off x="4347183" y="4535905"/>
                <a:ext cx="2139632" cy="728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CLASSIFIER</a:t>
                </a:r>
              </a:p>
              <a:p>
                <a:pPr algn="ctr" defTabSz="291823" hangingPunct="0">
                  <a:spcAft>
                    <a:spcPts val="799"/>
                  </a:spcAft>
                </a:pPr>
                <a:r>
                  <a:rPr lang="en-US" dirty="0">
                    <a:solidFill>
                      <a:schemeClr val="bg2">
                        <a:lumMod val="50000"/>
                      </a:schemeClr>
                    </a:solidFill>
                    <a:latin typeface="Calibri" panose="020F0502020204030204" pitchFamily="34" charset="0"/>
                    <a:ea typeface="+mj-ea"/>
                    <a:cs typeface="Calibri" panose="020F0502020204030204" pitchFamily="34" charset="0"/>
                    <a:sym typeface="Helvetica Light"/>
                  </a:rPr>
                  <a:t>ALGORITHM</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419CF65-BF2F-4240-B9A7-493B6C77760E}"/>
                      </a:ext>
                    </a:extLst>
                  </p:cNvPr>
                  <p:cNvSpPr txBox="1"/>
                  <p:nvPr/>
                </p:nvSpPr>
                <p:spPr>
                  <a:xfrm>
                    <a:off x="7855748" y="4187605"/>
                    <a:ext cx="601768" cy="276999"/>
                  </a:xfrm>
                  <a:prstGeom prst="rect">
                    <a:avLst/>
                  </a:prstGeom>
                  <a:noFill/>
                </p:spPr>
                <p:txBody>
                  <a:bodyPr wrap="none" lIns="0" tIns="0" rIns="0" bIns="0" rtlCol="0">
                    <a:spAutoFit/>
                  </a:bodyPr>
                  <a:lstStyle/>
                  <a:p>
                    <a14:m>
                      <m:oMath xmlns:m="http://schemas.openxmlformats.org/officeDocument/2006/math">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𝑦</m:t>
                            </m:r>
                          </m:e>
                          <m:sub>
                            <m:r>
                              <a:rPr lang="en-US" b="0" i="1" smtClean="0">
                                <a:solidFill>
                                  <a:schemeClr val="tx1"/>
                                </a:solidFill>
                                <a:latin typeface="Cambria Math" panose="02040503050406030204" pitchFamily="18" charset="0"/>
                                <a:ea typeface="Cambria Math" panose="02040503050406030204" pitchFamily="18" charset="0"/>
                              </a:rPr>
                              <m:t>𝑛</m:t>
                            </m:r>
                            <m:r>
                              <a:rPr lang="en-US" b="0" i="1" smtClean="0">
                                <a:solidFill>
                                  <a:schemeClr val="tx1"/>
                                </a:solidFill>
                                <a:latin typeface="Cambria Math" panose="02040503050406030204" pitchFamily="18" charset="0"/>
                                <a:ea typeface="Cambria Math" panose="02040503050406030204" pitchFamily="18" charset="0"/>
                              </a:rPr>
                              <m:t>+1</m:t>
                            </m:r>
                          </m:sub>
                        </m:sSub>
                      </m:oMath>
                    </a14:m>
                    <a:r>
                      <a:rPr lang="en-US" dirty="0"/>
                      <a:t>  </a:t>
                    </a:r>
                  </a:p>
                </p:txBody>
              </p:sp>
            </mc:Choice>
            <mc:Fallback xmlns="">
              <p:sp>
                <p:nvSpPr>
                  <p:cNvPr id="68" name="TextBox 67">
                    <a:extLst>
                      <a:ext uri="{FF2B5EF4-FFF2-40B4-BE49-F238E27FC236}">
                        <a16:creationId xmlns:a16="http://schemas.microsoft.com/office/drawing/2014/main" id="{F419CF65-BF2F-4240-B9A7-493B6C77760E}"/>
                      </a:ext>
                    </a:extLst>
                  </p:cNvPr>
                  <p:cNvSpPr txBox="1">
                    <a:spLocks noRot="1" noChangeAspect="1" noMove="1" noResize="1" noEditPoints="1" noAdjustHandles="1" noChangeArrowheads="1" noChangeShapeType="1" noTextEdit="1"/>
                  </p:cNvSpPr>
                  <p:nvPr/>
                </p:nvSpPr>
                <p:spPr>
                  <a:xfrm>
                    <a:off x="7855748" y="4187605"/>
                    <a:ext cx="601768" cy="276999"/>
                  </a:xfrm>
                  <a:prstGeom prst="rect">
                    <a:avLst/>
                  </a:prstGeom>
                  <a:blipFill>
                    <a:blip r:embed="rId4"/>
                    <a:stretch>
                      <a:fillRect l="-14286" b="-2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AB35409D-EF04-47F4-923C-2BEA9BBBA874}"/>
                      </a:ext>
                    </a:extLst>
                  </p:cNvPr>
                  <p:cNvSpPr txBox="1"/>
                  <p:nvPr/>
                </p:nvSpPr>
                <p:spPr>
                  <a:xfrm>
                    <a:off x="2345442" y="5013756"/>
                    <a:ext cx="56098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rgbClr val="FF0000"/>
                                  </a:solidFill>
                                  <a:latin typeface="Cambria Math" panose="02040503050406030204" pitchFamily="18" charset="0"/>
                                </a:rPr>
                              </m:ctrlPr>
                            </m:sSubPr>
                            <m:e>
                              <m:r>
                                <a:rPr lang="en-US" sz="1400" b="0" i="1" smtClean="0">
                                  <a:solidFill>
                                    <a:srgbClr val="FF0000"/>
                                  </a:solidFill>
                                  <a:latin typeface="Cambria Math" panose="02040503050406030204" pitchFamily="18" charset="0"/>
                                </a:rPr>
                                <m:t>(</m:t>
                              </m:r>
                              <m:r>
                                <a:rPr lang="en-US" sz="1400" b="0" i="1" smtClean="0">
                                  <a:solidFill>
                                    <a:srgbClr val="FF0000"/>
                                  </a:solidFill>
                                  <a:latin typeface="Cambria Math" panose="02040503050406030204" pitchFamily="18" charset="0"/>
                                </a:rPr>
                                <m:t>𝑥</m:t>
                              </m:r>
                            </m:e>
                            <m:sub>
                              <m:r>
                                <a:rPr lang="en-US" sz="1400" b="0" i="1" smtClean="0">
                                  <a:solidFill>
                                    <a:srgbClr val="FF0000"/>
                                  </a:solidFill>
                                  <a:latin typeface="Cambria Math" panose="02040503050406030204" pitchFamily="18" charset="0"/>
                                </a:rPr>
                                <m:t>𝑛</m:t>
                              </m:r>
                              <m:r>
                                <a:rPr lang="en-US" sz="1400" b="0" i="1" smtClean="0">
                                  <a:solidFill>
                                    <a:srgbClr val="FF0000"/>
                                  </a:solidFill>
                                  <a:latin typeface="Cambria Math" panose="02040503050406030204" pitchFamily="18" charset="0"/>
                                </a:rPr>
                                <m:t>+1</m:t>
                              </m:r>
                            </m:sub>
                          </m:sSub>
                          <m:r>
                            <a:rPr lang="en-US" sz="1400" b="0" i="1" smtClean="0">
                              <a:solidFill>
                                <a:srgbClr val="FF0000"/>
                              </a:solidFill>
                              <a:latin typeface="Cambria Math" panose="02040503050406030204" pitchFamily="18" charset="0"/>
                            </a:rPr>
                            <m:t>)</m:t>
                          </m:r>
                        </m:oMath>
                      </m:oMathPara>
                    </a14:m>
                    <a:endParaRPr lang="en-US" sz="1400" dirty="0"/>
                  </a:p>
                </p:txBody>
              </p:sp>
            </mc:Choice>
            <mc:Fallback xmlns="">
              <p:sp>
                <p:nvSpPr>
                  <p:cNvPr id="73" name="TextBox 72">
                    <a:extLst>
                      <a:ext uri="{FF2B5EF4-FFF2-40B4-BE49-F238E27FC236}">
                        <a16:creationId xmlns:a16="http://schemas.microsoft.com/office/drawing/2014/main" id="{AB35409D-EF04-47F4-923C-2BEA9BBBA874}"/>
                      </a:ext>
                    </a:extLst>
                  </p:cNvPr>
                  <p:cNvSpPr txBox="1">
                    <a:spLocks noRot="1" noChangeAspect="1" noMove="1" noResize="1" noEditPoints="1" noAdjustHandles="1" noChangeArrowheads="1" noChangeShapeType="1" noTextEdit="1"/>
                  </p:cNvSpPr>
                  <p:nvPr/>
                </p:nvSpPr>
                <p:spPr>
                  <a:xfrm>
                    <a:off x="2345442" y="5013756"/>
                    <a:ext cx="560986" cy="215444"/>
                  </a:xfrm>
                  <a:prstGeom prst="rect">
                    <a:avLst/>
                  </a:prstGeom>
                  <a:blipFill>
                    <a:blip r:embed="rId5"/>
                    <a:stretch>
                      <a:fillRect l="-9783" r="-8696" b="-33333"/>
                    </a:stretch>
                  </a:blipFill>
                </p:spPr>
                <p:txBody>
                  <a:bodyPr/>
                  <a:lstStyle/>
                  <a:p>
                    <a:r>
                      <a:rPr lang="en-US">
                        <a:noFill/>
                      </a:rPr>
                      <a:t> </a:t>
                    </a:r>
                  </a:p>
                </p:txBody>
              </p:sp>
            </mc:Fallback>
          </mc:AlternateContent>
        </p:grpSp>
        <p:sp>
          <p:nvSpPr>
            <p:cNvPr id="49" name="Right Arrow 48">
              <a:extLst>
                <a:ext uri="{FF2B5EF4-FFF2-40B4-BE49-F238E27FC236}">
                  <a16:creationId xmlns:a16="http://schemas.microsoft.com/office/drawing/2014/main" id="{E5E11AD6-4996-4280-B37E-31ECF8586CE9}"/>
                </a:ext>
              </a:extLst>
            </p:cNvPr>
            <p:cNvSpPr/>
            <p:nvPr/>
          </p:nvSpPr>
          <p:spPr>
            <a:xfrm>
              <a:off x="6586197" y="4614257"/>
              <a:ext cx="560219" cy="509990"/>
            </a:xfrm>
            <a:prstGeom prst="rightArrow">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685" tIns="35685" rIns="35685" bIns="35685" numCol="1" spcCol="38100" rtlCol="0" anchor="ctr">
              <a:spAutoFit/>
            </a:bodyPr>
            <a:lstStyle/>
            <a:p>
              <a:pPr algn="ctr" defTabSz="291823" hangingPunct="0"/>
              <a:endParaRPr lang="en-US" sz="1200">
                <a:solidFill>
                  <a:prstClr val="black"/>
                </a:solidFill>
                <a:latin typeface="Intel Clear"/>
                <a:sym typeface="Helvetica Light"/>
              </a:endParaRPr>
            </a:p>
          </p:txBody>
        </p:sp>
      </p:grpSp>
    </p:spTree>
    <p:extLst>
      <p:ext uri="{BB962C8B-B14F-4D97-AF65-F5344CB8AC3E}">
        <p14:creationId xmlns:p14="http://schemas.microsoft.com/office/powerpoint/2010/main" val="91068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A1CE45-B613-488C-BAA8-46BD71057507}"/>
              </a:ext>
            </a:extLst>
          </p:cNvPr>
          <p:cNvSpPr>
            <a:spLocks noGrp="1"/>
          </p:cNvSpPr>
          <p:nvPr>
            <p:ph type="sldNum" sz="quarter" idx="4"/>
          </p:nvPr>
        </p:nvSpPr>
        <p:spPr>
          <a:xfrm>
            <a:off x="8032665" y="6376243"/>
            <a:ext cx="683339" cy="365125"/>
          </a:xfrm>
        </p:spPr>
        <p:txBody>
          <a:bodyPr/>
          <a:lstStyle/>
          <a:p>
            <a:fld id="{D57F1E4F-1CFF-5643-939E-217C01CDF565}" type="slidenum">
              <a:rPr lang="en-US" smtClean="0"/>
              <a:pPr/>
              <a:t>9</a:t>
            </a:fld>
            <a:endParaRPr lang="en-US" dirty="0"/>
          </a:p>
        </p:txBody>
      </p:sp>
      <p:sp>
        <p:nvSpPr>
          <p:cNvPr id="4" name="Title 3">
            <a:extLst>
              <a:ext uri="{FF2B5EF4-FFF2-40B4-BE49-F238E27FC236}">
                <a16:creationId xmlns:a16="http://schemas.microsoft.com/office/drawing/2014/main" id="{542C3E66-5CBA-47AB-9FAD-7E447E070438}"/>
              </a:ext>
            </a:extLst>
          </p:cNvPr>
          <p:cNvSpPr>
            <a:spLocks noGrp="1"/>
          </p:cNvSpPr>
          <p:nvPr>
            <p:ph type="title"/>
          </p:nvPr>
        </p:nvSpPr>
        <p:spPr/>
        <p:txBody>
          <a:bodyPr/>
          <a:lstStyle/>
          <a:p>
            <a:r>
              <a:rPr lang="en-US" dirty="0"/>
              <a:t>Framework Foundation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57B6311-B141-424D-8E3B-BA29E048C6DD}"/>
                  </a:ext>
                </a:extLst>
              </p:cNvPr>
              <p:cNvSpPr txBox="1"/>
              <p:nvPr/>
            </p:nvSpPr>
            <p:spPr>
              <a:xfrm>
                <a:off x="1505897" y="2222278"/>
                <a:ext cx="9921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∈{0, 1}</m:t>
                      </m:r>
                    </m:oMath>
                  </m:oMathPara>
                </a14:m>
                <a:endParaRPr lang="en-US" dirty="0"/>
              </a:p>
            </p:txBody>
          </p:sp>
        </mc:Choice>
        <mc:Fallback xmlns="">
          <p:sp>
            <p:nvSpPr>
              <p:cNvPr id="2" name="TextBox 1">
                <a:extLst>
                  <a:ext uri="{FF2B5EF4-FFF2-40B4-BE49-F238E27FC236}">
                    <a16:creationId xmlns:a16="http://schemas.microsoft.com/office/drawing/2014/main" id="{857B6311-B141-424D-8E3B-BA29E048C6DD}"/>
                  </a:ext>
                </a:extLst>
              </p:cNvPr>
              <p:cNvSpPr txBox="1">
                <a:spLocks noRot="1" noChangeAspect="1" noMove="1" noResize="1" noEditPoints="1" noAdjustHandles="1" noChangeArrowheads="1" noChangeShapeType="1" noTextEdit="1"/>
              </p:cNvSpPr>
              <p:nvPr/>
            </p:nvSpPr>
            <p:spPr>
              <a:xfrm>
                <a:off x="1505897" y="2222278"/>
                <a:ext cx="992195" cy="276999"/>
              </a:xfrm>
              <a:prstGeom prst="rect">
                <a:avLst/>
              </a:prstGeom>
              <a:blipFill>
                <a:blip r:embed="rId2"/>
                <a:stretch>
                  <a:fillRect l="-4294" t="-2222" r="-7975" b="-40000"/>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4241AC71-1AF1-4234-AEA6-2E3DB5038EF1}"/>
              </a:ext>
            </a:extLst>
          </p:cNvPr>
          <p:cNvSpPr/>
          <p:nvPr/>
        </p:nvSpPr>
        <p:spPr>
          <a:xfrm>
            <a:off x="983432" y="1655771"/>
            <a:ext cx="7633488" cy="329338"/>
          </a:xfrm>
          <a:prstGeom prst="rect">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Hypothesis Testing</a:t>
            </a:r>
          </a:p>
        </p:txBody>
      </p:sp>
      <p:grpSp>
        <p:nvGrpSpPr>
          <p:cNvPr id="8" name="Group 7">
            <a:extLst>
              <a:ext uri="{FF2B5EF4-FFF2-40B4-BE49-F238E27FC236}">
                <a16:creationId xmlns:a16="http://schemas.microsoft.com/office/drawing/2014/main" id="{A389F792-B8F8-45B1-8591-FD31B8623F7F}"/>
              </a:ext>
            </a:extLst>
          </p:cNvPr>
          <p:cNvGrpSpPr/>
          <p:nvPr/>
        </p:nvGrpSpPr>
        <p:grpSpPr>
          <a:xfrm>
            <a:off x="983432" y="2772209"/>
            <a:ext cx="7633488" cy="905061"/>
            <a:chOff x="983432" y="2772209"/>
            <a:chExt cx="7633488" cy="905061"/>
          </a:xfrm>
        </p:grpSpPr>
        <p:sp>
          <p:nvSpPr>
            <p:cNvPr id="48" name="Rectangle 47">
              <a:extLst>
                <a:ext uri="{FF2B5EF4-FFF2-40B4-BE49-F238E27FC236}">
                  <a16:creationId xmlns:a16="http://schemas.microsoft.com/office/drawing/2014/main" id="{C9AB5526-F517-459D-B09B-48A7FF7F8C6B}"/>
                </a:ext>
              </a:extLst>
            </p:cNvPr>
            <p:cNvSpPr/>
            <p:nvPr/>
          </p:nvSpPr>
          <p:spPr>
            <a:xfrm>
              <a:off x="983432" y="2772209"/>
              <a:ext cx="7633488" cy="329338"/>
            </a:xfrm>
            <a:prstGeom prst="rect">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Algorithmic Randomness</a:t>
              </a:r>
            </a:p>
          </p:txBody>
        </p:sp>
        <p:sp>
          <p:nvSpPr>
            <p:cNvPr id="7" name="TextBox 6">
              <a:extLst>
                <a:ext uri="{FF2B5EF4-FFF2-40B4-BE49-F238E27FC236}">
                  <a16:creationId xmlns:a16="http://schemas.microsoft.com/office/drawing/2014/main" id="{458AC466-FAC3-416F-80E8-9D522BEE668A}"/>
                </a:ext>
              </a:extLst>
            </p:cNvPr>
            <p:cNvSpPr txBox="1"/>
            <p:nvPr/>
          </p:nvSpPr>
          <p:spPr>
            <a:xfrm>
              <a:off x="1458599" y="3277160"/>
              <a:ext cx="3528392" cy="400110"/>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Nonconformity Score</a:t>
              </a:r>
            </a:p>
          </p:txBody>
        </p:sp>
      </p:grpSp>
      <p:grpSp>
        <p:nvGrpSpPr>
          <p:cNvPr id="9" name="Group 8">
            <a:extLst>
              <a:ext uri="{FF2B5EF4-FFF2-40B4-BE49-F238E27FC236}">
                <a16:creationId xmlns:a16="http://schemas.microsoft.com/office/drawing/2014/main" id="{94C3F266-8BFA-4B10-9BFD-C8537174A3E5}"/>
              </a:ext>
            </a:extLst>
          </p:cNvPr>
          <p:cNvGrpSpPr/>
          <p:nvPr/>
        </p:nvGrpSpPr>
        <p:grpSpPr>
          <a:xfrm>
            <a:off x="983432" y="3852884"/>
            <a:ext cx="7633488" cy="905062"/>
            <a:chOff x="983432" y="3852884"/>
            <a:chExt cx="7633488" cy="905062"/>
          </a:xfrm>
        </p:grpSpPr>
        <p:sp>
          <p:nvSpPr>
            <p:cNvPr id="52" name="Rectangle 51">
              <a:extLst>
                <a:ext uri="{FF2B5EF4-FFF2-40B4-BE49-F238E27FC236}">
                  <a16:creationId xmlns:a16="http://schemas.microsoft.com/office/drawing/2014/main" id="{8410C517-BB9B-49FB-A93A-F21C6B6643AA}"/>
                </a:ext>
              </a:extLst>
            </p:cNvPr>
            <p:cNvSpPr/>
            <p:nvPr/>
          </p:nvSpPr>
          <p:spPr>
            <a:xfrm>
              <a:off x="983432" y="3852884"/>
              <a:ext cx="7633488" cy="329338"/>
            </a:xfrm>
            <a:prstGeom prst="rect">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Transductive Inference</a:t>
              </a:r>
            </a:p>
          </p:txBody>
        </p:sp>
        <p:sp>
          <p:nvSpPr>
            <p:cNvPr id="12" name="TextBox 11">
              <a:extLst>
                <a:ext uri="{FF2B5EF4-FFF2-40B4-BE49-F238E27FC236}">
                  <a16:creationId xmlns:a16="http://schemas.microsoft.com/office/drawing/2014/main" id="{B523CC84-35B0-42D2-B33D-A5CE0B5B1198}"/>
                </a:ext>
              </a:extLst>
            </p:cNvPr>
            <p:cNvSpPr txBox="1"/>
            <p:nvPr/>
          </p:nvSpPr>
          <p:spPr>
            <a:xfrm>
              <a:off x="1458599" y="4357836"/>
              <a:ext cx="3528392" cy="400110"/>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rPr>
                <a:t>Confidence and Credibility</a:t>
              </a:r>
            </a:p>
          </p:txBody>
        </p:sp>
      </p:grpSp>
    </p:spTree>
    <p:extLst>
      <p:ext uri="{BB962C8B-B14F-4D97-AF65-F5344CB8AC3E}">
        <p14:creationId xmlns:p14="http://schemas.microsoft.com/office/powerpoint/2010/main" val="34269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AC99B06-13A6-45D1-B09D-7E10BECC29D5}"/>
              </a:ext>
            </a:extLst>
          </p:cNvPr>
          <p:cNvSpPr>
            <a:spLocks noGrp="1"/>
          </p:cNvSpPr>
          <p:nvPr>
            <p:ph type="title"/>
          </p:nvPr>
        </p:nvSpPr>
        <p:spPr/>
        <p:txBody>
          <a:bodyPr/>
          <a:lstStyle/>
          <a:p>
            <a:r>
              <a:rPr lang="en-US" dirty="0"/>
              <a:t>Exchangeability Test</a:t>
            </a:r>
          </a:p>
        </p:txBody>
      </p:sp>
      <p:sp>
        <p:nvSpPr>
          <p:cNvPr id="3" name="Slide Number Placeholder 2">
            <a:extLst>
              <a:ext uri="{FF2B5EF4-FFF2-40B4-BE49-F238E27FC236}">
                <a16:creationId xmlns:a16="http://schemas.microsoft.com/office/drawing/2014/main" id="{F5FC2BA9-92FA-4A87-9357-62CD3BA6399B}"/>
              </a:ext>
            </a:extLst>
          </p:cNvPr>
          <p:cNvSpPr>
            <a:spLocks noGrp="1"/>
          </p:cNvSpPr>
          <p:nvPr>
            <p:ph type="sldNum" sz="quarter" idx="4"/>
          </p:nvPr>
        </p:nvSpPr>
        <p:spPr/>
        <p:txBody>
          <a:bodyPr/>
          <a:lstStyle/>
          <a:p>
            <a:fld id="{D57F1E4F-1CFF-5643-939E-217C01CDF565}" type="slidenum">
              <a:rPr lang="en-US" smtClean="0"/>
              <a:pPr/>
              <a:t>10</a:t>
            </a:fld>
            <a:endParaRPr lang="en-US" dirty="0"/>
          </a:p>
        </p:txBody>
      </p:sp>
      <p:grpSp>
        <p:nvGrpSpPr>
          <p:cNvPr id="37" name="Group 36">
            <a:extLst>
              <a:ext uri="{FF2B5EF4-FFF2-40B4-BE49-F238E27FC236}">
                <a16:creationId xmlns:a16="http://schemas.microsoft.com/office/drawing/2014/main" id="{7FF974C7-3522-438A-B66B-3CE60E52A959}"/>
              </a:ext>
            </a:extLst>
          </p:cNvPr>
          <p:cNvGrpSpPr/>
          <p:nvPr/>
        </p:nvGrpSpPr>
        <p:grpSpPr>
          <a:xfrm>
            <a:off x="684482" y="1376310"/>
            <a:ext cx="10785274" cy="4370294"/>
            <a:chOff x="684482" y="1376310"/>
            <a:chExt cx="10785274" cy="4370294"/>
          </a:xfrm>
        </p:grpSpPr>
        <p:pic>
          <p:nvPicPr>
            <p:cNvPr id="4" name="Picture 3" descr="A screenshot of a cell phone&#10;&#10;Description automatically generated">
              <a:extLst>
                <a:ext uri="{FF2B5EF4-FFF2-40B4-BE49-F238E27FC236}">
                  <a16:creationId xmlns:a16="http://schemas.microsoft.com/office/drawing/2014/main" id="{052659A8-C25F-4914-963F-5BC25524FC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482" y="1376310"/>
              <a:ext cx="3744416" cy="3975119"/>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62F937D6-5FD4-44D0-A754-643AC0A1D8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9674" y="1732557"/>
              <a:ext cx="3327410" cy="3443636"/>
            </a:xfrm>
            <a:prstGeom prst="rect">
              <a:avLst/>
            </a:prstGeom>
          </p:spPr>
        </p:pic>
        <p:pic>
          <p:nvPicPr>
            <p:cNvPr id="33" name="Picture 32" descr="A screenshot of a cell phone&#10;&#10;Description automatically generated">
              <a:extLst>
                <a:ext uri="{FF2B5EF4-FFF2-40B4-BE49-F238E27FC236}">
                  <a16:creationId xmlns:a16="http://schemas.microsoft.com/office/drawing/2014/main" id="{057620AC-7295-493D-8E15-6EE48A68A4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2346" y="1745809"/>
              <a:ext cx="3327410" cy="3425964"/>
            </a:xfrm>
            <a:prstGeom prst="rect">
              <a:avLst/>
            </a:prstGeom>
          </p:spPr>
        </p:pic>
        <p:sp>
          <p:nvSpPr>
            <p:cNvPr id="34" name="TextBox 33">
              <a:extLst>
                <a:ext uri="{FF2B5EF4-FFF2-40B4-BE49-F238E27FC236}">
                  <a16:creationId xmlns:a16="http://schemas.microsoft.com/office/drawing/2014/main" id="{C2547D02-1829-45DD-B54F-72039F134B9A}"/>
                </a:ext>
              </a:extLst>
            </p:cNvPr>
            <p:cNvSpPr txBox="1"/>
            <p:nvPr/>
          </p:nvSpPr>
          <p:spPr>
            <a:xfrm>
              <a:off x="1631504" y="5346494"/>
              <a:ext cx="3252435" cy="400110"/>
            </a:xfrm>
            <a:prstGeom prst="rect">
              <a:avLst/>
            </a:prstGeom>
            <a:noFill/>
          </p:spPr>
          <p:txBody>
            <a:bodyPr wrap="square" rtlCol="0">
              <a:spAutoFit/>
            </a:bodyPr>
            <a:lstStyle/>
            <a:p>
              <a:r>
                <a:rPr lang="en-US" sz="2000" dirty="0">
                  <a:solidFill>
                    <a:schemeClr val="bg2">
                      <a:lumMod val="50000"/>
                    </a:schemeClr>
                  </a:solidFill>
                  <a:latin typeface="Calibri" panose="020F0502020204030204" pitchFamily="34" charset="0"/>
                  <a:ea typeface="+mj-ea"/>
                  <a:cs typeface="Calibri" panose="020F0502020204030204" pitchFamily="34" charset="0"/>
                </a:rPr>
                <a:t>Exchangeable</a:t>
              </a:r>
            </a:p>
          </p:txBody>
        </p:sp>
        <p:sp>
          <p:nvSpPr>
            <p:cNvPr id="35" name="TextBox 34">
              <a:extLst>
                <a:ext uri="{FF2B5EF4-FFF2-40B4-BE49-F238E27FC236}">
                  <a16:creationId xmlns:a16="http://schemas.microsoft.com/office/drawing/2014/main" id="{6CEB29BF-8BDA-43C6-A821-1236BD272EBD}"/>
                </a:ext>
              </a:extLst>
            </p:cNvPr>
            <p:cNvSpPr txBox="1"/>
            <p:nvPr/>
          </p:nvSpPr>
          <p:spPr>
            <a:xfrm>
              <a:off x="5459444" y="5341784"/>
              <a:ext cx="3252435" cy="400110"/>
            </a:xfrm>
            <a:prstGeom prst="rect">
              <a:avLst/>
            </a:prstGeom>
            <a:noFill/>
          </p:spPr>
          <p:txBody>
            <a:bodyPr wrap="square" rtlCol="0">
              <a:spAutoFit/>
            </a:bodyPr>
            <a:lstStyle/>
            <a:p>
              <a:r>
                <a:rPr lang="en-US" sz="2000" dirty="0">
                  <a:solidFill>
                    <a:schemeClr val="bg2">
                      <a:lumMod val="50000"/>
                    </a:schemeClr>
                  </a:solidFill>
                  <a:latin typeface="Calibri" panose="020F0502020204030204" pitchFamily="34" charset="0"/>
                  <a:ea typeface="+mj-ea"/>
                  <a:cs typeface="Calibri" panose="020F0502020204030204" pitchFamily="34" charset="0"/>
                </a:rPr>
                <a:t>Exchangeable</a:t>
              </a:r>
            </a:p>
          </p:txBody>
        </p:sp>
      </p:grpSp>
      <p:sp>
        <p:nvSpPr>
          <p:cNvPr id="36" name="TextBox 35">
            <a:extLst>
              <a:ext uri="{FF2B5EF4-FFF2-40B4-BE49-F238E27FC236}">
                <a16:creationId xmlns:a16="http://schemas.microsoft.com/office/drawing/2014/main" id="{6AF9C775-2CAF-409C-B742-0F0137453C8A}"/>
              </a:ext>
            </a:extLst>
          </p:cNvPr>
          <p:cNvSpPr txBox="1"/>
          <p:nvPr/>
        </p:nvSpPr>
        <p:spPr>
          <a:xfrm>
            <a:off x="8892237" y="5341784"/>
            <a:ext cx="3252435" cy="400110"/>
          </a:xfrm>
          <a:prstGeom prst="rect">
            <a:avLst/>
          </a:prstGeom>
          <a:noFill/>
        </p:spPr>
        <p:txBody>
          <a:bodyPr wrap="square" rtlCol="0">
            <a:spAutoFit/>
          </a:bodyPr>
          <a:lstStyle/>
          <a:p>
            <a:r>
              <a:rPr lang="en-US" sz="2000" dirty="0">
                <a:solidFill>
                  <a:schemeClr val="bg2">
                    <a:lumMod val="50000"/>
                  </a:schemeClr>
                </a:solidFill>
                <a:latin typeface="Calibri" panose="020F0502020204030204" pitchFamily="34" charset="0"/>
                <a:ea typeface="+mj-ea"/>
                <a:cs typeface="Calibri" panose="020F0502020204030204" pitchFamily="34" charset="0"/>
              </a:rPr>
              <a:t>Non-Exchangeable</a:t>
            </a:r>
          </a:p>
        </p:txBody>
      </p:sp>
    </p:spTree>
    <p:extLst>
      <p:ext uri="{BB962C8B-B14F-4D97-AF65-F5344CB8AC3E}">
        <p14:creationId xmlns:p14="http://schemas.microsoft.com/office/powerpoint/2010/main" val="3342898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A38DCC-2CC6-41ED-AC6E-B13B1D19780A}"/>
              </a:ext>
            </a:extLst>
          </p:cNvPr>
          <p:cNvSpPr>
            <a:spLocks noGrp="1"/>
          </p:cNvSpPr>
          <p:nvPr>
            <p:ph type="sldNum" sz="quarter" idx="4"/>
          </p:nvPr>
        </p:nvSpPr>
        <p:spPr/>
        <p:txBody>
          <a:bodyPr/>
          <a:lstStyle/>
          <a:p>
            <a:fld id="{D57F1E4F-1CFF-5643-939E-217C01CDF565}" type="slidenum">
              <a:rPr lang="en-US" smtClean="0"/>
              <a:pPr/>
              <a:t>11</a:t>
            </a:fld>
            <a:endParaRPr lang="en-US" dirty="0"/>
          </a:p>
        </p:txBody>
      </p:sp>
      <p:grpSp>
        <p:nvGrpSpPr>
          <p:cNvPr id="9" name="Group 8">
            <a:extLst>
              <a:ext uri="{FF2B5EF4-FFF2-40B4-BE49-F238E27FC236}">
                <a16:creationId xmlns:a16="http://schemas.microsoft.com/office/drawing/2014/main" id="{77FBBCCE-1DDC-4B9E-B556-F43067BDC504}"/>
              </a:ext>
            </a:extLst>
          </p:cNvPr>
          <p:cNvGrpSpPr/>
          <p:nvPr/>
        </p:nvGrpSpPr>
        <p:grpSpPr>
          <a:xfrm>
            <a:off x="5013111" y="2629118"/>
            <a:ext cx="2165777" cy="1599764"/>
            <a:chOff x="8460096" y="2110253"/>
            <a:chExt cx="2165777" cy="1599764"/>
          </a:xfrm>
        </p:grpSpPr>
        <p:cxnSp>
          <p:nvCxnSpPr>
            <p:cNvPr id="11" name="Straight Connector 10">
              <a:extLst>
                <a:ext uri="{FF2B5EF4-FFF2-40B4-BE49-F238E27FC236}">
                  <a16:creationId xmlns:a16="http://schemas.microsoft.com/office/drawing/2014/main" id="{B93725F6-0F93-41EC-B8DC-7F2D511700D9}"/>
                </a:ext>
              </a:extLst>
            </p:cNvPr>
            <p:cNvCxnSpPr/>
            <p:nvPr/>
          </p:nvCxnSpPr>
          <p:spPr>
            <a:xfrm>
              <a:off x="8520589" y="3710017"/>
              <a:ext cx="2103120" cy="0"/>
            </a:xfrm>
            <a:prstGeom prst="line">
              <a:avLst/>
            </a:prstGeom>
            <a:ln w="19050" cap="sq">
              <a:solidFill>
                <a:srgbClr val="E18015"/>
              </a:solidFill>
              <a:miter lim="800000"/>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7197C98-E623-4677-9A74-8CF7749E8154}"/>
                </a:ext>
              </a:extLst>
            </p:cNvPr>
            <p:cNvSpPr/>
            <p:nvPr/>
          </p:nvSpPr>
          <p:spPr>
            <a:xfrm>
              <a:off x="8460096" y="2925827"/>
              <a:ext cx="2165777" cy="457200"/>
            </a:xfrm>
            <a:prstGeom prst="rect">
              <a:avLst/>
            </a:prstGeom>
            <a:noFill/>
            <a:ln w="6350">
              <a:noFill/>
            </a:ln>
            <a:effectLst/>
          </p:spPr>
          <p:txBody>
            <a:bodyPr wrap="square" lIns="0" tIns="91440" rIns="0" bIns="91440" rtlCol="0" anchor="t">
              <a:noAutofit/>
            </a:bodyPr>
            <a:lstStyle/>
            <a:p>
              <a:pPr algn="ctr" fontAlgn="auto">
                <a:lnSpc>
                  <a:spcPct val="90000"/>
                </a:lnSpc>
                <a:spcBef>
                  <a:spcPts val="481"/>
                </a:spcBef>
                <a:spcAft>
                  <a:spcPts val="0"/>
                </a:spcAft>
                <a:defRPr/>
              </a:pPr>
              <a:r>
                <a:rPr lang="en-US" sz="2800" dirty="0">
                  <a:solidFill>
                    <a:srgbClr val="E18015"/>
                  </a:solidFill>
                  <a:latin typeface="Calibri" panose="020F0502020204030204" pitchFamily="34" charset="0"/>
                  <a:cs typeface="Calibri" panose="020F0502020204030204" pitchFamily="34" charset="0"/>
                </a:rPr>
                <a:t>Applications</a:t>
              </a:r>
            </a:p>
          </p:txBody>
        </p:sp>
        <p:grpSp>
          <p:nvGrpSpPr>
            <p:cNvPr id="13" name="Group 12">
              <a:extLst>
                <a:ext uri="{FF2B5EF4-FFF2-40B4-BE49-F238E27FC236}">
                  <a16:creationId xmlns:a16="http://schemas.microsoft.com/office/drawing/2014/main" id="{4B9049BD-7042-4E22-B94C-F62D20101CDC}"/>
                </a:ext>
              </a:extLst>
            </p:cNvPr>
            <p:cNvGrpSpPr/>
            <p:nvPr/>
          </p:nvGrpSpPr>
          <p:grpSpPr>
            <a:xfrm>
              <a:off x="9304250" y="2110253"/>
              <a:ext cx="536786" cy="533627"/>
              <a:chOff x="9455845" y="1836693"/>
              <a:chExt cx="371545" cy="408297"/>
            </a:xfrm>
          </p:grpSpPr>
          <p:grpSp>
            <p:nvGrpSpPr>
              <p:cNvPr id="14" name="Group 13">
                <a:extLst>
                  <a:ext uri="{FF2B5EF4-FFF2-40B4-BE49-F238E27FC236}">
                    <a16:creationId xmlns:a16="http://schemas.microsoft.com/office/drawing/2014/main" id="{A61AE5AC-E7D4-4BD6-87AB-5F537D6CD3E8}"/>
                  </a:ext>
                </a:extLst>
              </p:cNvPr>
              <p:cNvGrpSpPr/>
              <p:nvPr/>
            </p:nvGrpSpPr>
            <p:grpSpPr>
              <a:xfrm rot="18518331">
                <a:off x="9341854" y="1950684"/>
                <a:ext cx="408297" cy="180316"/>
                <a:chOff x="5365974" y="929552"/>
                <a:chExt cx="958623" cy="306629"/>
              </a:xfrm>
            </p:grpSpPr>
            <p:sp>
              <p:nvSpPr>
                <p:cNvPr id="16" name="Flowchart: Stored Data 15">
                  <a:extLst>
                    <a:ext uri="{FF2B5EF4-FFF2-40B4-BE49-F238E27FC236}">
                      <a16:creationId xmlns:a16="http://schemas.microsoft.com/office/drawing/2014/main" id="{A0B591EF-FAC6-454A-9FC2-AC95EEF7C4C2}"/>
                    </a:ext>
                  </a:extLst>
                </p:cNvPr>
                <p:cNvSpPr/>
                <p:nvPr/>
              </p:nvSpPr>
              <p:spPr>
                <a:xfrm>
                  <a:off x="5365974" y="929552"/>
                  <a:ext cx="492103" cy="306629"/>
                </a:xfrm>
                <a:prstGeom prst="flowChartOnlineStorage">
                  <a:avLst/>
                </a:prstGeom>
                <a:noFill/>
                <a:ln w="12700" cmpd="sng">
                  <a:solidFill>
                    <a:srgbClr val="E18015"/>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rgbClr val="FFC000"/>
                    </a:solidFill>
                    <a:latin typeface="+mn-lt"/>
                  </a:endParaRPr>
                </a:p>
              </p:txBody>
            </p:sp>
            <p:sp>
              <p:nvSpPr>
                <p:cNvPr id="17" name="Flowchart: Stored Data 16">
                  <a:extLst>
                    <a:ext uri="{FF2B5EF4-FFF2-40B4-BE49-F238E27FC236}">
                      <a16:creationId xmlns:a16="http://schemas.microsoft.com/office/drawing/2014/main" id="{7D2EF6D2-EF3D-4DF2-9F91-3EA702F56349}"/>
                    </a:ext>
                  </a:extLst>
                </p:cNvPr>
                <p:cNvSpPr/>
                <p:nvPr/>
              </p:nvSpPr>
              <p:spPr>
                <a:xfrm flipH="1">
                  <a:off x="5832494" y="929552"/>
                  <a:ext cx="492103" cy="306629"/>
                </a:xfrm>
                <a:prstGeom prst="flowChartOnlineStorage">
                  <a:avLst/>
                </a:prstGeom>
                <a:noFill/>
                <a:ln w="12700" cmpd="sng">
                  <a:solidFill>
                    <a:srgbClr val="E18015"/>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rgbClr val="FFC000"/>
                    </a:solidFill>
                    <a:latin typeface="+mn-lt"/>
                  </a:endParaRPr>
                </a:p>
              </p:txBody>
            </p:sp>
          </p:grpSp>
          <p:sp>
            <p:nvSpPr>
              <p:cNvPr id="15" name="Flowchart: Magnetic Disk 14">
                <a:extLst>
                  <a:ext uri="{FF2B5EF4-FFF2-40B4-BE49-F238E27FC236}">
                    <a16:creationId xmlns:a16="http://schemas.microsoft.com/office/drawing/2014/main" id="{7FA82129-1D5E-4027-900A-6C7BC32880AD}"/>
                  </a:ext>
                </a:extLst>
              </p:cNvPr>
              <p:cNvSpPr/>
              <p:nvPr/>
            </p:nvSpPr>
            <p:spPr>
              <a:xfrm>
                <a:off x="9583037" y="2118444"/>
                <a:ext cx="244353" cy="106097"/>
              </a:xfrm>
              <a:prstGeom prst="flowChartMagneticDisk">
                <a:avLst/>
              </a:prstGeom>
              <a:noFill/>
              <a:ln w="12700" cmpd="sng">
                <a:solidFill>
                  <a:srgbClr val="E18015"/>
                </a:solidFill>
              </a:ln>
              <a:effectLst/>
            </p:spPr>
            <p:txBody>
              <a:bodyPr wrap="square" lIns="182880" tIns="137160" rIns="137160" bIns="137160" rtlCol="0" anchor="ctr">
                <a:noAutofit/>
              </a:bodyPr>
              <a:lstStyle/>
              <a:p>
                <a:pPr algn="ctr">
                  <a:lnSpc>
                    <a:spcPct val="90000"/>
                  </a:lnSpc>
                  <a:spcBef>
                    <a:spcPts val="600"/>
                  </a:spcBef>
                  <a:spcAft>
                    <a:spcPts val="0"/>
                  </a:spcAft>
                </a:pPr>
                <a:endParaRPr lang="en-US" sz="2000" dirty="0" err="1">
                  <a:solidFill>
                    <a:srgbClr val="FFC000"/>
                  </a:solidFill>
                  <a:latin typeface="+mn-lt"/>
                </a:endParaRPr>
              </a:p>
            </p:txBody>
          </p:sp>
        </p:grpSp>
      </p:grpSp>
    </p:spTree>
    <p:extLst>
      <p:ext uri="{BB962C8B-B14F-4D97-AF65-F5344CB8AC3E}">
        <p14:creationId xmlns:p14="http://schemas.microsoft.com/office/powerpoint/2010/main" val="1929599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FCD4C-6DD1-43E4-B909-D8D0E9EA5DCB}"/>
              </a:ext>
            </a:extLst>
          </p:cNvPr>
          <p:cNvSpPr>
            <a:spLocks noGrp="1"/>
          </p:cNvSpPr>
          <p:nvPr>
            <p:ph type="title"/>
          </p:nvPr>
        </p:nvSpPr>
        <p:spPr/>
        <p:txBody>
          <a:bodyPr/>
          <a:lstStyle/>
          <a:p>
            <a:r>
              <a:rPr lang="en-US" dirty="0"/>
              <a:t>Disk Drive reliability</a:t>
            </a:r>
          </a:p>
        </p:txBody>
      </p:sp>
      <p:sp>
        <p:nvSpPr>
          <p:cNvPr id="3" name="Slide Number Placeholder 2">
            <a:extLst>
              <a:ext uri="{FF2B5EF4-FFF2-40B4-BE49-F238E27FC236}">
                <a16:creationId xmlns:a16="http://schemas.microsoft.com/office/drawing/2014/main" id="{5C44593B-DF6D-47FE-80FC-B9B54BF26FBE}"/>
              </a:ext>
            </a:extLst>
          </p:cNvPr>
          <p:cNvSpPr>
            <a:spLocks noGrp="1"/>
          </p:cNvSpPr>
          <p:nvPr>
            <p:ph type="sldNum" sz="quarter" idx="4"/>
          </p:nvPr>
        </p:nvSpPr>
        <p:spPr/>
        <p:txBody>
          <a:bodyPr/>
          <a:lstStyle/>
          <a:p>
            <a:fld id="{D57F1E4F-1CFF-5643-939E-217C01CDF565}" type="slidenum">
              <a:rPr lang="en-US" smtClean="0"/>
              <a:pPr/>
              <a:t>12</a:t>
            </a:fld>
            <a:endParaRPr lang="en-US" dirty="0"/>
          </a:p>
        </p:txBody>
      </p:sp>
      <p:pic>
        <p:nvPicPr>
          <p:cNvPr id="9" name="Picture 8" descr="A close up of a map&#10;&#10;Description automatically generated">
            <a:extLst>
              <a:ext uri="{FF2B5EF4-FFF2-40B4-BE49-F238E27FC236}">
                <a16:creationId xmlns:a16="http://schemas.microsoft.com/office/drawing/2014/main" id="{C0410034-04DF-4A3A-BBE8-A206BEB2E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384" y="1254246"/>
            <a:ext cx="5112568" cy="4458239"/>
          </a:xfrm>
          <a:prstGeom prst="rect">
            <a:avLst/>
          </a:prstGeom>
        </p:spPr>
      </p:pic>
      <p:sp>
        <p:nvSpPr>
          <p:cNvPr id="78" name="TextBox 77">
            <a:extLst>
              <a:ext uri="{FF2B5EF4-FFF2-40B4-BE49-F238E27FC236}">
                <a16:creationId xmlns:a16="http://schemas.microsoft.com/office/drawing/2014/main" id="{08778101-35F2-4BD8-842B-36FD1BB8CCA3}"/>
              </a:ext>
            </a:extLst>
          </p:cNvPr>
          <p:cNvSpPr txBox="1"/>
          <p:nvPr/>
        </p:nvSpPr>
        <p:spPr>
          <a:xfrm>
            <a:off x="6562578" y="1254246"/>
            <a:ext cx="4911120" cy="3631763"/>
          </a:xfrm>
          <a:prstGeom prst="rect">
            <a:avLst/>
          </a:prstGeom>
          <a:noFill/>
        </p:spPr>
        <p:txBody>
          <a:bodyPr wrap="square" rtlCol="0">
            <a:spAutoFit/>
          </a:bodyPr>
          <a:lstStyle/>
          <a:p>
            <a:pPr>
              <a:spcBef>
                <a:spcPct val="0"/>
              </a:spcBef>
            </a:pPr>
            <a:r>
              <a:rPr lang="en-US" dirty="0">
                <a:solidFill>
                  <a:schemeClr val="bg2">
                    <a:lumMod val="50000"/>
                  </a:schemeClr>
                </a:solidFill>
                <a:latin typeface="Calibri" panose="020F0502020204030204" pitchFamily="34" charset="0"/>
                <a:ea typeface="+mj-ea"/>
                <a:cs typeface="Calibri" panose="020F0502020204030204" pitchFamily="34" charset="0"/>
              </a:rPr>
              <a:t>Given </a:t>
            </a:r>
          </a:p>
          <a:p>
            <a:pPr marL="742950" lvl="1" indent="-285750">
              <a:spcBef>
                <a:spcPct val="0"/>
              </a:spcBef>
              <a:buFont typeface="Arial" panose="020B0604020202020204" pitchFamily="34" charset="0"/>
              <a:buChar char="•"/>
            </a:pPr>
            <a:r>
              <a:rPr lang="en-US" dirty="0">
                <a:solidFill>
                  <a:schemeClr val="bg2">
                    <a:lumMod val="50000"/>
                  </a:schemeClr>
                </a:solidFill>
                <a:latin typeface="Calibri" panose="020F0502020204030204" pitchFamily="34" charset="0"/>
                <a:ea typeface="+mj-ea"/>
                <a:cs typeface="Calibri" panose="020F0502020204030204" pitchFamily="34" charset="0"/>
              </a:rPr>
              <a:t>Disk Drives dataset</a:t>
            </a:r>
          </a:p>
          <a:p>
            <a:pPr>
              <a:spcBef>
                <a:spcPct val="0"/>
              </a:spcBef>
            </a:pPr>
            <a:endParaRPr lang="en-US" dirty="0">
              <a:solidFill>
                <a:schemeClr val="bg2">
                  <a:lumMod val="50000"/>
                </a:schemeClr>
              </a:solidFill>
              <a:latin typeface="Calibri" panose="020F0502020204030204" pitchFamily="34" charset="0"/>
              <a:ea typeface="+mj-ea"/>
              <a:cs typeface="Calibri" panose="020F0502020204030204" pitchFamily="34" charset="0"/>
            </a:endParaRPr>
          </a:p>
          <a:p>
            <a:pPr>
              <a:spcBef>
                <a:spcPct val="0"/>
              </a:spcBef>
            </a:pPr>
            <a:r>
              <a:rPr lang="en-US" dirty="0">
                <a:solidFill>
                  <a:schemeClr val="bg2">
                    <a:lumMod val="50000"/>
                  </a:schemeClr>
                </a:solidFill>
                <a:latin typeface="Calibri" panose="020F0502020204030204" pitchFamily="34" charset="0"/>
                <a:ea typeface="+mj-ea"/>
                <a:cs typeface="Calibri" panose="020F0502020204030204" pitchFamily="34" charset="0"/>
              </a:rPr>
              <a:t>Predict </a:t>
            </a:r>
          </a:p>
          <a:p>
            <a:pPr marL="742950" lvl="1" indent="-285750">
              <a:spcBef>
                <a:spcPct val="0"/>
              </a:spcBef>
              <a:buFont typeface="Arial" panose="020B0604020202020204" pitchFamily="34" charset="0"/>
              <a:buChar char="•"/>
            </a:pPr>
            <a:r>
              <a:rPr lang="en-US" dirty="0">
                <a:solidFill>
                  <a:schemeClr val="bg2">
                    <a:lumMod val="50000"/>
                  </a:schemeClr>
                </a:solidFill>
                <a:latin typeface="Calibri" panose="020F0502020204030204" pitchFamily="34" charset="0"/>
                <a:ea typeface="+mj-ea"/>
                <a:cs typeface="Calibri" panose="020F0502020204030204" pitchFamily="34" charset="0"/>
              </a:rPr>
              <a:t>Label of new Disk </a:t>
            </a:r>
          </a:p>
          <a:p>
            <a:pPr lvl="1">
              <a:spcBef>
                <a:spcPct val="0"/>
              </a:spcBef>
            </a:pPr>
            <a:endParaRPr lang="en-US" dirty="0">
              <a:solidFill>
                <a:schemeClr val="bg2">
                  <a:lumMod val="50000"/>
                </a:schemeClr>
              </a:solidFill>
              <a:latin typeface="Calibri" panose="020F0502020204030204" pitchFamily="34" charset="0"/>
              <a:ea typeface="+mj-ea"/>
              <a:cs typeface="Calibri" panose="020F0502020204030204" pitchFamily="34" charset="0"/>
            </a:endParaRPr>
          </a:p>
          <a:p>
            <a:pPr>
              <a:spcBef>
                <a:spcPct val="0"/>
              </a:spcBef>
            </a:pPr>
            <a:r>
              <a:rPr lang="en-US" dirty="0">
                <a:solidFill>
                  <a:schemeClr val="bg2">
                    <a:lumMod val="50000"/>
                  </a:schemeClr>
                </a:solidFill>
                <a:latin typeface="Calibri" panose="020F0502020204030204" pitchFamily="34" charset="0"/>
                <a:ea typeface="+mj-ea"/>
                <a:cs typeface="Calibri" panose="020F0502020204030204" pitchFamily="34" charset="0"/>
              </a:rPr>
              <a:t>Model</a:t>
            </a:r>
          </a:p>
          <a:p>
            <a:pPr marL="742950" lvl="1" indent="-285750">
              <a:spcBef>
                <a:spcPct val="0"/>
              </a:spcBef>
              <a:buFont typeface="Arial" panose="020B0604020202020204" pitchFamily="34" charset="0"/>
              <a:buChar char="•"/>
            </a:pPr>
            <a:r>
              <a:rPr lang="en-US" dirty="0">
                <a:solidFill>
                  <a:schemeClr val="bg2">
                    <a:lumMod val="50000"/>
                  </a:schemeClr>
                </a:solidFill>
                <a:latin typeface="Calibri" panose="020F0502020204030204" pitchFamily="34" charset="0"/>
                <a:ea typeface="+mj-ea"/>
                <a:cs typeface="Calibri" panose="020F0502020204030204" pitchFamily="34" charset="0"/>
              </a:rPr>
              <a:t>K-Nearest Neighbor (k =1)</a:t>
            </a:r>
          </a:p>
          <a:p>
            <a:pPr>
              <a:spcBef>
                <a:spcPct val="0"/>
              </a:spcBef>
            </a:pPr>
            <a:endParaRPr lang="en-US" dirty="0">
              <a:solidFill>
                <a:schemeClr val="bg2">
                  <a:lumMod val="50000"/>
                </a:schemeClr>
              </a:solidFill>
              <a:latin typeface="Calibri" panose="020F0502020204030204" pitchFamily="34" charset="0"/>
              <a:cs typeface="Calibri" panose="020F0502020204030204" pitchFamily="34" charset="0"/>
            </a:endParaRPr>
          </a:p>
          <a:p>
            <a:pPr>
              <a:spcBef>
                <a:spcPct val="0"/>
              </a:spcBef>
            </a:pPr>
            <a:r>
              <a:rPr lang="en-US" b="1" dirty="0">
                <a:solidFill>
                  <a:schemeClr val="bg2">
                    <a:lumMod val="50000"/>
                  </a:schemeClr>
                </a:solidFill>
                <a:latin typeface="Calibri" panose="020F0502020204030204" pitchFamily="34" charset="0"/>
                <a:cs typeface="Calibri" panose="020F0502020204030204" pitchFamily="34" charset="0"/>
              </a:rPr>
              <a:t>Uncertainty estimation </a:t>
            </a:r>
          </a:p>
          <a:p>
            <a:pPr marL="742950" lvl="1" indent="-285750">
              <a:spcBef>
                <a:spcPct val="0"/>
              </a:spcBef>
              <a:buFont typeface="Arial" panose="020B0604020202020204" pitchFamily="34" charset="0"/>
              <a:buChar char="•"/>
            </a:pPr>
            <a:r>
              <a:rPr lang="en-US" dirty="0">
                <a:solidFill>
                  <a:schemeClr val="bg2">
                    <a:lumMod val="50000"/>
                  </a:schemeClr>
                </a:solidFill>
                <a:latin typeface="Calibri" panose="020F0502020204030204" pitchFamily="34" charset="0"/>
                <a:cs typeface="Calibri" panose="020F0502020204030204" pitchFamily="34" charset="0"/>
              </a:rPr>
              <a:t>Confidence and Credibility </a:t>
            </a:r>
          </a:p>
          <a:p>
            <a:pPr marL="742950" lvl="1" indent="-285750">
              <a:spcBef>
                <a:spcPct val="0"/>
              </a:spcBef>
              <a:buFont typeface="Arial" panose="020B0604020202020204" pitchFamily="34" charset="0"/>
              <a:buChar char="•"/>
            </a:pPr>
            <a:endParaRPr lang="en-US" dirty="0">
              <a:solidFill>
                <a:schemeClr val="bg2">
                  <a:lumMod val="50000"/>
                </a:schemeClr>
              </a:solidFill>
              <a:latin typeface="Calibri" panose="020F0502020204030204" pitchFamily="34" charset="0"/>
              <a:ea typeface="+mj-ea"/>
              <a:cs typeface="Calibri" panose="020F0502020204030204" pitchFamily="34" charset="0"/>
            </a:endParaRPr>
          </a:p>
          <a:p>
            <a:pPr marL="742950" lvl="1"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242593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FCD4C-6DD1-43E4-B909-D8D0E9EA5DCB}"/>
              </a:ext>
            </a:extLst>
          </p:cNvPr>
          <p:cNvSpPr>
            <a:spLocks noGrp="1"/>
          </p:cNvSpPr>
          <p:nvPr>
            <p:ph type="title"/>
          </p:nvPr>
        </p:nvSpPr>
        <p:spPr/>
        <p:txBody>
          <a:bodyPr/>
          <a:lstStyle/>
          <a:p>
            <a:r>
              <a:rPr lang="en-US" dirty="0"/>
              <a:t>Nonconformity Score</a:t>
            </a:r>
          </a:p>
        </p:txBody>
      </p:sp>
      <p:sp>
        <p:nvSpPr>
          <p:cNvPr id="3" name="Slide Number Placeholder 2">
            <a:extLst>
              <a:ext uri="{FF2B5EF4-FFF2-40B4-BE49-F238E27FC236}">
                <a16:creationId xmlns:a16="http://schemas.microsoft.com/office/drawing/2014/main" id="{5C44593B-DF6D-47FE-80FC-B9B54BF26FBE}"/>
              </a:ext>
            </a:extLst>
          </p:cNvPr>
          <p:cNvSpPr>
            <a:spLocks noGrp="1"/>
          </p:cNvSpPr>
          <p:nvPr>
            <p:ph type="sldNum" sz="quarter" idx="4"/>
          </p:nvPr>
        </p:nvSpPr>
        <p:spPr/>
        <p:txBody>
          <a:bodyPr/>
          <a:lstStyle/>
          <a:p>
            <a:fld id="{D57F1E4F-1CFF-5643-939E-217C01CDF565}" type="slidenum">
              <a:rPr lang="en-US" smtClean="0"/>
              <a:pPr/>
              <a:t>13</a:t>
            </a:fld>
            <a:endParaRPr lang="en-US" dirty="0"/>
          </a:p>
        </p:txBody>
      </p:sp>
      <p:sp>
        <p:nvSpPr>
          <p:cNvPr id="76" name="TextBox 75">
            <a:extLst>
              <a:ext uri="{FF2B5EF4-FFF2-40B4-BE49-F238E27FC236}">
                <a16:creationId xmlns:a16="http://schemas.microsoft.com/office/drawing/2014/main" id="{E8A89D2B-5268-460C-9800-A59CDFCAE9E9}"/>
              </a:ext>
            </a:extLst>
          </p:cNvPr>
          <p:cNvSpPr txBox="1"/>
          <p:nvPr/>
        </p:nvSpPr>
        <p:spPr>
          <a:xfrm>
            <a:off x="8184232" y="2708920"/>
            <a:ext cx="9244082" cy="400110"/>
          </a:xfrm>
          <a:prstGeom prst="rect">
            <a:avLst/>
          </a:prstGeom>
          <a:noFill/>
        </p:spPr>
        <p:txBody>
          <a:bodyPr wrap="square" rtlCol="0">
            <a:spAutoFit/>
          </a:bodyPr>
          <a:lstStyle/>
          <a:p>
            <a:r>
              <a:rPr lang="en-US" sz="2000" dirty="0">
                <a:solidFill>
                  <a:schemeClr val="bg2">
                    <a:lumMod val="50000"/>
                  </a:schemeClr>
                </a:solidFill>
                <a:latin typeface="Calibri" panose="020F0502020204030204" pitchFamily="34" charset="0"/>
                <a:ea typeface="+mj-ea"/>
                <a:cs typeface="Calibri" panose="020F0502020204030204" pitchFamily="34" charset="0"/>
              </a:rPr>
              <a:t>Hypothesis A: Label </a:t>
            </a:r>
            <a:r>
              <a:rPr lang="en-US" sz="2000" dirty="0">
                <a:solidFill>
                  <a:srgbClr val="FF0000"/>
                </a:solidFill>
                <a:latin typeface="Calibri" panose="020F0502020204030204" pitchFamily="34" charset="0"/>
                <a:ea typeface="+mj-ea"/>
                <a:cs typeface="Calibri" panose="020F0502020204030204" pitchFamily="34" charset="0"/>
              </a:rPr>
              <a:t>Failed</a:t>
            </a:r>
            <a:endParaRPr lang="en-US" sz="2000" dirty="0">
              <a:solidFill>
                <a:schemeClr val="bg2">
                  <a:lumMod val="50000"/>
                </a:schemeClr>
              </a:solidFill>
              <a:latin typeface="Calibri" panose="020F0502020204030204" pitchFamily="34" charset="0"/>
              <a:ea typeface="+mj-ea"/>
              <a:cs typeface="Calibri" panose="020F0502020204030204" pitchFamily="34" charset="0"/>
            </a:endParaRPr>
          </a:p>
        </p:txBody>
      </p:sp>
      <p:pic>
        <p:nvPicPr>
          <p:cNvPr id="5" name="Picture 4" descr="A map with text&#10;&#10;Description automatically generated">
            <a:extLst>
              <a:ext uri="{FF2B5EF4-FFF2-40B4-BE49-F238E27FC236}">
                <a16:creationId xmlns:a16="http://schemas.microsoft.com/office/drawing/2014/main" id="{3E7F03F4-9296-4B00-9B3F-1CEDCAC7A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366" y="1296050"/>
            <a:ext cx="9244082" cy="4416435"/>
          </a:xfrm>
          <a:prstGeom prst="rect">
            <a:avLst/>
          </a:prstGeom>
        </p:spPr>
      </p:pic>
    </p:spTree>
    <p:extLst>
      <p:ext uri="{BB962C8B-B14F-4D97-AF65-F5344CB8AC3E}">
        <p14:creationId xmlns:p14="http://schemas.microsoft.com/office/powerpoint/2010/main" val="2124733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FCD4C-6DD1-43E4-B909-D8D0E9EA5DCB}"/>
              </a:ext>
            </a:extLst>
          </p:cNvPr>
          <p:cNvSpPr>
            <a:spLocks noGrp="1"/>
          </p:cNvSpPr>
          <p:nvPr>
            <p:ph type="title"/>
          </p:nvPr>
        </p:nvSpPr>
        <p:spPr/>
        <p:txBody>
          <a:bodyPr/>
          <a:lstStyle/>
          <a:p>
            <a:r>
              <a:rPr lang="en-US" dirty="0"/>
              <a:t>Nonconformity Score</a:t>
            </a:r>
          </a:p>
        </p:txBody>
      </p:sp>
      <p:sp>
        <p:nvSpPr>
          <p:cNvPr id="3" name="Slide Number Placeholder 2">
            <a:extLst>
              <a:ext uri="{FF2B5EF4-FFF2-40B4-BE49-F238E27FC236}">
                <a16:creationId xmlns:a16="http://schemas.microsoft.com/office/drawing/2014/main" id="{5C44593B-DF6D-47FE-80FC-B9B54BF26FBE}"/>
              </a:ext>
            </a:extLst>
          </p:cNvPr>
          <p:cNvSpPr>
            <a:spLocks noGrp="1"/>
          </p:cNvSpPr>
          <p:nvPr>
            <p:ph type="sldNum" sz="quarter" idx="4"/>
          </p:nvPr>
        </p:nvSpPr>
        <p:spPr/>
        <p:txBody>
          <a:bodyPr/>
          <a:lstStyle/>
          <a:p>
            <a:fld id="{D57F1E4F-1CFF-5643-939E-217C01CDF565}" type="slidenum">
              <a:rPr lang="en-US" smtClean="0"/>
              <a:pPr/>
              <a:t>14</a:t>
            </a:fld>
            <a:endParaRPr lang="en-US" dirty="0"/>
          </a:p>
        </p:txBody>
      </p:sp>
      <p:pic>
        <p:nvPicPr>
          <p:cNvPr id="77" name="Picture 76" descr="A map with text&#10;&#10;Description automatically generated">
            <a:extLst>
              <a:ext uri="{FF2B5EF4-FFF2-40B4-BE49-F238E27FC236}">
                <a16:creationId xmlns:a16="http://schemas.microsoft.com/office/drawing/2014/main" id="{FBACC52E-31E3-41DE-AE27-99E213369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131" y="1284539"/>
            <a:ext cx="9255317" cy="4421802"/>
          </a:xfrm>
          <a:prstGeom prst="rect">
            <a:avLst/>
          </a:prstGeom>
        </p:spPr>
      </p:pic>
      <p:sp>
        <p:nvSpPr>
          <p:cNvPr id="6" name="TextBox 5">
            <a:extLst>
              <a:ext uri="{FF2B5EF4-FFF2-40B4-BE49-F238E27FC236}">
                <a16:creationId xmlns:a16="http://schemas.microsoft.com/office/drawing/2014/main" id="{D43CBE16-D6B3-44D2-800C-A4EFDF4EC2C2}"/>
              </a:ext>
            </a:extLst>
          </p:cNvPr>
          <p:cNvSpPr txBox="1"/>
          <p:nvPr/>
        </p:nvSpPr>
        <p:spPr>
          <a:xfrm>
            <a:off x="8184232" y="2708920"/>
            <a:ext cx="9244082" cy="400110"/>
          </a:xfrm>
          <a:prstGeom prst="rect">
            <a:avLst/>
          </a:prstGeom>
          <a:noFill/>
        </p:spPr>
        <p:txBody>
          <a:bodyPr wrap="square" rtlCol="0">
            <a:spAutoFit/>
          </a:bodyPr>
          <a:lstStyle/>
          <a:p>
            <a:r>
              <a:rPr lang="en-US" sz="2000" dirty="0">
                <a:solidFill>
                  <a:schemeClr val="bg2">
                    <a:lumMod val="50000"/>
                  </a:schemeClr>
                </a:solidFill>
                <a:latin typeface="Calibri" panose="020F0502020204030204" pitchFamily="34" charset="0"/>
                <a:ea typeface="+mj-ea"/>
                <a:cs typeface="Calibri" panose="020F0502020204030204" pitchFamily="34" charset="0"/>
              </a:rPr>
              <a:t>Hypothesis A: Label </a:t>
            </a:r>
            <a:r>
              <a:rPr lang="en-US" sz="2000" dirty="0">
                <a:solidFill>
                  <a:srgbClr val="7EBB05"/>
                </a:solidFill>
                <a:latin typeface="Calibri" panose="020F0502020204030204" pitchFamily="34" charset="0"/>
                <a:ea typeface="+mj-ea"/>
                <a:cs typeface="Calibri" panose="020F0502020204030204" pitchFamily="34" charset="0"/>
              </a:rPr>
              <a:t>Normal</a:t>
            </a:r>
          </a:p>
        </p:txBody>
      </p:sp>
    </p:spTree>
    <p:extLst>
      <p:ext uri="{BB962C8B-B14F-4D97-AF65-F5344CB8AC3E}">
        <p14:creationId xmlns:p14="http://schemas.microsoft.com/office/powerpoint/2010/main" val="1362958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automatically generated">
            <a:extLst>
              <a:ext uri="{FF2B5EF4-FFF2-40B4-BE49-F238E27FC236}">
                <a16:creationId xmlns:a16="http://schemas.microsoft.com/office/drawing/2014/main" id="{7BDF88C6-7A08-4E16-A9A7-0B75D03B9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8914" y="1318323"/>
            <a:ext cx="9589574" cy="4496592"/>
          </a:xfrm>
          <a:prstGeom prst="rect">
            <a:avLst/>
          </a:prstGeom>
        </p:spPr>
      </p:pic>
      <p:sp>
        <p:nvSpPr>
          <p:cNvPr id="2" name="Title 1">
            <a:extLst>
              <a:ext uri="{FF2B5EF4-FFF2-40B4-BE49-F238E27FC236}">
                <a16:creationId xmlns:a16="http://schemas.microsoft.com/office/drawing/2014/main" id="{1CFFCD4C-6DD1-43E4-B909-D8D0E9EA5DCB}"/>
              </a:ext>
            </a:extLst>
          </p:cNvPr>
          <p:cNvSpPr>
            <a:spLocks noGrp="1"/>
          </p:cNvSpPr>
          <p:nvPr>
            <p:ph type="title"/>
          </p:nvPr>
        </p:nvSpPr>
        <p:spPr/>
        <p:txBody>
          <a:bodyPr/>
          <a:lstStyle/>
          <a:p>
            <a:r>
              <a:rPr lang="en-US" dirty="0"/>
              <a:t>Uncertainty Estimation</a:t>
            </a:r>
          </a:p>
        </p:txBody>
      </p:sp>
      <p:sp>
        <p:nvSpPr>
          <p:cNvPr id="3" name="Slide Number Placeholder 2">
            <a:extLst>
              <a:ext uri="{FF2B5EF4-FFF2-40B4-BE49-F238E27FC236}">
                <a16:creationId xmlns:a16="http://schemas.microsoft.com/office/drawing/2014/main" id="{5C44593B-DF6D-47FE-80FC-B9B54BF26FBE}"/>
              </a:ext>
            </a:extLst>
          </p:cNvPr>
          <p:cNvSpPr>
            <a:spLocks noGrp="1"/>
          </p:cNvSpPr>
          <p:nvPr>
            <p:ph type="sldNum" sz="quarter" idx="4"/>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2866274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B1762-6168-4460-AC6A-F2B27D291A69}"/>
              </a:ext>
            </a:extLst>
          </p:cNvPr>
          <p:cNvSpPr>
            <a:spLocks noGrp="1"/>
          </p:cNvSpPr>
          <p:nvPr>
            <p:ph type="title"/>
          </p:nvPr>
        </p:nvSpPr>
        <p:spPr/>
        <p:txBody>
          <a:bodyPr/>
          <a:lstStyle/>
          <a:p>
            <a:r>
              <a:rPr lang="en-US" dirty="0"/>
              <a:t>Prediction with Explainable Reliability </a:t>
            </a:r>
          </a:p>
        </p:txBody>
      </p:sp>
      <p:sp>
        <p:nvSpPr>
          <p:cNvPr id="3" name="Slide Number Placeholder 2">
            <a:extLst>
              <a:ext uri="{FF2B5EF4-FFF2-40B4-BE49-F238E27FC236}">
                <a16:creationId xmlns:a16="http://schemas.microsoft.com/office/drawing/2014/main" id="{BD585C80-A313-4964-9399-0A807DE906CC}"/>
              </a:ext>
            </a:extLst>
          </p:cNvPr>
          <p:cNvSpPr>
            <a:spLocks noGrp="1"/>
          </p:cNvSpPr>
          <p:nvPr>
            <p:ph type="sldNum" sz="quarter" idx="4"/>
          </p:nvPr>
        </p:nvSpPr>
        <p:spPr/>
        <p:txBody>
          <a:bodyPr/>
          <a:lstStyle/>
          <a:p>
            <a:fld id="{D57F1E4F-1CFF-5643-939E-217C01CDF565}" type="slidenum">
              <a:rPr lang="en-US" smtClean="0"/>
              <a:pPr/>
              <a:t>16</a:t>
            </a:fld>
            <a:endParaRPr lang="en-US" dirty="0"/>
          </a:p>
        </p:txBody>
      </p:sp>
      <p:grpSp>
        <p:nvGrpSpPr>
          <p:cNvPr id="4" name="Group 3">
            <a:extLst>
              <a:ext uri="{FF2B5EF4-FFF2-40B4-BE49-F238E27FC236}">
                <a16:creationId xmlns:a16="http://schemas.microsoft.com/office/drawing/2014/main" id="{BCED8BF8-D5A5-4537-82CB-CBBBFA2FB960}"/>
              </a:ext>
            </a:extLst>
          </p:cNvPr>
          <p:cNvGrpSpPr/>
          <p:nvPr/>
        </p:nvGrpSpPr>
        <p:grpSpPr>
          <a:xfrm>
            <a:off x="1271464" y="1437983"/>
            <a:ext cx="7444540" cy="4151257"/>
            <a:chOff x="533400" y="1047749"/>
            <a:chExt cx="5943600" cy="3694002"/>
          </a:xfrm>
        </p:grpSpPr>
        <p:pic>
          <p:nvPicPr>
            <p:cNvPr id="5" name="Picture 4">
              <a:extLst>
                <a:ext uri="{FF2B5EF4-FFF2-40B4-BE49-F238E27FC236}">
                  <a16:creationId xmlns:a16="http://schemas.microsoft.com/office/drawing/2014/main" id="{7D84B6A6-7CFC-4E76-A41D-DD48789B5AD9}"/>
                </a:ext>
              </a:extLst>
            </p:cNvPr>
            <p:cNvPicPr>
              <a:picLocks noChangeAspect="1"/>
            </p:cNvPicPr>
            <p:nvPr/>
          </p:nvPicPr>
          <p:blipFill>
            <a:blip r:embed="rId2"/>
            <a:stretch>
              <a:fillRect/>
            </a:stretch>
          </p:blipFill>
          <p:spPr>
            <a:xfrm>
              <a:off x="533400" y="1047749"/>
              <a:ext cx="5943600" cy="3503503"/>
            </a:xfrm>
            <a:prstGeom prst="rect">
              <a:avLst/>
            </a:prstGeom>
          </p:spPr>
        </p:pic>
        <p:grpSp>
          <p:nvGrpSpPr>
            <p:cNvPr id="6" name="Group 5">
              <a:extLst>
                <a:ext uri="{FF2B5EF4-FFF2-40B4-BE49-F238E27FC236}">
                  <a16:creationId xmlns:a16="http://schemas.microsoft.com/office/drawing/2014/main" id="{A4FC53C5-6958-4F3F-B058-138FC3BB6417}"/>
                </a:ext>
              </a:extLst>
            </p:cNvPr>
            <p:cNvGrpSpPr/>
            <p:nvPr/>
          </p:nvGrpSpPr>
          <p:grpSpPr>
            <a:xfrm>
              <a:off x="1085048" y="1657350"/>
              <a:ext cx="2589847" cy="3084401"/>
              <a:chOff x="457200" y="1200150"/>
              <a:chExt cx="2833687" cy="3234165"/>
            </a:xfrm>
          </p:grpSpPr>
          <p:pic>
            <p:nvPicPr>
              <p:cNvPr id="7" name="Picture 6">
                <a:extLst>
                  <a:ext uri="{FF2B5EF4-FFF2-40B4-BE49-F238E27FC236}">
                    <a16:creationId xmlns:a16="http://schemas.microsoft.com/office/drawing/2014/main" id="{033CA220-923D-4C74-BDB5-531ADBC36E54}"/>
                  </a:ext>
                </a:extLst>
              </p:cNvPr>
              <p:cNvPicPr>
                <a:picLocks noChangeAspect="1"/>
              </p:cNvPicPr>
              <p:nvPr/>
            </p:nvPicPr>
            <p:blipFill>
              <a:blip r:embed="rId3"/>
              <a:stretch>
                <a:fillRect/>
              </a:stretch>
            </p:blipFill>
            <p:spPr>
              <a:xfrm>
                <a:off x="457200" y="1200150"/>
                <a:ext cx="2833687" cy="3234165"/>
              </a:xfrm>
              <a:prstGeom prst="rect">
                <a:avLst/>
              </a:prstGeom>
            </p:spPr>
          </p:pic>
          <p:sp>
            <p:nvSpPr>
              <p:cNvPr id="8" name="Rectangle 7">
                <a:extLst>
                  <a:ext uri="{FF2B5EF4-FFF2-40B4-BE49-F238E27FC236}">
                    <a16:creationId xmlns:a16="http://schemas.microsoft.com/office/drawing/2014/main" id="{02253117-5B1E-4C11-A8FA-44E2DE54EBBC}"/>
                  </a:ext>
                </a:extLst>
              </p:cNvPr>
              <p:cNvSpPr/>
              <p:nvPr/>
            </p:nvSpPr>
            <p:spPr>
              <a:xfrm>
                <a:off x="1730478" y="1428750"/>
                <a:ext cx="1538287" cy="152400"/>
              </a:xfrm>
              <a:prstGeom prst="rect">
                <a:avLst/>
              </a:prstGeom>
              <a:solidFill>
                <a:srgbClr val="FF0000">
                  <a:alpha val="19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734227A-5600-47F7-9E34-E5D35F7A18E5}"/>
                  </a:ext>
                </a:extLst>
              </p:cNvPr>
              <p:cNvSpPr/>
              <p:nvPr/>
            </p:nvSpPr>
            <p:spPr>
              <a:xfrm>
                <a:off x="1730477" y="1989804"/>
                <a:ext cx="1538287" cy="152400"/>
              </a:xfrm>
              <a:prstGeom prst="rect">
                <a:avLst/>
              </a:prstGeom>
              <a:solidFill>
                <a:srgbClr val="FF0000">
                  <a:alpha val="19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A4F48B-0086-45D5-86AF-190CDE65ACDE}"/>
                  </a:ext>
                </a:extLst>
              </p:cNvPr>
              <p:cNvSpPr/>
              <p:nvPr/>
            </p:nvSpPr>
            <p:spPr>
              <a:xfrm>
                <a:off x="1730476" y="2365888"/>
                <a:ext cx="1538287" cy="152400"/>
              </a:xfrm>
              <a:prstGeom prst="rect">
                <a:avLst/>
              </a:prstGeom>
              <a:solidFill>
                <a:srgbClr val="FF0000">
                  <a:alpha val="19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7DACB33-A340-4DB7-8E01-F8C323E15BBB}"/>
                  </a:ext>
                </a:extLst>
              </p:cNvPr>
              <p:cNvSpPr/>
              <p:nvPr/>
            </p:nvSpPr>
            <p:spPr>
              <a:xfrm>
                <a:off x="1730476" y="2739515"/>
                <a:ext cx="1538287" cy="152400"/>
              </a:xfrm>
              <a:prstGeom prst="rect">
                <a:avLst/>
              </a:prstGeom>
              <a:solidFill>
                <a:srgbClr val="FF0000">
                  <a:alpha val="19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98B123C-AEA4-4AFF-819E-08981BB32D2A}"/>
                  </a:ext>
                </a:extLst>
              </p:cNvPr>
              <p:cNvSpPr/>
              <p:nvPr/>
            </p:nvSpPr>
            <p:spPr>
              <a:xfrm>
                <a:off x="1730475" y="2934316"/>
                <a:ext cx="1538287" cy="152400"/>
              </a:xfrm>
              <a:prstGeom prst="rect">
                <a:avLst/>
              </a:prstGeom>
              <a:solidFill>
                <a:srgbClr val="FF0000">
                  <a:alpha val="19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19E1D29-38DB-4B0D-B419-AE86F6A91832}"/>
                  </a:ext>
                </a:extLst>
              </p:cNvPr>
              <p:cNvSpPr/>
              <p:nvPr/>
            </p:nvSpPr>
            <p:spPr>
              <a:xfrm>
                <a:off x="1730474" y="3867150"/>
                <a:ext cx="1538287" cy="152400"/>
              </a:xfrm>
              <a:prstGeom prst="rect">
                <a:avLst/>
              </a:prstGeom>
              <a:solidFill>
                <a:srgbClr val="FF0000">
                  <a:alpha val="19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70696EF-EAC3-44FF-A8A8-8C3DC95B5A1F}"/>
                  </a:ext>
                </a:extLst>
              </p:cNvPr>
              <p:cNvSpPr/>
              <p:nvPr/>
            </p:nvSpPr>
            <p:spPr>
              <a:xfrm>
                <a:off x="1730473" y="4057650"/>
                <a:ext cx="1538287" cy="152400"/>
              </a:xfrm>
              <a:prstGeom prst="rect">
                <a:avLst/>
              </a:prstGeom>
              <a:solidFill>
                <a:srgbClr val="FF0000">
                  <a:alpha val="19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14D33C6-F2E7-4A4C-8D0D-03C6F0DFCE92}"/>
                  </a:ext>
                </a:extLst>
              </p:cNvPr>
              <p:cNvSpPr/>
              <p:nvPr/>
            </p:nvSpPr>
            <p:spPr>
              <a:xfrm>
                <a:off x="1730472" y="4243235"/>
                <a:ext cx="1538287" cy="152400"/>
              </a:xfrm>
              <a:prstGeom prst="rect">
                <a:avLst/>
              </a:prstGeom>
              <a:solidFill>
                <a:srgbClr val="FF0000">
                  <a:alpha val="19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17" name="Picture 16">
            <a:extLst>
              <a:ext uri="{FF2B5EF4-FFF2-40B4-BE49-F238E27FC236}">
                <a16:creationId xmlns:a16="http://schemas.microsoft.com/office/drawing/2014/main" id="{AFE603B2-992A-42E2-BA3C-58C8488F6F61}"/>
              </a:ext>
            </a:extLst>
          </p:cNvPr>
          <p:cNvPicPr>
            <a:picLocks noChangeAspect="1"/>
          </p:cNvPicPr>
          <p:nvPr/>
        </p:nvPicPr>
        <p:blipFill>
          <a:blip r:embed="rId4"/>
          <a:stretch>
            <a:fillRect/>
          </a:stretch>
        </p:blipFill>
        <p:spPr>
          <a:xfrm>
            <a:off x="5807968" y="2235216"/>
            <a:ext cx="4835560" cy="3466198"/>
          </a:xfrm>
          <a:prstGeom prst="rect">
            <a:avLst/>
          </a:prstGeom>
        </p:spPr>
      </p:pic>
    </p:spTree>
    <p:extLst>
      <p:ext uri="{BB962C8B-B14F-4D97-AF65-F5344CB8AC3E}">
        <p14:creationId xmlns:p14="http://schemas.microsoft.com/office/powerpoint/2010/main" val="263950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5F26F-E73B-4716-BF74-015A338DAA68}"/>
              </a:ext>
            </a:extLst>
          </p:cNvPr>
          <p:cNvSpPr>
            <a:spLocks noGrp="1"/>
          </p:cNvSpPr>
          <p:nvPr>
            <p:ph type="title"/>
          </p:nvPr>
        </p:nvSpPr>
        <p:spPr/>
        <p:txBody>
          <a:bodyPr/>
          <a:lstStyle/>
          <a:p>
            <a:r>
              <a:rPr lang="en-US" dirty="0"/>
              <a:t>Use Case: Classification </a:t>
            </a:r>
          </a:p>
        </p:txBody>
      </p:sp>
      <p:sp>
        <p:nvSpPr>
          <p:cNvPr id="3" name="Slide Number Placeholder 2">
            <a:extLst>
              <a:ext uri="{FF2B5EF4-FFF2-40B4-BE49-F238E27FC236}">
                <a16:creationId xmlns:a16="http://schemas.microsoft.com/office/drawing/2014/main" id="{65920E3C-EF25-4200-BC56-AD89F034EC3F}"/>
              </a:ext>
            </a:extLst>
          </p:cNvPr>
          <p:cNvSpPr>
            <a:spLocks noGrp="1"/>
          </p:cNvSpPr>
          <p:nvPr>
            <p:ph type="sldNum" sz="quarter" idx="4"/>
          </p:nvPr>
        </p:nvSpPr>
        <p:spPr/>
        <p:txBody>
          <a:bodyPr/>
          <a:lstStyle/>
          <a:p>
            <a:fld id="{D57F1E4F-1CFF-5643-939E-217C01CDF565}" type="slidenum">
              <a:rPr lang="en-US" smtClean="0"/>
              <a:pPr/>
              <a:t>17</a:t>
            </a:fld>
            <a:endParaRPr lang="en-US" dirty="0"/>
          </a:p>
        </p:txBody>
      </p:sp>
      <p:sp>
        <p:nvSpPr>
          <p:cNvPr id="5" name="Rectangle 4">
            <a:extLst>
              <a:ext uri="{FF2B5EF4-FFF2-40B4-BE49-F238E27FC236}">
                <a16:creationId xmlns:a16="http://schemas.microsoft.com/office/drawing/2014/main" id="{BA13C314-E170-4301-B52C-DEBB43D6A9D4}"/>
              </a:ext>
            </a:extLst>
          </p:cNvPr>
          <p:cNvSpPr/>
          <p:nvPr/>
        </p:nvSpPr>
        <p:spPr>
          <a:xfrm>
            <a:off x="983431" y="1554664"/>
            <a:ext cx="10203191" cy="720080"/>
          </a:xfrm>
          <a:prstGeom prst="rect">
            <a:avLst/>
          </a:prstGeom>
          <a:solidFill>
            <a:schemeClr val="accent1">
              <a:alpha val="70000"/>
            </a:schemeClr>
          </a:solidFill>
          <a:ln cmpd="thickThin"/>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latin typeface="Calibri" panose="020F0502020204030204" pitchFamily="34" charset="0"/>
                <a:cs typeface="Calibri" panose="020F0502020204030204" pitchFamily="34" charset="0"/>
              </a:rPr>
              <a:t>Ranking disk drives which will fail in next 5 days </a:t>
            </a:r>
          </a:p>
        </p:txBody>
      </p:sp>
      <p:pic>
        <p:nvPicPr>
          <p:cNvPr id="6" name="Picture 5">
            <a:extLst>
              <a:ext uri="{FF2B5EF4-FFF2-40B4-BE49-F238E27FC236}">
                <a16:creationId xmlns:a16="http://schemas.microsoft.com/office/drawing/2014/main" id="{F10D1513-2469-4B12-9045-225DD8FBDE64}"/>
              </a:ext>
            </a:extLst>
          </p:cNvPr>
          <p:cNvPicPr>
            <a:picLocks noChangeAspect="1"/>
          </p:cNvPicPr>
          <p:nvPr/>
        </p:nvPicPr>
        <p:blipFill>
          <a:blip r:embed="rId2"/>
          <a:stretch>
            <a:fillRect/>
          </a:stretch>
        </p:blipFill>
        <p:spPr>
          <a:xfrm>
            <a:off x="983432" y="2684016"/>
            <a:ext cx="10203191" cy="3286720"/>
          </a:xfrm>
          <a:prstGeom prst="rect">
            <a:avLst/>
          </a:prstGeom>
        </p:spPr>
      </p:pic>
    </p:spTree>
    <p:extLst>
      <p:ext uri="{BB962C8B-B14F-4D97-AF65-F5344CB8AC3E}">
        <p14:creationId xmlns:p14="http://schemas.microsoft.com/office/powerpoint/2010/main" val="2618521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5F26F-E73B-4716-BF74-015A338DAA68}"/>
              </a:ext>
            </a:extLst>
          </p:cNvPr>
          <p:cNvSpPr>
            <a:spLocks noGrp="1"/>
          </p:cNvSpPr>
          <p:nvPr>
            <p:ph type="title"/>
          </p:nvPr>
        </p:nvSpPr>
        <p:spPr/>
        <p:txBody>
          <a:bodyPr/>
          <a:lstStyle/>
          <a:p>
            <a:r>
              <a:rPr lang="en-US" dirty="0"/>
              <a:t>Use Case: Classification </a:t>
            </a:r>
          </a:p>
        </p:txBody>
      </p:sp>
      <p:sp>
        <p:nvSpPr>
          <p:cNvPr id="3" name="Slide Number Placeholder 2">
            <a:extLst>
              <a:ext uri="{FF2B5EF4-FFF2-40B4-BE49-F238E27FC236}">
                <a16:creationId xmlns:a16="http://schemas.microsoft.com/office/drawing/2014/main" id="{65920E3C-EF25-4200-BC56-AD89F034EC3F}"/>
              </a:ext>
            </a:extLst>
          </p:cNvPr>
          <p:cNvSpPr>
            <a:spLocks noGrp="1"/>
          </p:cNvSpPr>
          <p:nvPr>
            <p:ph type="sldNum" sz="quarter" idx="4"/>
          </p:nvPr>
        </p:nvSpPr>
        <p:spPr/>
        <p:txBody>
          <a:bodyPr/>
          <a:lstStyle/>
          <a:p>
            <a:fld id="{D57F1E4F-1CFF-5643-939E-217C01CDF565}" type="slidenum">
              <a:rPr lang="en-US" smtClean="0"/>
              <a:pPr/>
              <a:t>18</a:t>
            </a:fld>
            <a:endParaRPr lang="en-US" dirty="0"/>
          </a:p>
        </p:txBody>
      </p:sp>
      <p:sp>
        <p:nvSpPr>
          <p:cNvPr id="5" name="Rectangle 4">
            <a:extLst>
              <a:ext uri="{FF2B5EF4-FFF2-40B4-BE49-F238E27FC236}">
                <a16:creationId xmlns:a16="http://schemas.microsoft.com/office/drawing/2014/main" id="{BA13C314-E170-4301-B52C-DEBB43D6A9D4}"/>
              </a:ext>
            </a:extLst>
          </p:cNvPr>
          <p:cNvSpPr/>
          <p:nvPr/>
        </p:nvSpPr>
        <p:spPr>
          <a:xfrm>
            <a:off x="983431" y="1554664"/>
            <a:ext cx="10203191" cy="720080"/>
          </a:xfrm>
          <a:prstGeom prst="rect">
            <a:avLst/>
          </a:prstGeom>
          <a:solidFill>
            <a:schemeClr val="accent1">
              <a:alpha val="70000"/>
            </a:schemeClr>
          </a:solidFill>
          <a:ln cmpd="thickThin"/>
        </p:spPr>
        <p:style>
          <a:lnRef idx="3">
            <a:schemeClr val="lt1"/>
          </a:lnRef>
          <a:fillRef idx="1">
            <a:schemeClr val="accent2"/>
          </a:fillRef>
          <a:effectRef idx="1">
            <a:schemeClr val="accent2"/>
          </a:effectRef>
          <a:fontRef idx="minor">
            <a:schemeClr val="lt1"/>
          </a:fontRef>
        </p:style>
        <p:txBody>
          <a:bodyPr rtlCol="0" anchor="ctr"/>
          <a:lstStyle/>
          <a:p>
            <a:pPr algn="ctr"/>
            <a:r>
              <a:rPr lang="en-IN" sz="2400" dirty="0">
                <a:latin typeface="Calibri" panose="020F0502020204030204" pitchFamily="34" charset="0"/>
                <a:cs typeface="Calibri" panose="020F0502020204030204" pitchFamily="34" charset="0"/>
              </a:rPr>
              <a:t>Backup job failure prioritization </a:t>
            </a:r>
            <a:endParaRPr lang="en-US" sz="2400" dirty="0">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3273F6A0-5036-4812-8C49-D7ECAD9E8248}"/>
              </a:ext>
            </a:extLst>
          </p:cNvPr>
          <p:cNvPicPr/>
          <p:nvPr/>
        </p:nvPicPr>
        <p:blipFill>
          <a:blip r:embed="rId2">
            <a:extLst>
              <a:ext uri="{28A0092B-C50C-407E-A947-70E740481C1C}">
                <a14:useLocalDpi xmlns:a14="http://schemas.microsoft.com/office/drawing/2010/main" val="0"/>
              </a:ext>
            </a:extLst>
          </a:blip>
          <a:stretch>
            <a:fillRect/>
          </a:stretch>
        </p:blipFill>
        <p:spPr>
          <a:xfrm>
            <a:off x="1343472" y="2646899"/>
            <a:ext cx="4248472" cy="2656437"/>
          </a:xfrm>
          <a:prstGeom prst="rect">
            <a:avLst/>
          </a:prstGeom>
        </p:spPr>
      </p:pic>
      <p:grpSp>
        <p:nvGrpSpPr>
          <p:cNvPr id="12" name="Group 11">
            <a:extLst>
              <a:ext uri="{FF2B5EF4-FFF2-40B4-BE49-F238E27FC236}">
                <a16:creationId xmlns:a16="http://schemas.microsoft.com/office/drawing/2014/main" id="{BB2F2076-6F37-4580-B470-B36DD22941DF}"/>
              </a:ext>
            </a:extLst>
          </p:cNvPr>
          <p:cNvGrpSpPr/>
          <p:nvPr/>
        </p:nvGrpSpPr>
        <p:grpSpPr>
          <a:xfrm>
            <a:off x="7392144" y="2646899"/>
            <a:ext cx="4680520" cy="2797864"/>
            <a:chOff x="6827097" y="2634323"/>
            <a:chExt cx="4680520" cy="2797864"/>
          </a:xfrm>
        </p:grpSpPr>
        <p:pic>
          <p:nvPicPr>
            <p:cNvPr id="9" name="Picture 8">
              <a:extLst>
                <a:ext uri="{FF2B5EF4-FFF2-40B4-BE49-F238E27FC236}">
                  <a16:creationId xmlns:a16="http://schemas.microsoft.com/office/drawing/2014/main" id="{DD1B0CD1-EDC1-497E-A451-60E2A340503E}"/>
                </a:ext>
              </a:extLst>
            </p:cNvPr>
            <p:cNvPicPr/>
            <p:nvPr/>
          </p:nvPicPr>
          <p:blipFill>
            <a:blip r:embed="rId3">
              <a:extLst>
                <a:ext uri="{28A0092B-C50C-407E-A947-70E740481C1C}">
                  <a14:useLocalDpi xmlns:a14="http://schemas.microsoft.com/office/drawing/2010/main" val="0"/>
                </a:ext>
              </a:extLst>
            </a:blip>
            <a:stretch>
              <a:fillRect/>
            </a:stretch>
          </p:blipFill>
          <p:spPr>
            <a:xfrm>
              <a:off x="6827097" y="2634323"/>
              <a:ext cx="3456384" cy="2438285"/>
            </a:xfrm>
            <a:prstGeom prst="rect">
              <a:avLst/>
            </a:prstGeom>
          </p:spPr>
        </p:pic>
        <p:sp>
          <p:nvSpPr>
            <p:cNvPr id="11" name="TextBox 10">
              <a:extLst>
                <a:ext uri="{FF2B5EF4-FFF2-40B4-BE49-F238E27FC236}">
                  <a16:creationId xmlns:a16="http://schemas.microsoft.com/office/drawing/2014/main" id="{BF836FD4-93F7-4270-AF07-087CAEAEDC91}"/>
                </a:ext>
              </a:extLst>
            </p:cNvPr>
            <p:cNvSpPr txBox="1"/>
            <p:nvPr/>
          </p:nvSpPr>
          <p:spPr>
            <a:xfrm>
              <a:off x="6827097" y="5093633"/>
              <a:ext cx="4680520"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Client 7645: Martingale test for Variable 1 </a:t>
              </a:r>
            </a:p>
          </p:txBody>
        </p:sp>
      </p:grpSp>
    </p:spTree>
    <p:extLst>
      <p:ext uri="{BB962C8B-B14F-4D97-AF65-F5344CB8AC3E}">
        <p14:creationId xmlns:p14="http://schemas.microsoft.com/office/powerpoint/2010/main" val="4285712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EBC8A9-AAF7-47B3-A39B-15069EF8F4C0}"/>
              </a:ext>
            </a:extLst>
          </p:cNvPr>
          <p:cNvSpPr>
            <a:spLocks noGrp="1"/>
          </p:cNvSpPr>
          <p:nvPr>
            <p:ph type="sldNum" sz="quarter" idx="4"/>
          </p:nvPr>
        </p:nvSpPr>
        <p:spPr/>
        <p:txBody>
          <a:bodyPr/>
          <a:lstStyle/>
          <a:p>
            <a:fld id="{D57F1E4F-1CFF-5643-939E-217C01CDF565}" type="slidenum">
              <a:rPr lang="en-US" smtClean="0"/>
              <a:pPr/>
              <a:t>19</a:t>
            </a:fld>
            <a:endParaRPr lang="en-US" dirty="0"/>
          </a:p>
        </p:txBody>
      </p:sp>
      <p:sp>
        <p:nvSpPr>
          <p:cNvPr id="2" name="Title 1">
            <a:extLst>
              <a:ext uri="{FF2B5EF4-FFF2-40B4-BE49-F238E27FC236}">
                <a16:creationId xmlns:a16="http://schemas.microsoft.com/office/drawing/2014/main" id="{2DA232F4-22E4-46FD-9D4E-BA404094D6D2}"/>
              </a:ext>
            </a:extLst>
          </p:cNvPr>
          <p:cNvSpPr>
            <a:spLocks noGrp="1"/>
          </p:cNvSpPr>
          <p:nvPr>
            <p:ph type="title"/>
          </p:nvPr>
        </p:nvSpPr>
        <p:spPr/>
        <p:txBody>
          <a:bodyPr/>
          <a:lstStyle/>
          <a:p>
            <a:r>
              <a:rPr lang="en-US" dirty="0"/>
              <a:t>What problems can we solve?</a:t>
            </a:r>
          </a:p>
        </p:txBody>
      </p:sp>
      <p:graphicFrame>
        <p:nvGraphicFramePr>
          <p:cNvPr id="37" name="Table 36">
            <a:extLst>
              <a:ext uri="{FF2B5EF4-FFF2-40B4-BE49-F238E27FC236}">
                <a16:creationId xmlns:a16="http://schemas.microsoft.com/office/drawing/2014/main" id="{F101D7DD-6467-4D40-A1B2-20A7E129CEA2}"/>
              </a:ext>
            </a:extLst>
          </p:cNvPr>
          <p:cNvGraphicFramePr>
            <a:graphicFrameLocks noGrp="1"/>
          </p:cNvGraphicFramePr>
          <p:nvPr>
            <p:extLst>
              <p:ext uri="{D42A27DB-BD31-4B8C-83A1-F6EECF244321}">
                <p14:modId xmlns:p14="http://schemas.microsoft.com/office/powerpoint/2010/main" val="2239529311"/>
              </p:ext>
            </p:extLst>
          </p:nvPr>
        </p:nvGraphicFramePr>
        <p:xfrm>
          <a:off x="6508416" y="1374881"/>
          <a:ext cx="7873381" cy="617220"/>
        </p:xfrm>
        <a:graphic>
          <a:graphicData uri="http://schemas.openxmlformats.org/drawingml/2006/table">
            <a:tbl>
              <a:tblPr firstRow="1" bandRow="1">
                <a:effectLst/>
              </a:tblPr>
              <a:tblGrid>
                <a:gridCol w="1971142">
                  <a:extLst>
                    <a:ext uri="{9D8B030D-6E8A-4147-A177-3AD203B41FA5}">
                      <a16:colId xmlns:a16="http://schemas.microsoft.com/office/drawing/2014/main" val="4132442011"/>
                    </a:ext>
                  </a:extLst>
                </a:gridCol>
                <a:gridCol w="2583299">
                  <a:extLst>
                    <a:ext uri="{9D8B030D-6E8A-4147-A177-3AD203B41FA5}">
                      <a16:colId xmlns:a16="http://schemas.microsoft.com/office/drawing/2014/main" val="338682354"/>
                    </a:ext>
                  </a:extLst>
                </a:gridCol>
                <a:gridCol w="1554878">
                  <a:extLst>
                    <a:ext uri="{9D8B030D-6E8A-4147-A177-3AD203B41FA5}">
                      <a16:colId xmlns:a16="http://schemas.microsoft.com/office/drawing/2014/main" val="20000"/>
                    </a:ext>
                  </a:extLst>
                </a:gridCol>
                <a:gridCol w="1764062">
                  <a:extLst>
                    <a:ext uri="{9D8B030D-6E8A-4147-A177-3AD203B41FA5}">
                      <a16:colId xmlns:a16="http://schemas.microsoft.com/office/drawing/2014/main" val="20001"/>
                    </a:ext>
                  </a:extLst>
                </a:gridCol>
              </a:tblGrid>
              <a:tr h="617220">
                <a:tc>
                  <a:txBody>
                    <a:bodyPr/>
                    <a:lstStyle/>
                    <a:p>
                      <a:pPr algn="ctr" defTabSz="456778"/>
                      <a:endParaRPr lang="en-US" sz="1600" baseline="30000" dirty="0">
                        <a:solidFill>
                          <a:schemeClr val="tx2"/>
                        </a:solidFill>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defTabSz="456778"/>
                      <a:r>
                        <a:rPr lang="en-US" sz="1600" b="1" dirty="0">
                          <a:solidFill>
                            <a:schemeClr val="tx2"/>
                          </a:solidFill>
                        </a:rPr>
                        <a:t>Anomaly detection</a:t>
                      </a:r>
                      <a:endParaRPr lang="en-US" sz="1600" dirty="0">
                        <a:solidFill>
                          <a:schemeClr val="tx2"/>
                        </a:solidFill>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90000"/>
                        </a:lnSpc>
                        <a:spcBef>
                          <a:spcPts val="0"/>
                        </a:spcBef>
                        <a:spcAft>
                          <a:spcPts val="0"/>
                        </a:spcAft>
                        <a:buClrTx/>
                        <a:buSzTx/>
                        <a:buFontTx/>
                        <a:buNone/>
                        <a:tabLst/>
                        <a:defRPr/>
                      </a:pPr>
                      <a:endParaRPr lang="en-US" sz="1600" b="1" i="0" dirty="0">
                        <a:solidFill>
                          <a:schemeClr val="tx2"/>
                        </a:solidFill>
                        <a:latin typeface="+mn-lt"/>
                        <a:ea typeface="Intel Clear Pro" charset="0"/>
                        <a:cs typeface="Intel Clear Pro" charset="0"/>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3C71"/>
                        </a:solidFill>
                        <a:effectLst/>
                        <a:uLnTx/>
                        <a:uFillTx/>
                        <a:latin typeface="Intel Clear Light" charset="0"/>
                        <a:ea typeface="Intel Clear Light" charset="0"/>
                        <a:cs typeface="Intel Clear Light" charset="0"/>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74" name="Table 73">
            <a:extLst>
              <a:ext uri="{FF2B5EF4-FFF2-40B4-BE49-F238E27FC236}">
                <a16:creationId xmlns:a16="http://schemas.microsoft.com/office/drawing/2014/main" id="{01FF5F86-E20B-4186-9334-CDE93A88239D}"/>
              </a:ext>
            </a:extLst>
          </p:cNvPr>
          <p:cNvGraphicFramePr>
            <a:graphicFrameLocks noGrp="1"/>
          </p:cNvGraphicFramePr>
          <p:nvPr>
            <p:extLst>
              <p:ext uri="{D42A27DB-BD31-4B8C-83A1-F6EECF244321}">
                <p14:modId xmlns:p14="http://schemas.microsoft.com/office/powerpoint/2010/main" val="2277408870"/>
              </p:ext>
            </p:extLst>
          </p:nvPr>
        </p:nvGraphicFramePr>
        <p:xfrm>
          <a:off x="7398340" y="2523748"/>
          <a:ext cx="5787262" cy="617220"/>
        </p:xfrm>
        <a:graphic>
          <a:graphicData uri="http://schemas.openxmlformats.org/drawingml/2006/table">
            <a:tbl>
              <a:tblPr firstRow="1" bandRow="1">
                <a:effectLst/>
              </a:tblPr>
              <a:tblGrid>
                <a:gridCol w="1448871">
                  <a:extLst>
                    <a:ext uri="{9D8B030D-6E8A-4147-A177-3AD203B41FA5}">
                      <a16:colId xmlns:a16="http://schemas.microsoft.com/office/drawing/2014/main" val="4132442011"/>
                    </a:ext>
                  </a:extLst>
                </a:gridCol>
                <a:gridCol w="1898832">
                  <a:extLst>
                    <a:ext uri="{9D8B030D-6E8A-4147-A177-3AD203B41FA5}">
                      <a16:colId xmlns:a16="http://schemas.microsoft.com/office/drawing/2014/main" val="338682354"/>
                    </a:ext>
                  </a:extLst>
                </a:gridCol>
                <a:gridCol w="1142900">
                  <a:extLst>
                    <a:ext uri="{9D8B030D-6E8A-4147-A177-3AD203B41FA5}">
                      <a16:colId xmlns:a16="http://schemas.microsoft.com/office/drawing/2014/main" val="20000"/>
                    </a:ext>
                  </a:extLst>
                </a:gridCol>
                <a:gridCol w="1296659">
                  <a:extLst>
                    <a:ext uri="{9D8B030D-6E8A-4147-A177-3AD203B41FA5}">
                      <a16:colId xmlns:a16="http://schemas.microsoft.com/office/drawing/2014/main" val="20001"/>
                    </a:ext>
                  </a:extLst>
                </a:gridCol>
              </a:tblGrid>
              <a:tr h="617220">
                <a:tc>
                  <a:txBody>
                    <a:bodyPr/>
                    <a:lstStyle/>
                    <a:p>
                      <a:pPr algn="ctr" defTabSz="456778"/>
                      <a:endParaRPr lang="en-US" sz="1600" baseline="30000" dirty="0">
                        <a:solidFill>
                          <a:schemeClr val="tx2"/>
                        </a:solidFill>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defTabSz="456778"/>
                      <a:r>
                        <a:rPr lang="en-US" sz="1600" b="1" dirty="0">
                          <a:solidFill>
                            <a:schemeClr val="tx2"/>
                          </a:solidFill>
                          <a:ea typeface="Intel Clear Pro" charset="0"/>
                          <a:cs typeface="Intel Clear Pro" charset="0"/>
                        </a:rPr>
                        <a:t>Pricing</a:t>
                      </a:r>
                    </a:p>
                    <a:p>
                      <a:pPr algn="ctr" defTabSz="456778"/>
                      <a:r>
                        <a:rPr lang="en-US" sz="1600" b="1" dirty="0">
                          <a:solidFill>
                            <a:schemeClr val="tx2"/>
                          </a:solidFill>
                          <a:ea typeface="Intel Clear Pro" charset="0"/>
                          <a:cs typeface="Intel Clear Pro" charset="0"/>
                        </a:rPr>
                        <a:t>Insurance</a:t>
                      </a:r>
                      <a:endParaRPr lang="en-US" sz="1600" dirty="0">
                        <a:solidFill>
                          <a:schemeClr val="tx2"/>
                        </a:solidFill>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90000"/>
                        </a:lnSpc>
                        <a:spcBef>
                          <a:spcPts val="0"/>
                        </a:spcBef>
                        <a:spcAft>
                          <a:spcPts val="0"/>
                        </a:spcAft>
                        <a:buClrTx/>
                        <a:buSzTx/>
                        <a:buFontTx/>
                        <a:buNone/>
                        <a:tabLst/>
                        <a:defRPr/>
                      </a:pPr>
                      <a:endParaRPr lang="en-US" sz="1600" b="1" i="0" dirty="0">
                        <a:solidFill>
                          <a:schemeClr val="tx2"/>
                        </a:solidFill>
                        <a:latin typeface="+mn-lt"/>
                        <a:ea typeface="Intel Clear Pro" charset="0"/>
                        <a:cs typeface="Intel Clear Pro" charset="0"/>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3C71"/>
                        </a:solidFill>
                        <a:effectLst/>
                        <a:uLnTx/>
                        <a:uFillTx/>
                        <a:latin typeface="Intel Clear Light" charset="0"/>
                        <a:ea typeface="Intel Clear Light" charset="0"/>
                        <a:cs typeface="Intel Clear Light" charset="0"/>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75" name="Table 74">
            <a:extLst>
              <a:ext uri="{FF2B5EF4-FFF2-40B4-BE49-F238E27FC236}">
                <a16:creationId xmlns:a16="http://schemas.microsoft.com/office/drawing/2014/main" id="{F3B49FE9-22A1-42D8-9C45-94BD81615F04}"/>
              </a:ext>
            </a:extLst>
          </p:cNvPr>
          <p:cNvGraphicFramePr>
            <a:graphicFrameLocks noGrp="1"/>
          </p:cNvGraphicFramePr>
          <p:nvPr>
            <p:extLst>
              <p:ext uri="{D42A27DB-BD31-4B8C-83A1-F6EECF244321}">
                <p14:modId xmlns:p14="http://schemas.microsoft.com/office/powerpoint/2010/main" val="968300697"/>
              </p:ext>
            </p:extLst>
          </p:nvPr>
        </p:nvGraphicFramePr>
        <p:xfrm>
          <a:off x="6580423" y="3784860"/>
          <a:ext cx="7729366" cy="617220"/>
        </p:xfrm>
        <a:graphic>
          <a:graphicData uri="http://schemas.openxmlformats.org/drawingml/2006/table">
            <a:tbl>
              <a:tblPr firstRow="1" bandRow="1">
                <a:effectLst/>
              </a:tblPr>
              <a:tblGrid>
                <a:gridCol w="1935087">
                  <a:extLst>
                    <a:ext uri="{9D8B030D-6E8A-4147-A177-3AD203B41FA5}">
                      <a16:colId xmlns:a16="http://schemas.microsoft.com/office/drawing/2014/main" val="4132442011"/>
                    </a:ext>
                  </a:extLst>
                </a:gridCol>
                <a:gridCol w="2536047">
                  <a:extLst>
                    <a:ext uri="{9D8B030D-6E8A-4147-A177-3AD203B41FA5}">
                      <a16:colId xmlns:a16="http://schemas.microsoft.com/office/drawing/2014/main" val="338682354"/>
                    </a:ext>
                  </a:extLst>
                </a:gridCol>
                <a:gridCol w="1526437">
                  <a:extLst>
                    <a:ext uri="{9D8B030D-6E8A-4147-A177-3AD203B41FA5}">
                      <a16:colId xmlns:a16="http://schemas.microsoft.com/office/drawing/2014/main" val="20000"/>
                    </a:ext>
                  </a:extLst>
                </a:gridCol>
                <a:gridCol w="1731795">
                  <a:extLst>
                    <a:ext uri="{9D8B030D-6E8A-4147-A177-3AD203B41FA5}">
                      <a16:colId xmlns:a16="http://schemas.microsoft.com/office/drawing/2014/main" val="20001"/>
                    </a:ext>
                  </a:extLst>
                </a:gridCol>
              </a:tblGrid>
              <a:tr h="617220">
                <a:tc>
                  <a:txBody>
                    <a:bodyPr/>
                    <a:lstStyle/>
                    <a:p>
                      <a:pPr algn="ctr" defTabSz="456778"/>
                      <a:endParaRPr lang="en-US" sz="1600" baseline="30000" dirty="0">
                        <a:solidFill>
                          <a:schemeClr val="tx2"/>
                        </a:solidFill>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defTabSz="456778"/>
                      <a:r>
                        <a:rPr lang="en-US" sz="1600" b="1" dirty="0">
                          <a:solidFill>
                            <a:schemeClr val="tx2"/>
                          </a:solidFill>
                          <a:ea typeface="Intel Clear Pro" charset="0"/>
                          <a:cs typeface="Intel Clear Pro" charset="0"/>
                        </a:rPr>
                        <a:t>Hardware reliability Demand forecasting</a:t>
                      </a:r>
                      <a:endParaRPr lang="en-US" sz="1600" dirty="0">
                        <a:solidFill>
                          <a:schemeClr val="tx2"/>
                        </a:solidFill>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90000"/>
                        </a:lnSpc>
                        <a:spcBef>
                          <a:spcPts val="0"/>
                        </a:spcBef>
                        <a:spcAft>
                          <a:spcPts val="0"/>
                        </a:spcAft>
                        <a:buClrTx/>
                        <a:buSzTx/>
                        <a:buFontTx/>
                        <a:buNone/>
                        <a:tabLst/>
                        <a:defRPr/>
                      </a:pPr>
                      <a:endParaRPr lang="en-US" sz="1600" b="1" i="0" dirty="0">
                        <a:solidFill>
                          <a:schemeClr val="tx2"/>
                        </a:solidFill>
                        <a:latin typeface="+mn-lt"/>
                        <a:ea typeface="Intel Clear Pro" charset="0"/>
                        <a:cs typeface="Intel Clear Pro" charset="0"/>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3C71"/>
                        </a:solidFill>
                        <a:effectLst/>
                        <a:uLnTx/>
                        <a:uFillTx/>
                        <a:latin typeface="Intel Clear Light" charset="0"/>
                        <a:ea typeface="Intel Clear Light" charset="0"/>
                        <a:cs typeface="Intel Clear Light" charset="0"/>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77" name="Table 76">
            <a:extLst>
              <a:ext uri="{FF2B5EF4-FFF2-40B4-BE49-F238E27FC236}">
                <a16:creationId xmlns:a16="http://schemas.microsoft.com/office/drawing/2014/main" id="{41074784-AECC-4853-9BD0-5271D2A3117E}"/>
              </a:ext>
            </a:extLst>
          </p:cNvPr>
          <p:cNvGraphicFramePr>
            <a:graphicFrameLocks noGrp="1"/>
          </p:cNvGraphicFramePr>
          <p:nvPr>
            <p:extLst>
              <p:ext uri="{D42A27DB-BD31-4B8C-83A1-F6EECF244321}">
                <p14:modId xmlns:p14="http://schemas.microsoft.com/office/powerpoint/2010/main" val="1679946781"/>
              </p:ext>
            </p:extLst>
          </p:nvPr>
        </p:nvGraphicFramePr>
        <p:xfrm>
          <a:off x="7398340" y="5018137"/>
          <a:ext cx="5787262" cy="617220"/>
        </p:xfrm>
        <a:graphic>
          <a:graphicData uri="http://schemas.openxmlformats.org/drawingml/2006/table">
            <a:tbl>
              <a:tblPr firstRow="1" bandRow="1">
                <a:effectLst/>
              </a:tblPr>
              <a:tblGrid>
                <a:gridCol w="1448871">
                  <a:extLst>
                    <a:ext uri="{9D8B030D-6E8A-4147-A177-3AD203B41FA5}">
                      <a16:colId xmlns:a16="http://schemas.microsoft.com/office/drawing/2014/main" val="4132442011"/>
                    </a:ext>
                  </a:extLst>
                </a:gridCol>
                <a:gridCol w="1898832">
                  <a:extLst>
                    <a:ext uri="{9D8B030D-6E8A-4147-A177-3AD203B41FA5}">
                      <a16:colId xmlns:a16="http://schemas.microsoft.com/office/drawing/2014/main" val="338682354"/>
                    </a:ext>
                  </a:extLst>
                </a:gridCol>
                <a:gridCol w="1142900">
                  <a:extLst>
                    <a:ext uri="{9D8B030D-6E8A-4147-A177-3AD203B41FA5}">
                      <a16:colId xmlns:a16="http://schemas.microsoft.com/office/drawing/2014/main" val="20000"/>
                    </a:ext>
                  </a:extLst>
                </a:gridCol>
                <a:gridCol w="1296659">
                  <a:extLst>
                    <a:ext uri="{9D8B030D-6E8A-4147-A177-3AD203B41FA5}">
                      <a16:colId xmlns:a16="http://schemas.microsoft.com/office/drawing/2014/main" val="20001"/>
                    </a:ext>
                  </a:extLst>
                </a:gridCol>
              </a:tblGrid>
              <a:tr h="617220">
                <a:tc>
                  <a:txBody>
                    <a:bodyPr/>
                    <a:lstStyle/>
                    <a:p>
                      <a:pPr algn="ctr" defTabSz="456778"/>
                      <a:endParaRPr lang="en-US" sz="1600" baseline="30000" dirty="0">
                        <a:solidFill>
                          <a:schemeClr val="tx2"/>
                        </a:solidFill>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defTabSz="456778"/>
                      <a:r>
                        <a:rPr lang="en-US" sz="1600" b="1" dirty="0">
                          <a:solidFill>
                            <a:schemeClr val="tx2"/>
                          </a:solidFill>
                          <a:ea typeface="Intel Clear Pro" charset="0"/>
                          <a:cs typeface="Intel Clear Pro" charset="0"/>
                        </a:rPr>
                        <a:t>Medical diagnostics</a:t>
                      </a:r>
                      <a:endParaRPr lang="en-US" sz="1600" dirty="0">
                        <a:solidFill>
                          <a:schemeClr val="tx2"/>
                        </a:solidFill>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90000"/>
                        </a:lnSpc>
                        <a:spcBef>
                          <a:spcPts val="0"/>
                        </a:spcBef>
                        <a:spcAft>
                          <a:spcPts val="0"/>
                        </a:spcAft>
                        <a:buClrTx/>
                        <a:buSzTx/>
                        <a:buFontTx/>
                        <a:buNone/>
                        <a:tabLst/>
                        <a:defRPr/>
                      </a:pPr>
                      <a:endParaRPr lang="en-US" sz="1600" b="1" i="0" dirty="0">
                        <a:solidFill>
                          <a:schemeClr val="tx2"/>
                        </a:solidFill>
                        <a:latin typeface="+mn-lt"/>
                        <a:ea typeface="Intel Clear Pro" charset="0"/>
                        <a:cs typeface="Intel Clear Pro" charset="0"/>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457200" rtl="0" eaLnBrk="1" fontAlgn="auto" latinLnBrk="0" hangingPunct="1">
                        <a:lnSpc>
                          <a:spcPct val="9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3C71"/>
                        </a:solidFill>
                        <a:effectLst/>
                        <a:uLnTx/>
                        <a:uFillTx/>
                        <a:latin typeface="Intel Clear Light" charset="0"/>
                        <a:ea typeface="Intel Clear Light" charset="0"/>
                        <a:cs typeface="Intel Clear Light" charset="0"/>
                      </a:endParaRPr>
                    </a:p>
                  </a:txBody>
                  <a:tcPr marL="60960" marR="60960" marT="0" marB="0" anchor="ctr">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pSp>
        <p:nvGrpSpPr>
          <p:cNvPr id="5" name="Group 4">
            <a:extLst>
              <a:ext uri="{FF2B5EF4-FFF2-40B4-BE49-F238E27FC236}">
                <a16:creationId xmlns:a16="http://schemas.microsoft.com/office/drawing/2014/main" id="{8E004775-1D76-4706-A936-EC22312FF021}"/>
              </a:ext>
            </a:extLst>
          </p:cNvPr>
          <p:cNvGrpSpPr/>
          <p:nvPr/>
        </p:nvGrpSpPr>
        <p:grpSpPr>
          <a:xfrm>
            <a:off x="784528" y="1302758"/>
            <a:ext cx="10760331" cy="4430581"/>
            <a:chOff x="784528" y="1302758"/>
            <a:chExt cx="10760331" cy="4430581"/>
          </a:xfrm>
        </p:grpSpPr>
        <p:sp>
          <p:nvSpPr>
            <p:cNvPr id="8" name="TextBox 7">
              <a:extLst>
                <a:ext uri="{FF2B5EF4-FFF2-40B4-BE49-F238E27FC236}">
                  <a16:creationId xmlns:a16="http://schemas.microsoft.com/office/drawing/2014/main" id="{11F0A27A-1591-4424-819C-B9EA928A21B8}"/>
                </a:ext>
              </a:extLst>
            </p:cNvPr>
            <p:cNvSpPr txBox="1"/>
            <p:nvPr/>
          </p:nvSpPr>
          <p:spPr>
            <a:xfrm>
              <a:off x="1047889" y="5113018"/>
              <a:ext cx="9244082" cy="400110"/>
            </a:xfrm>
            <a:prstGeom prst="rect">
              <a:avLst/>
            </a:prstGeom>
            <a:noFill/>
          </p:spPr>
          <p:txBody>
            <a:bodyPr wrap="square" rtlCol="0">
              <a:spAutoFit/>
            </a:bodyPr>
            <a:lstStyle/>
            <a:p>
              <a:r>
                <a:rPr lang="en-US" sz="2000" dirty="0">
                  <a:solidFill>
                    <a:schemeClr val="bg2">
                      <a:lumMod val="50000"/>
                    </a:schemeClr>
                  </a:solidFill>
                  <a:latin typeface="Calibri" panose="020F0502020204030204" pitchFamily="34" charset="0"/>
                  <a:ea typeface="+mj-ea"/>
                  <a:cs typeface="Calibri" panose="020F0502020204030204" pitchFamily="34" charset="0"/>
                </a:rPr>
                <a:t>*IP not claimed</a:t>
              </a:r>
            </a:p>
          </p:txBody>
        </p:sp>
        <p:pic>
          <p:nvPicPr>
            <p:cNvPr id="6" name="Picture 5">
              <a:extLst>
                <a:ext uri="{FF2B5EF4-FFF2-40B4-BE49-F238E27FC236}">
                  <a16:creationId xmlns:a16="http://schemas.microsoft.com/office/drawing/2014/main" id="{1BCE3D84-A84B-43F4-B7B4-24051B0A6287}"/>
                </a:ext>
              </a:extLst>
            </p:cNvPr>
            <p:cNvPicPr>
              <a:picLocks noChangeAspect="1"/>
            </p:cNvPicPr>
            <p:nvPr/>
          </p:nvPicPr>
          <p:blipFill rotWithShape="1">
            <a:blip r:embed="rId2" cstate="print">
              <a:alphaModFix amt="50000"/>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4700"/>
                      </a14:imgEffect>
                      <a14:imgEffect>
                        <a14:brightnessContrast bright="20000"/>
                      </a14:imgEffect>
                    </a14:imgLayer>
                  </a14:imgProps>
                </a:ext>
                <a:ext uri="{28A0092B-C50C-407E-A947-70E740481C1C}">
                  <a14:useLocalDpi xmlns:a14="http://schemas.microsoft.com/office/drawing/2010/main"/>
                </a:ext>
              </a:extLst>
            </a:blip>
            <a:srcRect/>
            <a:stretch/>
          </p:blipFill>
          <p:spPr>
            <a:xfrm>
              <a:off x="798125" y="1311779"/>
              <a:ext cx="3212384" cy="4409524"/>
            </a:xfrm>
            <a:prstGeom prst="rect">
              <a:avLst/>
            </a:prstGeom>
            <a:gradFill>
              <a:gsLst>
                <a:gs pos="100000">
                  <a:srgbClr val="0071C5">
                    <a:alpha val="0"/>
                  </a:srgbClr>
                </a:gs>
                <a:gs pos="0">
                  <a:schemeClr val="accent1">
                    <a:alpha val="30000"/>
                  </a:schemeClr>
                </a:gs>
              </a:gsLst>
              <a:lin ang="0" scaled="0"/>
            </a:gradFill>
          </p:spPr>
        </p:pic>
        <p:sp>
          <p:nvSpPr>
            <p:cNvPr id="7" name="Rectangle 6">
              <a:extLst>
                <a:ext uri="{FF2B5EF4-FFF2-40B4-BE49-F238E27FC236}">
                  <a16:creationId xmlns:a16="http://schemas.microsoft.com/office/drawing/2014/main" id="{5DAAC777-46B4-491A-96DB-074C44CEFCCE}"/>
                </a:ext>
              </a:extLst>
            </p:cNvPr>
            <p:cNvSpPr/>
            <p:nvPr/>
          </p:nvSpPr>
          <p:spPr>
            <a:xfrm>
              <a:off x="4090964" y="1302758"/>
              <a:ext cx="7453895" cy="798132"/>
            </a:xfrm>
            <a:prstGeom prst="rect">
              <a:avLst/>
            </a:prstGeom>
            <a:gradFill>
              <a:gsLst>
                <a:gs pos="93000">
                  <a:srgbClr val="0071C5">
                    <a:alpha val="10000"/>
                  </a:srgbClr>
                </a:gs>
                <a:gs pos="0">
                  <a:schemeClr val="accent1"/>
                </a:gs>
                <a:gs pos="25000">
                  <a:schemeClr val="accent1">
                    <a:alpha val="2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397">
                <a:solidFill>
                  <a:prstClr val="white"/>
                </a:solidFill>
                <a:latin typeface="Intel Clear"/>
              </a:endParaRPr>
            </a:p>
          </p:txBody>
        </p:sp>
        <p:sp>
          <p:nvSpPr>
            <p:cNvPr id="10" name="Rectangle 9">
              <a:extLst>
                <a:ext uri="{FF2B5EF4-FFF2-40B4-BE49-F238E27FC236}">
                  <a16:creationId xmlns:a16="http://schemas.microsoft.com/office/drawing/2014/main" id="{8CC4AB13-9A56-4446-84DC-744CE66D07DB}"/>
                </a:ext>
              </a:extLst>
            </p:cNvPr>
            <p:cNvSpPr/>
            <p:nvPr/>
          </p:nvSpPr>
          <p:spPr bwMode="auto">
            <a:xfrm>
              <a:off x="4076802" y="2456829"/>
              <a:ext cx="7462920" cy="813183"/>
            </a:xfrm>
            <a:prstGeom prst="rect">
              <a:avLst/>
            </a:prstGeom>
            <a:gradFill>
              <a:gsLst>
                <a:gs pos="93000">
                  <a:srgbClr val="0071C5">
                    <a:alpha val="10000"/>
                  </a:srgbClr>
                </a:gs>
                <a:gs pos="0">
                  <a:schemeClr val="accent1"/>
                </a:gs>
                <a:gs pos="25000">
                  <a:schemeClr val="accent1">
                    <a:alpha val="2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397">
                <a:solidFill>
                  <a:prstClr val="white"/>
                </a:solidFill>
                <a:latin typeface="Intel Clear"/>
              </a:endParaRPr>
            </a:p>
          </p:txBody>
        </p:sp>
        <p:sp>
          <p:nvSpPr>
            <p:cNvPr id="11" name="TextBox 89">
              <a:extLst>
                <a:ext uri="{FF2B5EF4-FFF2-40B4-BE49-F238E27FC236}">
                  <a16:creationId xmlns:a16="http://schemas.microsoft.com/office/drawing/2014/main" id="{A7541EFC-A449-4B02-88D7-E3FCAC8D2326}"/>
                </a:ext>
              </a:extLst>
            </p:cNvPr>
            <p:cNvSpPr txBox="1"/>
            <p:nvPr/>
          </p:nvSpPr>
          <p:spPr>
            <a:xfrm>
              <a:off x="4221169" y="2754154"/>
              <a:ext cx="3672919" cy="275140"/>
            </a:xfrm>
            <a:prstGeom prst="rect">
              <a:avLst/>
            </a:prstGeom>
            <a:noFill/>
          </p:spPr>
          <p:txBody>
            <a:bodyPr vert="horz" wrap="square" lIns="0" tIns="0" rIns="0" bIns="0" rtlCol="0" anchor="ctr" anchorCtr="0">
              <a:spAutoFit/>
            </a:bodyPr>
            <a:lstStyle>
              <a:defPPr>
                <a:defRPr lang="en-US"/>
              </a:defPPr>
              <a:lvl1pPr defTabSz="457200">
                <a:lnSpc>
                  <a:spcPct val="85000"/>
                </a:lnSpc>
                <a:defRPr sz="2400" b="1">
                  <a:solidFill>
                    <a:schemeClr val="accent1"/>
                  </a:solidFill>
                  <a:latin typeface="Intel Clear Pro"/>
                </a:defRPr>
              </a:lvl1pPr>
              <a:lvl2pPr marL="457200" defTabSz="457200">
                <a:defRPr sz="1800"/>
              </a:lvl2pPr>
              <a:lvl3pPr marL="914400" defTabSz="457200">
                <a:defRPr sz="1800"/>
              </a:lvl3pPr>
              <a:lvl4pPr marL="1371600" defTabSz="457200">
                <a:defRPr sz="1800"/>
              </a:lvl4pPr>
              <a:lvl5pPr marL="1828800" defTabSz="457200">
                <a:defRPr sz="1800"/>
              </a:lvl5pPr>
              <a:lvl6pPr marL="2286000" defTabSz="457200">
                <a:defRPr sz="1800"/>
              </a:lvl6pPr>
              <a:lvl7pPr marL="2743200" defTabSz="457200">
                <a:defRPr sz="1800"/>
              </a:lvl7pPr>
              <a:lvl8pPr marL="3200400" defTabSz="457200">
                <a:defRPr sz="1800"/>
              </a:lvl8pPr>
              <a:lvl9pPr marL="3657600" defTabSz="457200">
                <a:defRPr sz="1800"/>
              </a:lvl9pPr>
            </a:lstStyle>
            <a:p>
              <a:pPr defTabSz="608459">
                <a:lnSpc>
                  <a:spcPct val="70000"/>
                </a:lnSpc>
                <a:defRPr/>
              </a:pPr>
              <a:r>
                <a:rPr lang="en-US" kern="0" dirty="0">
                  <a:solidFill>
                    <a:prstClr val="white"/>
                  </a:solidFill>
                  <a:effectLst>
                    <a:outerShdw blurRad="50800" dist="38100" dir="2700000" algn="tl" rotWithShape="0">
                      <a:srgbClr val="003C71">
                        <a:alpha val="20000"/>
                      </a:srgbClr>
                    </a:outerShdw>
                  </a:effectLst>
                  <a:latin typeface="Calibri" panose="020F0502020204030204" pitchFamily="34" charset="0"/>
                  <a:cs typeface="Calibri" panose="020F0502020204030204" pitchFamily="34" charset="0"/>
                </a:rPr>
                <a:t>Financial modeling</a:t>
              </a:r>
            </a:p>
          </p:txBody>
        </p:sp>
        <p:sp>
          <p:nvSpPr>
            <p:cNvPr id="12" name="TextBox 89">
              <a:extLst>
                <a:ext uri="{FF2B5EF4-FFF2-40B4-BE49-F238E27FC236}">
                  <a16:creationId xmlns:a16="http://schemas.microsoft.com/office/drawing/2014/main" id="{8F34B67A-8265-4F0C-BA11-A984690D8222}"/>
                </a:ext>
              </a:extLst>
            </p:cNvPr>
            <p:cNvSpPr txBox="1"/>
            <p:nvPr/>
          </p:nvSpPr>
          <p:spPr>
            <a:xfrm>
              <a:off x="3741228" y="1589703"/>
              <a:ext cx="4095522" cy="275140"/>
            </a:xfrm>
            <a:prstGeom prst="rect">
              <a:avLst/>
            </a:prstGeom>
            <a:noFill/>
          </p:spPr>
          <p:txBody>
            <a:bodyPr vert="horz" wrap="square" lIns="0" tIns="0" rIns="0" bIns="0" rtlCol="0" anchor="ctr" anchorCtr="0">
              <a:spAutoFit/>
            </a:bodyPr>
            <a:lstStyle>
              <a:defPPr>
                <a:defRPr lang="en-US"/>
              </a:defPPr>
              <a:lvl1pPr defTabSz="457200">
                <a:lnSpc>
                  <a:spcPct val="85000"/>
                </a:lnSpc>
                <a:defRPr sz="2400" b="1">
                  <a:solidFill>
                    <a:schemeClr val="accent1"/>
                  </a:solidFill>
                  <a:latin typeface="Intel Clear Pro"/>
                </a:defRPr>
              </a:lvl1pPr>
              <a:lvl2pPr marL="457200" defTabSz="457200">
                <a:defRPr sz="1800"/>
              </a:lvl2pPr>
              <a:lvl3pPr marL="914400" defTabSz="457200">
                <a:defRPr sz="1800"/>
              </a:lvl3pPr>
              <a:lvl4pPr marL="1371600" defTabSz="457200">
                <a:defRPr sz="1800"/>
              </a:lvl4pPr>
              <a:lvl5pPr marL="1828800" defTabSz="457200">
                <a:defRPr sz="1800"/>
              </a:lvl5pPr>
              <a:lvl6pPr marL="2286000" defTabSz="457200">
                <a:defRPr sz="1800"/>
              </a:lvl6pPr>
              <a:lvl7pPr marL="2743200" defTabSz="457200">
                <a:defRPr sz="1800"/>
              </a:lvl7pPr>
              <a:lvl8pPr marL="3200400" defTabSz="457200">
                <a:defRPr sz="1800"/>
              </a:lvl8pPr>
              <a:lvl9pPr marL="3657600" defTabSz="457200">
                <a:defRPr sz="1800"/>
              </a:lvl9pPr>
            </a:lstStyle>
            <a:p>
              <a:pPr lvl="1" defTabSz="608459">
                <a:lnSpc>
                  <a:spcPct val="70000"/>
                </a:lnSpc>
                <a:defRPr/>
              </a:pPr>
              <a:r>
                <a:rPr lang="en-US" sz="2400" b="1" kern="0" dirty="0">
                  <a:solidFill>
                    <a:prstClr val="white"/>
                  </a:solidFill>
                  <a:effectLst>
                    <a:outerShdw blurRad="50800" dist="38100" dir="2700000" algn="tl" rotWithShape="0">
                      <a:srgbClr val="003C71">
                        <a:alpha val="20000"/>
                      </a:srgbClr>
                    </a:outerShdw>
                  </a:effectLst>
                  <a:latin typeface="Calibri" panose="020F0502020204030204" pitchFamily="34" charset="0"/>
                  <a:cs typeface="Calibri" panose="020F0502020204030204" pitchFamily="34" charset="0"/>
                </a:rPr>
                <a:t>Risk sensitive systems</a:t>
              </a:r>
            </a:p>
          </p:txBody>
        </p:sp>
        <p:sp>
          <p:nvSpPr>
            <p:cNvPr id="15" name="Rectangle 14">
              <a:extLst>
                <a:ext uri="{FF2B5EF4-FFF2-40B4-BE49-F238E27FC236}">
                  <a16:creationId xmlns:a16="http://schemas.microsoft.com/office/drawing/2014/main" id="{FA3D9575-A542-4D12-BA4D-646D89C49A75}"/>
                </a:ext>
              </a:extLst>
            </p:cNvPr>
            <p:cNvSpPr/>
            <p:nvPr/>
          </p:nvSpPr>
          <p:spPr bwMode="auto">
            <a:xfrm>
              <a:off x="4082276" y="3695936"/>
              <a:ext cx="7456681" cy="813184"/>
            </a:xfrm>
            <a:prstGeom prst="rect">
              <a:avLst/>
            </a:prstGeom>
            <a:gradFill>
              <a:gsLst>
                <a:gs pos="93000">
                  <a:srgbClr val="0071C5">
                    <a:alpha val="10000"/>
                  </a:srgbClr>
                </a:gs>
                <a:gs pos="0">
                  <a:schemeClr val="accent1"/>
                </a:gs>
                <a:gs pos="25000">
                  <a:schemeClr val="accent1">
                    <a:alpha val="2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397" dirty="0">
                <a:solidFill>
                  <a:prstClr val="white"/>
                </a:solidFill>
                <a:latin typeface="Intel Clear"/>
              </a:endParaRPr>
            </a:p>
          </p:txBody>
        </p:sp>
        <p:sp>
          <p:nvSpPr>
            <p:cNvPr id="16" name="TextBox 89">
              <a:extLst>
                <a:ext uri="{FF2B5EF4-FFF2-40B4-BE49-F238E27FC236}">
                  <a16:creationId xmlns:a16="http://schemas.microsoft.com/office/drawing/2014/main" id="{D07F14F9-7B20-4FBD-B84B-2043AE68631D}"/>
                </a:ext>
              </a:extLst>
            </p:cNvPr>
            <p:cNvSpPr txBox="1"/>
            <p:nvPr/>
          </p:nvSpPr>
          <p:spPr>
            <a:xfrm>
              <a:off x="4221169" y="3975963"/>
              <a:ext cx="2460776" cy="275140"/>
            </a:xfrm>
            <a:prstGeom prst="rect">
              <a:avLst/>
            </a:prstGeom>
            <a:noFill/>
          </p:spPr>
          <p:txBody>
            <a:bodyPr vert="horz" wrap="square" lIns="0" tIns="0" rIns="0" bIns="0" rtlCol="0" anchor="ctr" anchorCtr="0">
              <a:spAutoFit/>
            </a:bodyPr>
            <a:lstStyle>
              <a:defPPr>
                <a:defRPr lang="en-US"/>
              </a:defPPr>
              <a:lvl1pPr defTabSz="457200">
                <a:lnSpc>
                  <a:spcPct val="85000"/>
                </a:lnSpc>
                <a:defRPr sz="2400" b="1">
                  <a:solidFill>
                    <a:schemeClr val="accent1"/>
                  </a:solidFill>
                  <a:latin typeface="Intel Clear Pro"/>
                </a:defRPr>
              </a:lvl1pPr>
              <a:lvl2pPr marL="457200" defTabSz="457200">
                <a:defRPr sz="1800"/>
              </a:lvl2pPr>
              <a:lvl3pPr marL="914400" defTabSz="457200">
                <a:defRPr sz="1800"/>
              </a:lvl3pPr>
              <a:lvl4pPr marL="1371600" defTabSz="457200">
                <a:defRPr sz="1800"/>
              </a:lvl4pPr>
              <a:lvl5pPr marL="1828800" defTabSz="457200">
                <a:defRPr sz="1800"/>
              </a:lvl5pPr>
              <a:lvl6pPr marL="2286000" defTabSz="457200">
                <a:defRPr sz="1800"/>
              </a:lvl6pPr>
              <a:lvl7pPr marL="2743200" defTabSz="457200">
                <a:defRPr sz="1800"/>
              </a:lvl7pPr>
              <a:lvl8pPr marL="3200400" defTabSz="457200">
                <a:defRPr sz="1800"/>
              </a:lvl8pPr>
              <a:lvl9pPr marL="3657600" defTabSz="457200">
                <a:defRPr sz="1800"/>
              </a:lvl9pPr>
            </a:lstStyle>
            <a:p>
              <a:pPr defTabSz="608459">
                <a:lnSpc>
                  <a:spcPct val="70000"/>
                </a:lnSpc>
                <a:defRPr/>
              </a:pPr>
              <a:r>
                <a:rPr lang="en-US" kern="0" dirty="0">
                  <a:solidFill>
                    <a:prstClr val="white"/>
                  </a:solidFill>
                  <a:effectLst>
                    <a:outerShdw blurRad="50800" dist="38100" dir="2700000" algn="tl" rotWithShape="0">
                      <a:srgbClr val="003C71">
                        <a:alpha val="20000"/>
                      </a:srgbClr>
                    </a:outerShdw>
                  </a:effectLst>
                  <a:latin typeface="Calibri" panose="020F0502020204030204" pitchFamily="34" charset="0"/>
                  <a:cs typeface="Calibri" panose="020F0502020204030204" pitchFamily="34" charset="0"/>
                </a:rPr>
                <a:t>Infrastructure</a:t>
              </a:r>
            </a:p>
          </p:txBody>
        </p:sp>
        <p:sp>
          <p:nvSpPr>
            <p:cNvPr id="39" name="Rectangle 38">
              <a:extLst>
                <a:ext uri="{FF2B5EF4-FFF2-40B4-BE49-F238E27FC236}">
                  <a16:creationId xmlns:a16="http://schemas.microsoft.com/office/drawing/2014/main" id="{FB1BE2FC-DC3A-4A5D-B550-554EE11400BF}"/>
                </a:ext>
              </a:extLst>
            </p:cNvPr>
            <p:cNvSpPr/>
            <p:nvPr/>
          </p:nvSpPr>
          <p:spPr>
            <a:xfrm rot="5400000">
              <a:off x="185369" y="1910941"/>
              <a:ext cx="4421557" cy="3223240"/>
            </a:xfrm>
            <a:prstGeom prst="rect">
              <a:avLst/>
            </a:prstGeom>
            <a:gradFill>
              <a:gsLst>
                <a:gs pos="93000">
                  <a:srgbClr val="E6F1F9"/>
                </a:gs>
                <a:gs pos="0">
                  <a:schemeClr val="accent1"/>
                </a:gs>
                <a:gs pos="25000">
                  <a:schemeClr val="accent1">
                    <a:alpha val="2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397" dirty="0">
                <a:solidFill>
                  <a:prstClr val="white"/>
                </a:solidFill>
                <a:latin typeface="Intel Clear"/>
              </a:endParaRPr>
            </a:p>
          </p:txBody>
        </p:sp>
        <p:sp>
          <p:nvSpPr>
            <p:cNvPr id="40" name="TextBox 89">
              <a:extLst>
                <a:ext uri="{FF2B5EF4-FFF2-40B4-BE49-F238E27FC236}">
                  <a16:creationId xmlns:a16="http://schemas.microsoft.com/office/drawing/2014/main" id="{4BAC11EB-8F62-4000-B214-51F4DDEF48C2}"/>
                </a:ext>
              </a:extLst>
            </p:cNvPr>
            <p:cNvSpPr txBox="1"/>
            <p:nvPr/>
          </p:nvSpPr>
          <p:spPr>
            <a:xfrm>
              <a:off x="794782" y="1571589"/>
              <a:ext cx="3224375" cy="336246"/>
            </a:xfrm>
            <a:prstGeom prst="rect">
              <a:avLst/>
            </a:prstGeom>
            <a:noFill/>
          </p:spPr>
          <p:txBody>
            <a:bodyPr vert="horz" wrap="square" lIns="0" tIns="0" rIns="0" bIns="0" rtlCol="0" anchor="ctr" anchorCtr="0">
              <a:spAutoFit/>
            </a:bodyPr>
            <a:lstStyle>
              <a:defPPr>
                <a:defRPr lang="en-US"/>
              </a:defPPr>
              <a:lvl1pPr defTabSz="457200">
                <a:lnSpc>
                  <a:spcPct val="85000"/>
                </a:lnSpc>
                <a:defRPr sz="2400" b="1">
                  <a:solidFill>
                    <a:schemeClr val="accent1"/>
                  </a:solidFill>
                  <a:latin typeface="Intel Clear Pro"/>
                </a:defRPr>
              </a:lvl1pPr>
              <a:lvl2pPr marL="457200" defTabSz="457200">
                <a:defRPr sz="1800"/>
              </a:lvl2pPr>
              <a:lvl3pPr marL="914400" defTabSz="457200">
                <a:defRPr sz="1800"/>
              </a:lvl3pPr>
              <a:lvl4pPr marL="1371600" defTabSz="457200">
                <a:defRPr sz="1800"/>
              </a:lvl4pPr>
              <a:lvl5pPr marL="1828800" defTabSz="457200">
                <a:defRPr sz="1800"/>
              </a:lvl5pPr>
              <a:lvl6pPr marL="2286000" defTabSz="457200">
                <a:defRPr sz="1800"/>
              </a:lvl6pPr>
              <a:lvl7pPr marL="2743200" defTabSz="457200">
                <a:defRPr sz="1800"/>
              </a:lvl7pPr>
              <a:lvl8pPr marL="3200400" defTabSz="457200">
                <a:defRPr sz="1800"/>
              </a:lvl8pPr>
              <a:lvl9pPr marL="3657600" defTabSz="457200">
                <a:defRPr sz="1800"/>
              </a:lvl9pPr>
            </a:lstStyle>
            <a:p>
              <a:pPr algn="ctr" defTabSz="608459">
                <a:lnSpc>
                  <a:spcPct val="70000"/>
                </a:lnSpc>
                <a:defRPr/>
              </a:pPr>
              <a:r>
                <a:rPr lang="en-US" sz="2933" kern="0" dirty="0">
                  <a:solidFill>
                    <a:prstClr val="white"/>
                  </a:solidFill>
                  <a:effectLst>
                    <a:outerShdw blurRad="50800" dist="38100" dir="2700000" algn="tl" rotWithShape="0">
                      <a:srgbClr val="003C71">
                        <a:alpha val="20000"/>
                      </a:srgbClr>
                    </a:outerShdw>
                  </a:effectLst>
                  <a:latin typeface="Calibri" panose="020F0502020204030204" pitchFamily="34" charset="0"/>
                  <a:cs typeface="Calibri" panose="020F0502020204030204" pitchFamily="34" charset="0"/>
                </a:rPr>
                <a:t>Solutions</a:t>
              </a:r>
            </a:p>
          </p:txBody>
        </p:sp>
        <p:pic>
          <p:nvPicPr>
            <p:cNvPr id="41" name="Picture 40">
              <a:extLst>
                <a:ext uri="{FF2B5EF4-FFF2-40B4-BE49-F238E27FC236}">
                  <a16:creationId xmlns:a16="http://schemas.microsoft.com/office/drawing/2014/main" id="{1FCB1A44-1AE1-4BE4-BBA3-B57CF4BD5A74}"/>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colorTemperature colorTemp="4700"/>
                      </a14:imgEffect>
                    </a14:imgLayer>
                  </a14:imgProps>
                </a:ext>
                <a:ext uri="{28A0092B-C50C-407E-A947-70E740481C1C}">
                  <a14:useLocalDpi xmlns:a14="http://schemas.microsoft.com/office/drawing/2010/main"/>
                </a:ext>
              </a:extLst>
            </a:blip>
            <a:srcRect/>
            <a:stretch/>
          </p:blipFill>
          <p:spPr>
            <a:xfrm>
              <a:off x="800673" y="1889831"/>
              <a:ext cx="3231672" cy="3413421"/>
            </a:xfrm>
            <a:prstGeom prst="ellipse">
              <a:avLst/>
            </a:prstGeom>
            <a:effectLst>
              <a:softEdge rad="444500"/>
            </a:effectLst>
          </p:spPr>
        </p:pic>
        <p:sp>
          <p:nvSpPr>
            <p:cNvPr id="42" name="Rectangle 41">
              <a:extLst>
                <a:ext uri="{FF2B5EF4-FFF2-40B4-BE49-F238E27FC236}">
                  <a16:creationId xmlns:a16="http://schemas.microsoft.com/office/drawing/2014/main" id="{7AB4DA0D-7E84-49C9-8818-1CEA08D0E2C3}"/>
                </a:ext>
              </a:extLst>
            </p:cNvPr>
            <p:cNvSpPr/>
            <p:nvPr/>
          </p:nvSpPr>
          <p:spPr>
            <a:xfrm>
              <a:off x="811561" y="5202936"/>
              <a:ext cx="1155664" cy="268984"/>
            </a:xfrm>
            <a:prstGeom prst="rect">
              <a:avLst/>
            </a:prstGeom>
          </p:spPr>
          <p:txBody>
            <a:bodyPr wrap="square">
              <a:spAutoFit/>
            </a:bodyPr>
            <a:lstStyle/>
            <a:p>
              <a:pPr algn="ctr" defTabSz="609585">
                <a:lnSpc>
                  <a:spcPct val="80000"/>
                </a:lnSpc>
              </a:pPr>
              <a:r>
                <a:rPr lang="en-US" sz="1400" b="1" dirty="0">
                  <a:solidFill>
                    <a:srgbClr val="003C71"/>
                  </a:solidFill>
                  <a:effectLst>
                    <a:outerShdw blurRad="50800" dist="38100" dir="2700000" algn="tl" rotWithShape="0">
                      <a:prstClr val="white">
                        <a:alpha val="40000"/>
                      </a:prstClr>
                    </a:outerShdw>
                  </a:effectLst>
                  <a:latin typeface="Calibri" panose="020F0502020204030204" pitchFamily="34" charset="0"/>
                  <a:ea typeface="Intel Clear" panose="020B0604020203020204" pitchFamily="34" charset="0"/>
                  <a:cs typeface="Calibri" panose="020F0502020204030204" pitchFamily="34" charset="0"/>
                </a:rPr>
                <a:t>Classification</a:t>
              </a:r>
            </a:p>
          </p:txBody>
        </p:sp>
        <p:sp>
          <p:nvSpPr>
            <p:cNvPr id="43" name="Rectangle 42">
              <a:extLst>
                <a:ext uri="{FF2B5EF4-FFF2-40B4-BE49-F238E27FC236}">
                  <a16:creationId xmlns:a16="http://schemas.microsoft.com/office/drawing/2014/main" id="{EE6AEB44-9F4C-4FC6-96C6-1857B2077CDC}"/>
                </a:ext>
              </a:extLst>
            </p:cNvPr>
            <p:cNvSpPr/>
            <p:nvPr/>
          </p:nvSpPr>
          <p:spPr>
            <a:xfrm>
              <a:off x="1919833" y="5200055"/>
              <a:ext cx="1062269" cy="268984"/>
            </a:xfrm>
            <a:prstGeom prst="rect">
              <a:avLst/>
            </a:prstGeom>
          </p:spPr>
          <p:txBody>
            <a:bodyPr wrap="square">
              <a:spAutoFit/>
            </a:bodyPr>
            <a:lstStyle/>
            <a:p>
              <a:pPr algn="ctr" defTabSz="609585">
                <a:lnSpc>
                  <a:spcPct val="80000"/>
                </a:lnSpc>
              </a:pPr>
              <a:r>
                <a:rPr lang="en-US" sz="1400" b="1" dirty="0">
                  <a:solidFill>
                    <a:srgbClr val="003C71"/>
                  </a:solidFill>
                  <a:effectLst>
                    <a:outerShdw blurRad="50800" dist="38100" dir="2700000" algn="tl" rotWithShape="0">
                      <a:prstClr val="white">
                        <a:alpha val="40000"/>
                      </a:prstClr>
                    </a:outerShdw>
                  </a:effectLst>
                  <a:latin typeface="Calibri" panose="020F0502020204030204" pitchFamily="34" charset="0"/>
                  <a:ea typeface="Intel Clear" panose="020B0604020203020204" pitchFamily="34" charset="0"/>
                  <a:cs typeface="Calibri" panose="020F0502020204030204" pitchFamily="34" charset="0"/>
                </a:rPr>
                <a:t>Regression</a:t>
              </a:r>
            </a:p>
          </p:txBody>
        </p:sp>
        <p:sp>
          <p:nvSpPr>
            <p:cNvPr id="44" name="Rectangle 43">
              <a:extLst>
                <a:ext uri="{FF2B5EF4-FFF2-40B4-BE49-F238E27FC236}">
                  <a16:creationId xmlns:a16="http://schemas.microsoft.com/office/drawing/2014/main" id="{8A7C97AC-FFC4-430C-B4EA-C5164988AB96}"/>
                </a:ext>
              </a:extLst>
            </p:cNvPr>
            <p:cNvSpPr/>
            <p:nvPr/>
          </p:nvSpPr>
          <p:spPr>
            <a:xfrm>
              <a:off x="2854225" y="5204438"/>
              <a:ext cx="1155664" cy="268984"/>
            </a:xfrm>
            <a:prstGeom prst="rect">
              <a:avLst/>
            </a:prstGeom>
          </p:spPr>
          <p:txBody>
            <a:bodyPr wrap="square">
              <a:spAutoFit/>
            </a:bodyPr>
            <a:lstStyle/>
            <a:p>
              <a:pPr algn="ctr" defTabSz="609585">
                <a:lnSpc>
                  <a:spcPct val="80000"/>
                </a:lnSpc>
              </a:pPr>
              <a:r>
                <a:rPr lang="en-US" sz="1400" b="1" dirty="0">
                  <a:solidFill>
                    <a:srgbClr val="003C71"/>
                  </a:solidFill>
                  <a:effectLst>
                    <a:outerShdw blurRad="50800" dist="38100" dir="2700000" algn="tl" rotWithShape="0">
                      <a:prstClr val="white">
                        <a:alpha val="40000"/>
                      </a:prstClr>
                    </a:outerShdw>
                  </a:effectLst>
                  <a:latin typeface="Calibri" panose="020F0502020204030204" pitchFamily="34" charset="0"/>
                  <a:ea typeface="Intel Clear" panose="020B0604020203020204" pitchFamily="34" charset="0"/>
                  <a:cs typeface="Calibri" panose="020F0502020204030204" pitchFamily="34" charset="0"/>
                </a:rPr>
                <a:t>Time Series</a:t>
              </a:r>
            </a:p>
          </p:txBody>
        </p:sp>
        <p:sp>
          <p:nvSpPr>
            <p:cNvPr id="76" name="Rectangle 75">
              <a:extLst>
                <a:ext uri="{FF2B5EF4-FFF2-40B4-BE49-F238E27FC236}">
                  <a16:creationId xmlns:a16="http://schemas.microsoft.com/office/drawing/2014/main" id="{1339DF52-A797-4960-98CF-7D4439AFC0C7}"/>
                </a:ext>
              </a:extLst>
            </p:cNvPr>
            <p:cNvSpPr/>
            <p:nvPr/>
          </p:nvSpPr>
          <p:spPr bwMode="auto">
            <a:xfrm>
              <a:off x="4076802" y="4920155"/>
              <a:ext cx="7456681" cy="813184"/>
            </a:xfrm>
            <a:prstGeom prst="rect">
              <a:avLst/>
            </a:prstGeom>
            <a:gradFill>
              <a:gsLst>
                <a:gs pos="93000">
                  <a:srgbClr val="0071C5">
                    <a:alpha val="10000"/>
                  </a:srgbClr>
                </a:gs>
                <a:gs pos="0">
                  <a:schemeClr val="accent1"/>
                </a:gs>
                <a:gs pos="25000">
                  <a:schemeClr val="accent1">
                    <a:alpha val="25000"/>
                  </a:scheme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397" dirty="0">
                <a:solidFill>
                  <a:prstClr val="white"/>
                </a:solidFill>
                <a:latin typeface="Intel Clear"/>
              </a:endParaRPr>
            </a:p>
          </p:txBody>
        </p:sp>
        <p:sp>
          <p:nvSpPr>
            <p:cNvPr id="78" name="TextBox 89">
              <a:extLst>
                <a:ext uri="{FF2B5EF4-FFF2-40B4-BE49-F238E27FC236}">
                  <a16:creationId xmlns:a16="http://schemas.microsoft.com/office/drawing/2014/main" id="{B40105B2-826D-4A50-BAE5-753024B8FC5D}"/>
                </a:ext>
              </a:extLst>
            </p:cNvPr>
            <p:cNvSpPr txBox="1"/>
            <p:nvPr/>
          </p:nvSpPr>
          <p:spPr>
            <a:xfrm>
              <a:off x="4261411" y="5232995"/>
              <a:ext cx="2460776" cy="275140"/>
            </a:xfrm>
            <a:prstGeom prst="rect">
              <a:avLst/>
            </a:prstGeom>
            <a:noFill/>
          </p:spPr>
          <p:txBody>
            <a:bodyPr vert="horz" wrap="square" lIns="0" tIns="0" rIns="0" bIns="0" rtlCol="0" anchor="ctr" anchorCtr="0">
              <a:spAutoFit/>
            </a:bodyPr>
            <a:lstStyle>
              <a:defPPr>
                <a:defRPr lang="en-US"/>
              </a:defPPr>
              <a:lvl1pPr defTabSz="457200">
                <a:lnSpc>
                  <a:spcPct val="85000"/>
                </a:lnSpc>
                <a:defRPr sz="2400" b="1">
                  <a:solidFill>
                    <a:schemeClr val="accent1"/>
                  </a:solidFill>
                  <a:latin typeface="Intel Clear Pro"/>
                </a:defRPr>
              </a:lvl1pPr>
              <a:lvl2pPr marL="457200" defTabSz="457200">
                <a:defRPr sz="1800"/>
              </a:lvl2pPr>
              <a:lvl3pPr marL="914400" defTabSz="457200">
                <a:defRPr sz="1800"/>
              </a:lvl3pPr>
              <a:lvl4pPr marL="1371600" defTabSz="457200">
                <a:defRPr sz="1800"/>
              </a:lvl4pPr>
              <a:lvl5pPr marL="1828800" defTabSz="457200">
                <a:defRPr sz="1800"/>
              </a:lvl5pPr>
              <a:lvl6pPr marL="2286000" defTabSz="457200">
                <a:defRPr sz="1800"/>
              </a:lvl6pPr>
              <a:lvl7pPr marL="2743200" defTabSz="457200">
                <a:defRPr sz="1800"/>
              </a:lvl7pPr>
              <a:lvl8pPr marL="3200400" defTabSz="457200">
                <a:defRPr sz="1800"/>
              </a:lvl8pPr>
              <a:lvl9pPr marL="3657600" defTabSz="457200">
                <a:defRPr sz="1800"/>
              </a:lvl9pPr>
            </a:lstStyle>
            <a:p>
              <a:pPr defTabSz="608459">
                <a:lnSpc>
                  <a:spcPct val="70000"/>
                </a:lnSpc>
                <a:defRPr/>
              </a:pPr>
              <a:r>
                <a:rPr lang="en-US" kern="0" dirty="0">
                  <a:solidFill>
                    <a:prstClr val="white"/>
                  </a:solidFill>
                  <a:effectLst>
                    <a:outerShdw blurRad="50800" dist="38100" dir="2700000" algn="tl" rotWithShape="0">
                      <a:srgbClr val="003C71">
                        <a:alpha val="20000"/>
                      </a:srgbClr>
                    </a:outerShdw>
                  </a:effectLst>
                  <a:latin typeface="Calibri" panose="020F0502020204030204" pitchFamily="34" charset="0"/>
                  <a:cs typeface="Calibri" panose="020F0502020204030204" pitchFamily="34" charset="0"/>
                </a:rPr>
                <a:t>Healthcare</a:t>
              </a:r>
            </a:p>
          </p:txBody>
        </p:sp>
      </p:grpSp>
    </p:spTree>
    <p:extLst>
      <p:ext uri="{BB962C8B-B14F-4D97-AF65-F5344CB8AC3E}">
        <p14:creationId xmlns:p14="http://schemas.microsoft.com/office/powerpoint/2010/main" val="105033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610DB7-58CE-4011-8DE5-A800EB10907D}"/>
              </a:ext>
            </a:extLst>
          </p:cNvPr>
          <p:cNvSpPr>
            <a:spLocks noGrp="1"/>
          </p:cNvSpPr>
          <p:nvPr>
            <p:ph type="sldNum" sz="quarter" idx="4"/>
          </p:nvPr>
        </p:nvSpPr>
        <p:spPr>
          <a:xfrm>
            <a:off x="8032665" y="6376243"/>
            <a:ext cx="683339" cy="365125"/>
          </a:xfrm>
        </p:spPr>
        <p:txBody>
          <a:bodyPr/>
          <a:lstStyle/>
          <a:p>
            <a:fld id="{D57F1E4F-1CFF-5643-939E-217C01CDF565}" type="slidenum">
              <a:rPr lang="en-US" smtClean="0"/>
              <a:pPr/>
              <a:t>20</a:t>
            </a:fld>
            <a:endParaRPr lang="en-US" dirty="0"/>
          </a:p>
        </p:txBody>
      </p:sp>
      <p:sp>
        <p:nvSpPr>
          <p:cNvPr id="4" name="Title 3">
            <a:extLst>
              <a:ext uri="{FF2B5EF4-FFF2-40B4-BE49-F238E27FC236}">
                <a16:creationId xmlns:a16="http://schemas.microsoft.com/office/drawing/2014/main" id="{A2C92A47-8CF1-4E0A-AE38-3BF8ED369E44}"/>
              </a:ext>
            </a:extLst>
          </p:cNvPr>
          <p:cNvSpPr>
            <a:spLocks noGrp="1"/>
          </p:cNvSpPr>
          <p:nvPr>
            <p:ph type="title"/>
          </p:nvPr>
        </p:nvSpPr>
        <p:spPr>
          <a:xfrm>
            <a:off x="811700" y="373455"/>
            <a:ext cx="8596668" cy="1320800"/>
          </a:xfrm>
        </p:spPr>
        <p:txBody>
          <a:bodyPr/>
          <a:lstStyle/>
          <a:p>
            <a:r>
              <a:rPr lang="en-US" dirty="0"/>
              <a:t>Contributions </a:t>
            </a:r>
          </a:p>
        </p:txBody>
      </p:sp>
      <p:sp>
        <p:nvSpPr>
          <p:cNvPr id="5" name="TextBox 4">
            <a:extLst>
              <a:ext uri="{FF2B5EF4-FFF2-40B4-BE49-F238E27FC236}">
                <a16:creationId xmlns:a16="http://schemas.microsoft.com/office/drawing/2014/main" id="{BA662A22-2241-4D24-835F-114A2F163B41}"/>
              </a:ext>
            </a:extLst>
          </p:cNvPr>
          <p:cNvSpPr txBox="1"/>
          <p:nvPr/>
        </p:nvSpPr>
        <p:spPr>
          <a:xfrm>
            <a:off x="2054094" y="1456966"/>
            <a:ext cx="2880320" cy="954107"/>
          </a:xfrm>
          <a:prstGeom prst="rect">
            <a:avLst/>
          </a:prstGeom>
          <a:noFill/>
        </p:spPr>
        <p:txBody>
          <a:bodyPr wrap="square" rtlCol="0">
            <a:spAutoFit/>
          </a:bodyPr>
          <a:lstStyle/>
          <a:p>
            <a:pPr algn="ctr"/>
            <a:r>
              <a:rPr lang="en-US" sz="2800" dirty="0">
                <a:solidFill>
                  <a:schemeClr val="bg1"/>
                </a:solidFill>
                <a:latin typeface="Calibri" panose="020F0502020204030204" pitchFamily="34" charset="0"/>
                <a:cs typeface="Calibri" panose="020F0502020204030204" pitchFamily="34" charset="0"/>
              </a:rPr>
              <a:t>Label Ranking</a:t>
            </a:r>
          </a:p>
          <a:p>
            <a:pPr algn="ctr"/>
            <a:endParaRPr lang="en-US" sz="2800" dirty="0">
              <a:solidFill>
                <a:schemeClr val="bg1"/>
              </a:solidFill>
              <a:latin typeface="Calibri" panose="020F0502020204030204" pitchFamily="34" charset="0"/>
              <a:cs typeface="Calibri" panose="020F0502020204030204" pitchFamily="34" charset="0"/>
            </a:endParaRPr>
          </a:p>
        </p:txBody>
      </p:sp>
      <p:grpSp>
        <p:nvGrpSpPr>
          <p:cNvPr id="6" name="Group 5">
            <a:extLst>
              <a:ext uri="{FF2B5EF4-FFF2-40B4-BE49-F238E27FC236}">
                <a16:creationId xmlns:a16="http://schemas.microsoft.com/office/drawing/2014/main" id="{E8D3DF15-2A32-4DB8-9252-1B92AB993315}"/>
              </a:ext>
            </a:extLst>
          </p:cNvPr>
          <p:cNvGrpSpPr/>
          <p:nvPr/>
        </p:nvGrpSpPr>
        <p:grpSpPr>
          <a:xfrm>
            <a:off x="8174308" y="1564847"/>
            <a:ext cx="3205992" cy="3836187"/>
            <a:chOff x="8174308" y="1564847"/>
            <a:chExt cx="3205992" cy="3836187"/>
          </a:xfrm>
        </p:grpSpPr>
        <p:sp>
          <p:nvSpPr>
            <p:cNvPr id="19" name="Rectangle 18">
              <a:extLst>
                <a:ext uri="{FF2B5EF4-FFF2-40B4-BE49-F238E27FC236}">
                  <a16:creationId xmlns:a16="http://schemas.microsoft.com/office/drawing/2014/main" id="{5BCEF378-44B1-4501-AD6D-EC8C34ABE949}"/>
                </a:ext>
              </a:extLst>
            </p:cNvPr>
            <p:cNvSpPr/>
            <p:nvPr/>
          </p:nvSpPr>
          <p:spPr>
            <a:xfrm>
              <a:off x="8212971" y="1564847"/>
              <a:ext cx="3128666" cy="3836187"/>
            </a:xfrm>
            <a:prstGeom prst="rect">
              <a:avLst/>
            </a:prstGeom>
            <a:solidFill>
              <a:srgbClr val="7030A0">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alibri" panose="020F0502020204030204" pitchFamily="34" charset="0"/>
                <a:cs typeface="Calibri" panose="020F0502020204030204" pitchFamily="34" charset="0"/>
              </a:endParaRPr>
            </a:p>
            <a:p>
              <a:pPr algn="ctr"/>
              <a:endParaRPr lang="en-US" sz="2400" dirty="0">
                <a:solidFill>
                  <a:schemeClr val="tx1"/>
                </a:solidFill>
                <a:latin typeface="Calibri" panose="020F0502020204030204" pitchFamily="34" charset="0"/>
                <a:cs typeface="Calibri" panose="020F0502020204030204" pitchFamily="34" charset="0"/>
              </a:endParaRPr>
            </a:p>
            <a:p>
              <a:pPr algn="ctr"/>
              <a:endParaRPr lang="en-US" sz="2400" dirty="0">
                <a:solidFill>
                  <a:schemeClr val="tx1"/>
                </a:solidFill>
                <a:latin typeface="Calibri" panose="020F0502020204030204" pitchFamily="34" charset="0"/>
                <a:cs typeface="Calibri" panose="020F0502020204030204" pitchFamily="34" charset="0"/>
              </a:endParaRPr>
            </a:p>
            <a:p>
              <a:pPr algn="ctr"/>
              <a:endParaRPr lang="en-US" sz="2400" dirty="0">
                <a:solidFill>
                  <a:schemeClr val="tx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6AB736C3-1C9D-4783-AE89-3542DB68E103}"/>
                </a:ext>
              </a:extLst>
            </p:cNvPr>
            <p:cNvSpPr txBox="1"/>
            <p:nvPr/>
          </p:nvSpPr>
          <p:spPr>
            <a:xfrm>
              <a:off x="9164515" y="2004074"/>
              <a:ext cx="2196453" cy="1748542"/>
            </a:xfrm>
            <a:prstGeom prst="rect">
              <a:avLst/>
            </a:prstGeom>
            <a:noFill/>
          </p:spPr>
          <p:txBody>
            <a:bodyPr wrap="square" rtlCol="0">
              <a:spAutoFit/>
            </a:bodyPr>
            <a:lstStyle/>
            <a:p>
              <a:r>
                <a:rPr lang="en-US" sz="2800" dirty="0">
                  <a:solidFill>
                    <a:schemeClr val="bg1"/>
                  </a:solidFill>
                  <a:latin typeface="Calibri" panose="020F0502020204030204" pitchFamily="34" charset="0"/>
                  <a:cs typeface="Calibri" panose="020F0502020204030204" pitchFamily="34" charset="0"/>
                </a:rPr>
                <a:t>ConfClr </a:t>
              </a:r>
            </a:p>
            <a:p>
              <a:endParaRPr lang="en-US" sz="2800" dirty="0">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CA1138F0-32B8-4701-88E1-9FF3F9D7B9F2}"/>
                </a:ext>
              </a:extLst>
            </p:cNvPr>
            <p:cNvSpPr txBox="1"/>
            <p:nvPr/>
          </p:nvSpPr>
          <p:spPr>
            <a:xfrm>
              <a:off x="8174308" y="3206958"/>
              <a:ext cx="3205992" cy="984885"/>
            </a:xfrm>
            <a:prstGeom prst="rect">
              <a:avLst/>
            </a:prstGeom>
            <a:noFill/>
          </p:spPr>
          <p:txBody>
            <a:bodyPr wrap="square" rtlCol="0">
              <a:spAutoFit/>
            </a:bodyPr>
            <a:lstStyle/>
            <a:p>
              <a:pPr algn="ctr"/>
              <a:r>
                <a:rPr lang="en-US" sz="2000" dirty="0">
                  <a:solidFill>
                    <a:schemeClr val="bg1"/>
                  </a:solidFill>
                  <a:latin typeface="Calibri" panose="020F0502020204030204" pitchFamily="34" charset="0"/>
                  <a:cs typeface="Calibri" panose="020F0502020204030204" pitchFamily="34" charset="0"/>
                </a:rPr>
                <a:t>Python package on PyPi</a:t>
              </a:r>
            </a:p>
            <a:p>
              <a:pPr algn="ctr"/>
              <a:r>
                <a:rPr lang="en-US" dirty="0">
                  <a:solidFill>
                    <a:schemeClr val="bg1"/>
                  </a:solidFill>
                  <a:latin typeface="Courier New" panose="02070309020205020404" pitchFamily="49" charset="0"/>
                  <a:cs typeface="Courier New" panose="02070309020205020404" pitchFamily="49" charset="0"/>
                </a:rPr>
                <a:t>pip install ConfClr</a:t>
              </a:r>
            </a:p>
            <a:p>
              <a:pPr algn="ctr"/>
              <a:endParaRPr lang="en-US" sz="2000" dirty="0">
                <a:solidFill>
                  <a:schemeClr val="bg1"/>
                </a:solidFill>
                <a:latin typeface="Calibri" panose="020F0502020204030204" pitchFamily="34" charset="0"/>
                <a:cs typeface="Calibri" panose="020F0502020204030204" pitchFamily="34" charset="0"/>
              </a:endParaRPr>
            </a:p>
          </p:txBody>
        </p:sp>
      </p:grpSp>
      <p:grpSp>
        <p:nvGrpSpPr>
          <p:cNvPr id="2" name="Group 1">
            <a:extLst>
              <a:ext uri="{FF2B5EF4-FFF2-40B4-BE49-F238E27FC236}">
                <a16:creationId xmlns:a16="http://schemas.microsoft.com/office/drawing/2014/main" id="{2289A606-B618-45FA-A1AA-CF9AC0EAD7D2}"/>
              </a:ext>
            </a:extLst>
          </p:cNvPr>
          <p:cNvGrpSpPr/>
          <p:nvPr/>
        </p:nvGrpSpPr>
        <p:grpSpPr>
          <a:xfrm>
            <a:off x="4573149" y="1564847"/>
            <a:ext cx="3185745" cy="3836187"/>
            <a:chOff x="4573149" y="1564847"/>
            <a:chExt cx="3185745" cy="3836187"/>
          </a:xfrm>
        </p:grpSpPr>
        <p:sp>
          <p:nvSpPr>
            <p:cNvPr id="11" name="Rectangle 10">
              <a:extLst>
                <a:ext uri="{FF2B5EF4-FFF2-40B4-BE49-F238E27FC236}">
                  <a16:creationId xmlns:a16="http://schemas.microsoft.com/office/drawing/2014/main" id="{7727BF8F-2CB1-4126-A948-AAF9DAFE04BC}"/>
                </a:ext>
              </a:extLst>
            </p:cNvPr>
            <p:cNvSpPr/>
            <p:nvPr/>
          </p:nvSpPr>
          <p:spPr>
            <a:xfrm>
              <a:off x="4611812" y="1564847"/>
              <a:ext cx="3147082" cy="3836187"/>
            </a:xfrm>
            <a:prstGeom prst="rect">
              <a:avLst/>
            </a:prstGeom>
            <a:solidFill>
              <a:srgbClr val="0070C0">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alibri" panose="020F0502020204030204" pitchFamily="34" charset="0"/>
                <a:cs typeface="Calibri" panose="020F0502020204030204" pitchFamily="34" charset="0"/>
              </a:endParaRPr>
            </a:p>
            <a:p>
              <a:pPr algn="ctr"/>
              <a:endParaRPr lang="en-US" sz="2400" dirty="0">
                <a:solidFill>
                  <a:schemeClr val="tx1"/>
                </a:solidFill>
                <a:latin typeface="Calibri" panose="020F0502020204030204" pitchFamily="34" charset="0"/>
                <a:cs typeface="Calibri" panose="020F0502020204030204" pitchFamily="34" charset="0"/>
              </a:endParaRPr>
            </a:p>
            <a:p>
              <a:pPr algn="ctr"/>
              <a:endParaRPr lang="en-US" sz="2400" dirty="0">
                <a:solidFill>
                  <a:schemeClr val="tx1"/>
                </a:solidFill>
                <a:latin typeface="Calibri" panose="020F0502020204030204" pitchFamily="34" charset="0"/>
                <a:cs typeface="Calibri" panose="020F0502020204030204" pitchFamily="34" charset="0"/>
              </a:endParaRPr>
            </a:p>
            <a:p>
              <a:pPr algn="ctr"/>
              <a:endParaRPr lang="en-US" sz="2400" dirty="0">
                <a:solidFill>
                  <a:schemeClr val="tx1"/>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FBA9A447-5D1B-422C-9F16-7849406983DC}"/>
                </a:ext>
              </a:extLst>
            </p:cNvPr>
            <p:cNvSpPr txBox="1"/>
            <p:nvPr/>
          </p:nvSpPr>
          <p:spPr>
            <a:xfrm>
              <a:off x="4810117" y="2004073"/>
              <a:ext cx="2733382" cy="1384995"/>
            </a:xfrm>
            <a:prstGeom prst="rect">
              <a:avLst/>
            </a:prstGeom>
            <a:noFill/>
          </p:spPr>
          <p:txBody>
            <a:bodyPr wrap="square" rtlCol="0">
              <a:spAutoFit/>
            </a:bodyPr>
            <a:lstStyle/>
            <a:p>
              <a:pPr algn="ctr"/>
              <a:r>
                <a:rPr lang="en-US" sz="2800" dirty="0">
                  <a:solidFill>
                    <a:schemeClr val="bg1"/>
                  </a:solidFill>
                  <a:latin typeface="Calibri" panose="020F0502020204030204" pitchFamily="34" charset="0"/>
                  <a:cs typeface="Calibri" panose="020F0502020204030204" pitchFamily="34" charset="0"/>
                </a:rPr>
                <a:t>Accept or Reject Prediction</a:t>
              </a:r>
            </a:p>
            <a:p>
              <a:pPr algn="ctr"/>
              <a:endParaRPr lang="en-US" sz="2800" dirty="0">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DB894D18-0BCA-47A1-AD28-7B1C29FCB879}"/>
                </a:ext>
              </a:extLst>
            </p:cNvPr>
            <p:cNvSpPr txBox="1"/>
            <p:nvPr/>
          </p:nvSpPr>
          <p:spPr>
            <a:xfrm>
              <a:off x="4573149" y="3187304"/>
              <a:ext cx="3147082" cy="1297305"/>
            </a:xfrm>
            <a:prstGeom prst="rect">
              <a:avLst/>
            </a:prstGeom>
            <a:noFill/>
          </p:spPr>
          <p:txBody>
            <a:bodyPr wrap="square" rtlCol="0">
              <a:spAutoFit/>
            </a:bodyPr>
            <a:lstStyle/>
            <a:p>
              <a:pPr algn="ctr"/>
              <a:r>
                <a:rPr lang="en-US" sz="2000" dirty="0">
                  <a:solidFill>
                    <a:schemeClr val="bg1"/>
                  </a:solidFill>
                  <a:latin typeface="Calibri" panose="020F0502020204030204" pitchFamily="34" charset="0"/>
                  <a:cs typeface="Calibri" panose="020F0502020204030204" pitchFamily="34" charset="0"/>
                </a:rPr>
                <a:t>Confidence : High</a:t>
              </a:r>
            </a:p>
            <a:p>
              <a:pPr algn="ctr"/>
              <a:r>
                <a:rPr lang="en-US" sz="2000" dirty="0">
                  <a:solidFill>
                    <a:schemeClr val="bg1"/>
                  </a:solidFill>
                  <a:latin typeface="Calibri" panose="020F0502020204030204" pitchFamily="34" charset="0"/>
                  <a:cs typeface="Calibri" panose="020F0502020204030204" pitchFamily="34" charset="0"/>
                </a:rPr>
                <a:t>Credibility: Not too Low</a:t>
              </a:r>
            </a:p>
          </p:txBody>
        </p:sp>
      </p:grpSp>
      <p:sp>
        <p:nvSpPr>
          <p:cNvPr id="17" name="Rectangle 16">
            <a:extLst>
              <a:ext uri="{FF2B5EF4-FFF2-40B4-BE49-F238E27FC236}">
                <a16:creationId xmlns:a16="http://schemas.microsoft.com/office/drawing/2014/main" id="{ED2AB97A-56BF-4F2A-A3AA-734B22E57AAB}"/>
              </a:ext>
            </a:extLst>
          </p:cNvPr>
          <p:cNvSpPr/>
          <p:nvPr/>
        </p:nvSpPr>
        <p:spPr>
          <a:xfrm>
            <a:off x="1049316" y="1534471"/>
            <a:ext cx="3147082" cy="3836187"/>
          </a:xfrm>
          <a:prstGeom prst="rect">
            <a:avLst/>
          </a:prstGeom>
          <a:solidFill>
            <a:srgbClr val="FFC000">
              <a:alpha val="5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alibri" panose="020F0502020204030204" pitchFamily="34" charset="0"/>
              <a:cs typeface="Calibri" panose="020F0502020204030204" pitchFamily="34" charset="0"/>
            </a:endParaRPr>
          </a:p>
          <a:p>
            <a:pPr algn="ctr"/>
            <a:endParaRPr lang="en-US" sz="2400" dirty="0">
              <a:solidFill>
                <a:schemeClr val="tx1"/>
              </a:solidFill>
              <a:latin typeface="Calibri" panose="020F0502020204030204" pitchFamily="34" charset="0"/>
              <a:cs typeface="Calibri" panose="020F0502020204030204" pitchFamily="34" charset="0"/>
            </a:endParaRPr>
          </a:p>
          <a:p>
            <a:pPr algn="ctr"/>
            <a:endParaRPr lang="en-US" sz="2400" dirty="0">
              <a:solidFill>
                <a:schemeClr val="tx1"/>
              </a:solidFill>
              <a:latin typeface="Calibri" panose="020F0502020204030204" pitchFamily="34" charset="0"/>
              <a:cs typeface="Calibri" panose="020F0502020204030204" pitchFamily="34" charset="0"/>
            </a:endParaRPr>
          </a:p>
          <a:p>
            <a:pPr algn="ctr"/>
            <a:endParaRPr lang="en-US" sz="2400" dirty="0">
              <a:solidFill>
                <a:schemeClr val="tx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0A4D7370-68D0-41DD-A02E-4576D70B126F}"/>
              </a:ext>
            </a:extLst>
          </p:cNvPr>
          <p:cNvSpPr txBox="1"/>
          <p:nvPr/>
        </p:nvSpPr>
        <p:spPr>
          <a:xfrm>
            <a:off x="1182697" y="2004073"/>
            <a:ext cx="2880320" cy="954107"/>
          </a:xfrm>
          <a:prstGeom prst="rect">
            <a:avLst/>
          </a:prstGeom>
          <a:noFill/>
        </p:spPr>
        <p:txBody>
          <a:bodyPr wrap="square" rtlCol="0">
            <a:spAutoFit/>
          </a:bodyPr>
          <a:lstStyle/>
          <a:p>
            <a:pPr algn="ctr"/>
            <a:r>
              <a:rPr lang="en-US" sz="2800" dirty="0">
                <a:latin typeface="Calibri" panose="020F0502020204030204" pitchFamily="34" charset="0"/>
                <a:cs typeface="Calibri" panose="020F0502020204030204" pitchFamily="34" charset="0"/>
              </a:rPr>
              <a:t>Label Ranking</a:t>
            </a:r>
          </a:p>
          <a:p>
            <a:pPr algn="ctr"/>
            <a:endParaRPr lang="en-US" sz="2800"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E4B75333-40A2-46E0-9081-0801D48A6A5B}"/>
              </a:ext>
            </a:extLst>
          </p:cNvPr>
          <p:cNvSpPr txBox="1"/>
          <p:nvPr/>
        </p:nvSpPr>
        <p:spPr>
          <a:xfrm>
            <a:off x="894665" y="3129575"/>
            <a:ext cx="3456384" cy="1631216"/>
          </a:xfrm>
          <a:prstGeom prst="rect">
            <a:avLst/>
          </a:prstGeom>
          <a:noFill/>
        </p:spPr>
        <p:txBody>
          <a:bodyPr wrap="square" rtlCol="0">
            <a:spAutoFit/>
          </a:bodyPr>
          <a:lstStyle/>
          <a:p>
            <a:pPr algn="ctr"/>
            <a:r>
              <a:rPr lang="en-US" sz="2000" dirty="0">
                <a:latin typeface="Calibri" panose="020F0502020204030204" pitchFamily="34" charset="0"/>
                <a:cs typeface="Calibri" panose="020F0502020204030204" pitchFamily="34" charset="0"/>
              </a:rPr>
              <a:t>Healthy node</a:t>
            </a:r>
          </a:p>
          <a:p>
            <a:pPr algn="ctr"/>
            <a:r>
              <a:rPr lang="en-US" sz="2000" dirty="0">
                <a:latin typeface="Calibri" panose="020F0502020204030204" pitchFamily="34" charset="0"/>
                <a:cs typeface="Calibri" panose="020F0502020204030204" pitchFamily="34" charset="0"/>
              </a:rPr>
              <a:t>Detect system degradation</a:t>
            </a:r>
          </a:p>
          <a:p>
            <a:pPr algn="ctr"/>
            <a:r>
              <a:rPr lang="en-US" sz="2000" dirty="0">
                <a:latin typeface="Calibri" panose="020F0502020204030204" pitchFamily="34" charset="0"/>
                <a:cs typeface="Calibri" panose="020F0502020204030204" pitchFamily="34" charset="0"/>
              </a:rPr>
              <a:t>Optimal destination</a:t>
            </a:r>
          </a:p>
          <a:p>
            <a:pPr algn="ctr"/>
            <a:endParaRPr lang="en-US" sz="2000" dirty="0">
              <a:latin typeface="Calibri" panose="020F0502020204030204" pitchFamily="34" charset="0"/>
              <a:cs typeface="Calibri" panose="020F0502020204030204" pitchFamily="34" charset="0"/>
            </a:endParaRPr>
          </a:p>
          <a:p>
            <a:pPr algn="ct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382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6ADD95-EF85-493C-BF0F-7A0E862D3737}"/>
              </a:ext>
            </a:extLst>
          </p:cNvPr>
          <p:cNvSpPr>
            <a:spLocks noGrp="1"/>
          </p:cNvSpPr>
          <p:nvPr>
            <p:ph type="sldNum" sz="quarter" idx="4"/>
          </p:nvPr>
        </p:nvSpPr>
        <p:spPr/>
        <p:txBody>
          <a:bodyPr/>
          <a:lstStyle/>
          <a:p>
            <a:fld id="{D57F1E4F-1CFF-5643-939E-217C01CDF565}" type="slidenum">
              <a:rPr lang="en-US" smtClean="0"/>
              <a:pPr/>
              <a:t>21</a:t>
            </a:fld>
            <a:endParaRPr lang="en-US" dirty="0"/>
          </a:p>
        </p:txBody>
      </p:sp>
      <p:sp>
        <p:nvSpPr>
          <p:cNvPr id="5" name="Content Placeholder 6">
            <a:extLst>
              <a:ext uri="{FF2B5EF4-FFF2-40B4-BE49-F238E27FC236}">
                <a16:creationId xmlns:a16="http://schemas.microsoft.com/office/drawing/2014/main" id="{7195D18C-8A43-4243-B177-A6D59FE33155}"/>
              </a:ext>
            </a:extLst>
          </p:cNvPr>
          <p:cNvSpPr txBox="1">
            <a:spLocks/>
          </p:cNvSpPr>
          <p:nvPr/>
        </p:nvSpPr>
        <p:spPr>
          <a:xfrm>
            <a:off x="1775520" y="1196752"/>
            <a:ext cx="8818652" cy="285750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800" kern="1200">
                <a:solidFill>
                  <a:schemeClr val="bg2">
                    <a:lumMod val="50000"/>
                  </a:schemeClr>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400" kern="1200">
                <a:solidFill>
                  <a:schemeClr val="bg2">
                    <a:lumMod val="50000"/>
                  </a:schemeClr>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2000" kern="1200">
                <a:solidFill>
                  <a:schemeClr val="bg2">
                    <a:lumMod val="50000"/>
                  </a:schemeClr>
                </a:solidFill>
                <a:latin typeface="Calibri" panose="020F0502020204030204" pitchFamily="34" charset="0"/>
                <a:ea typeface="+mn-ea"/>
                <a:cs typeface="Calibri" panose="020F0502020204030204" pitchFamily="34" charset="0"/>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bg2">
                    <a:lumMod val="50000"/>
                  </a:schemeClr>
                </a:solidFill>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bg2">
                    <a:lumMod val="50000"/>
                  </a:schemeClr>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US" sz="3200" dirty="0"/>
          </a:p>
          <a:p>
            <a:pPr marL="0" indent="0" algn="just">
              <a:buFont typeface="Wingdings 3" charset="2"/>
              <a:buNone/>
            </a:pPr>
            <a:r>
              <a:rPr lang="en-US" sz="3200" i="1" dirty="0">
                <a:solidFill>
                  <a:srgbClr val="0070C0"/>
                </a:solidFill>
              </a:rPr>
              <a:t>“As far as the laws of mathematics refer to reality, they are not certain; and as far as they are certain, they do not refer to reality.” </a:t>
            </a:r>
            <a:r>
              <a:rPr lang="en-US" sz="3200" dirty="0"/>
              <a:t>– Albert Einstein</a:t>
            </a:r>
          </a:p>
        </p:txBody>
      </p:sp>
    </p:spTree>
    <p:extLst>
      <p:ext uri="{BB962C8B-B14F-4D97-AF65-F5344CB8AC3E}">
        <p14:creationId xmlns:p14="http://schemas.microsoft.com/office/powerpoint/2010/main" val="3569013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610DB7-58CE-4011-8DE5-A800EB10907D}"/>
              </a:ext>
            </a:extLst>
          </p:cNvPr>
          <p:cNvSpPr>
            <a:spLocks noGrp="1"/>
          </p:cNvSpPr>
          <p:nvPr>
            <p:ph type="sldNum" sz="quarter" idx="4"/>
          </p:nvPr>
        </p:nvSpPr>
        <p:spPr>
          <a:xfrm>
            <a:off x="8032665" y="6376243"/>
            <a:ext cx="683339" cy="365125"/>
          </a:xfrm>
        </p:spPr>
        <p:txBody>
          <a:bodyPr/>
          <a:lstStyle/>
          <a:p>
            <a:fld id="{D57F1E4F-1CFF-5643-939E-217C01CDF565}" type="slidenum">
              <a:rPr lang="en-US" smtClean="0"/>
              <a:pPr/>
              <a:t>22</a:t>
            </a:fld>
            <a:endParaRPr lang="en-US" dirty="0"/>
          </a:p>
        </p:txBody>
      </p:sp>
      <p:sp>
        <p:nvSpPr>
          <p:cNvPr id="4" name="Title 3">
            <a:extLst>
              <a:ext uri="{FF2B5EF4-FFF2-40B4-BE49-F238E27FC236}">
                <a16:creationId xmlns:a16="http://schemas.microsoft.com/office/drawing/2014/main" id="{A2C92A47-8CF1-4E0A-AE38-3BF8ED369E44}"/>
              </a:ext>
            </a:extLst>
          </p:cNvPr>
          <p:cNvSpPr>
            <a:spLocks noGrp="1"/>
          </p:cNvSpPr>
          <p:nvPr>
            <p:ph type="title"/>
          </p:nvPr>
        </p:nvSpPr>
        <p:spPr>
          <a:xfrm>
            <a:off x="811700" y="373455"/>
            <a:ext cx="8596668" cy="1320800"/>
          </a:xfrm>
        </p:spPr>
        <p:txBody>
          <a:bodyPr/>
          <a:lstStyle/>
          <a:p>
            <a:r>
              <a:rPr lang="en-US" dirty="0"/>
              <a:t>References</a:t>
            </a:r>
          </a:p>
        </p:txBody>
      </p:sp>
      <p:sp>
        <p:nvSpPr>
          <p:cNvPr id="15" name="Content Placeholder 6">
            <a:extLst>
              <a:ext uri="{FF2B5EF4-FFF2-40B4-BE49-F238E27FC236}">
                <a16:creationId xmlns:a16="http://schemas.microsoft.com/office/drawing/2014/main" id="{07B88831-9C0F-445E-96B5-80465C1F7FDE}"/>
              </a:ext>
            </a:extLst>
          </p:cNvPr>
          <p:cNvSpPr txBox="1">
            <a:spLocks/>
          </p:cNvSpPr>
          <p:nvPr/>
        </p:nvSpPr>
        <p:spPr bwMode="auto">
          <a:xfrm>
            <a:off x="930770" y="1340768"/>
            <a:ext cx="1034980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120C48"/>
              </a:buClr>
              <a:buSzPct val="75000"/>
              <a:buFont typeface="Wingdings" panose="05000000000000000000" pitchFamily="2" charset="2"/>
              <a:buChar char="§"/>
              <a:defRPr sz="2800">
                <a:solidFill>
                  <a:schemeClr val="tx1"/>
                </a:solidFill>
                <a:latin typeface="Arial" pitchFamily="34" charset="0"/>
                <a:ea typeface="+mn-ea"/>
                <a:cs typeface="Arial" pitchFamily="34" charset="0"/>
              </a:defRPr>
            </a:lvl1pPr>
            <a:lvl2pPr marL="742950" indent="-285750" algn="l" rtl="0" eaLnBrk="1" fontAlgn="base" hangingPunct="1">
              <a:spcBef>
                <a:spcPct val="20000"/>
              </a:spcBef>
              <a:spcAft>
                <a:spcPct val="0"/>
              </a:spcAft>
              <a:buClr>
                <a:srgbClr val="120C48"/>
              </a:buClr>
              <a:buSzPct val="75000"/>
              <a:buFont typeface="Wingdings" panose="05000000000000000000" pitchFamily="2" charset="2"/>
              <a:buChar char="§"/>
              <a:defRPr sz="2800">
                <a:solidFill>
                  <a:schemeClr val="tx1"/>
                </a:solidFill>
                <a:latin typeface="Arial" pitchFamily="34" charset="0"/>
                <a:cs typeface="Arial" pitchFamily="34" charset="0"/>
              </a:defRPr>
            </a:lvl2pPr>
            <a:lvl3pPr marL="1143000" indent="-228600" algn="l" rtl="0" eaLnBrk="1" fontAlgn="base" hangingPunct="1">
              <a:spcBef>
                <a:spcPct val="20000"/>
              </a:spcBef>
              <a:spcAft>
                <a:spcPct val="0"/>
              </a:spcAft>
              <a:buClr>
                <a:srgbClr val="120C48"/>
              </a:buClr>
              <a:buSzPct val="75000"/>
              <a:buFont typeface="Wingdings" panose="05000000000000000000" pitchFamily="2" charset="2"/>
              <a:buChar char="§"/>
              <a:defRPr sz="2400">
                <a:solidFill>
                  <a:schemeClr val="tx1"/>
                </a:solidFill>
                <a:latin typeface="Arial" pitchFamily="34" charset="0"/>
                <a:cs typeface="Arial" pitchFamily="34" charset="0"/>
              </a:defRPr>
            </a:lvl3pPr>
            <a:lvl4pPr marL="1600200" indent="-228600" algn="l" rtl="0" eaLnBrk="1" fontAlgn="base" hangingPunct="1">
              <a:spcBef>
                <a:spcPct val="20000"/>
              </a:spcBef>
              <a:spcAft>
                <a:spcPct val="0"/>
              </a:spcAft>
              <a:buClr>
                <a:srgbClr val="120C48"/>
              </a:buClr>
              <a:buSzPct val="75000"/>
              <a:buFont typeface="Wingdings" panose="05000000000000000000" pitchFamily="2" charset="2"/>
              <a:buChar char="§"/>
              <a:defRPr sz="2000">
                <a:solidFill>
                  <a:schemeClr val="tx1"/>
                </a:solidFill>
                <a:latin typeface="Arial" pitchFamily="34" charset="0"/>
                <a:cs typeface="Arial" pitchFamily="34" charset="0"/>
              </a:defRPr>
            </a:lvl4pPr>
            <a:lvl5pPr marL="2057400" indent="-228600" algn="l" rtl="0" eaLnBrk="1" fontAlgn="base" hangingPunct="1">
              <a:spcBef>
                <a:spcPct val="20000"/>
              </a:spcBef>
              <a:spcAft>
                <a:spcPct val="0"/>
              </a:spcAft>
              <a:buClr>
                <a:srgbClr val="120C48"/>
              </a:buClr>
              <a:buSzPct val="75000"/>
              <a:buFont typeface="Wingdings" panose="05000000000000000000" pitchFamily="2" charset="2"/>
              <a:buChar char="§"/>
              <a:defRPr sz="2000">
                <a:solidFill>
                  <a:schemeClr val="tx1"/>
                </a:solidFill>
                <a:latin typeface="Arial" pitchFamily="34" charset="0"/>
                <a:cs typeface="Arial" pitchFamily="34" charset="0"/>
              </a:defRPr>
            </a:lvl5pPr>
            <a:lvl6pPr marL="25146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6pPr>
            <a:lvl7pPr marL="29718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7pPr>
            <a:lvl8pPr marL="34290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8pPr>
            <a:lvl9pPr marL="3886200" indent="-228600" algn="l" rtl="0" eaLnBrk="1" fontAlgn="base" hangingPunct="1">
              <a:spcBef>
                <a:spcPct val="20000"/>
              </a:spcBef>
              <a:spcAft>
                <a:spcPct val="0"/>
              </a:spcAft>
              <a:buClr>
                <a:srgbClr val="52237F"/>
              </a:buClr>
              <a:buSzPct val="75000"/>
              <a:buFont typeface="Wingdings" pitchFamily="2" charset="2"/>
              <a:buChar char="r"/>
              <a:defRPr sz="2000">
                <a:solidFill>
                  <a:schemeClr val="tx1"/>
                </a:solidFill>
                <a:latin typeface="+mn-lt"/>
              </a:defRPr>
            </a:lvl9pPr>
          </a:lstStyle>
          <a:p>
            <a:pPr marL="0" indent="0">
              <a:buNone/>
            </a:pPr>
            <a:r>
              <a:rPr lang="en-US" sz="1600" kern="0" dirty="0">
                <a:latin typeface="Calibri" panose="020F0502020204030204" pitchFamily="34" charset="0"/>
                <a:cs typeface="Calibri" panose="020F0502020204030204" pitchFamily="34" charset="0"/>
              </a:rPr>
              <a:t>V. Vovk, A. Gammerman, and G. Shafer, Algorithmic learning in a random world. Springer, 2005.</a:t>
            </a:r>
          </a:p>
          <a:p>
            <a:pPr marL="0" indent="0">
              <a:buNone/>
            </a:pPr>
            <a:r>
              <a:rPr lang="en-US" sz="1600" kern="0" dirty="0">
                <a:latin typeface="Calibri" panose="020F0502020204030204" pitchFamily="34" charset="0"/>
                <a:cs typeface="Calibri" panose="020F0502020204030204" pitchFamily="34" charset="0"/>
              </a:rPr>
              <a:t>G. Shafer and V. Vovk, “A tutorial on conformal prediction,” The Journal of Machine Learning Research, vol. 9, pp.</a:t>
            </a:r>
          </a:p>
          <a:p>
            <a:pPr marL="0" indent="0">
              <a:buNone/>
            </a:pPr>
            <a:r>
              <a:rPr lang="en-US" sz="1600" kern="0" dirty="0">
                <a:latin typeface="Calibri" panose="020F0502020204030204" pitchFamily="34" charset="0"/>
                <a:cs typeface="Calibri" panose="020F0502020204030204" pitchFamily="34" charset="0"/>
              </a:rPr>
              <a:t>Balasubramanian, V., Ho, S. and Vovk, V. (2014). Conformal Prediction for Reliable Machine Learning. </a:t>
            </a:r>
          </a:p>
          <a:p>
            <a:pPr marL="457200" lvl="1" indent="0">
              <a:buFont typeface="Wingdings" panose="05000000000000000000" pitchFamily="2" charset="2"/>
              <a:buNone/>
            </a:pPr>
            <a:endParaRPr lang="en-US" sz="1600" kern="0" dirty="0">
              <a:latin typeface="Calibri" panose="020F0502020204030204" pitchFamily="34" charset="0"/>
              <a:cs typeface="Calibri" panose="020F0502020204030204" pitchFamily="34" charset="0"/>
            </a:endParaRPr>
          </a:p>
          <a:p>
            <a:pPr marL="0" indent="0">
              <a:buFont typeface="Wingdings" panose="05000000000000000000" pitchFamily="2" charset="2"/>
              <a:buNone/>
            </a:pPr>
            <a:endParaRPr lang="en-US" sz="1600" kern="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104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DF4133-399A-4858-97AA-8928088972A3}"/>
              </a:ext>
            </a:extLst>
          </p:cNvPr>
          <p:cNvSpPr>
            <a:spLocks noGrp="1"/>
          </p:cNvSpPr>
          <p:nvPr>
            <p:ph idx="1"/>
          </p:nvPr>
        </p:nvSpPr>
        <p:spPr>
          <a:xfrm>
            <a:off x="767408" y="1600735"/>
            <a:ext cx="9865096" cy="3700473"/>
          </a:xfrm>
        </p:spPr>
        <p:txBody>
          <a:bodyPr/>
          <a:lstStyle/>
          <a:p>
            <a:pPr marL="0" indent="0" algn="just">
              <a:buNone/>
            </a:pPr>
            <a:r>
              <a:rPr lang="en-US" sz="1600" dirty="0"/>
              <a:t>Machine Learning methods are a much-discussed topic today in storage industry. Everyone wants to have a data driven insightful decision-making capabilities into their products using machine learning algorithms. All seem happy with the point prediction, i.e. if the model is 95% accurate based on historical data, it is 'assumed' that the prediction for new data point is also the same. Are we really certain about the prediction accuracy of new data point? We need to understand the confidence and reliability of each new prediction, but the reliable estimation of prediction confidence remains a significant challenge in </a:t>
            </a:r>
            <a:r>
              <a:rPr lang="en-US" sz="1600"/>
              <a:t>Data Science. </a:t>
            </a:r>
            <a:endParaRPr lang="en-US" sz="1600" dirty="0"/>
          </a:p>
          <a:p>
            <a:pPr marL="0" indent="0" algn="just">
              <a:buNone/>
            </a:pPr>
            <a:r>
              <a:rPr lang="en-US" sz="1600" dirty="0"/>
              <a:t>One way of solving Inverse problem of uncertainty quantification is based on algorithmic theory of randomness, which is a 'learning framework' and can be wrapped with your favorite algorithm to provide a 'sets of predictions' with a bound on the error rate allowing predictions complemented with valid confidence measures, i.e. confidence of each prediction and credibility indicated by informativeness of data. </a:t>
            </a:r>
          </a:p>
        </p:txBody>
      </p:sp>
      <p:sp>
        <p:nvSpPr>
          <p:cNvPr id="3" name="Slide Number Placeholder 2">
            <a:extLst>
              <a:ext uri="{FF2B5EF4-FFF2-40B4-BE49-F238E27FC236}">
                <a16:creationId xmlns:a16="http://schemas.microsoft.com/office/drawing/2014/main" id="{4AA1CE45-B613-488C-BAA8-46BD71057507}"/>
              </a:ext>
            </a:extLst>
          </p:cNvPr>
          <p:cNvSpPr>
            <a:spLocks noGrp="1"/>
          </p:cNvSpPr>
          <p:nvPr>
            <p:ph type="sldNum" sz="quarter" idx="4"/>
          </p:nvPr>
        </p:nvSpPr>
        <p:spPr/>
        <p:txBody>
          <a:bodyPr/>
          <a:lstStyle/>
          <a:p>
            <a:fld id="{D57F1E4F-1CFF-5643-939E-217C01CDF565}" type="slidenum">
              <a:rPr lang="en-US" smtClean="0"/>
              <a:pPr/>
              <a:t>23</a:t>
            </a:fld>
            <a:endParaRPr lang="en-US" dirty="0"/>
          </a:p>
        </p:txBody>
      </p:sp>
      <p:sp>
        <p:nvSpPr>
          <p:cNvPr id="4" name="Title 3">
            <a:extLst>
              <a:ext uri="{FF2B5EF4-FFF2-40B4-BE49-F238E27FC236}">
                <a16:creationId xmlns:a16="http://schemas.microsoft.com/office/drawing/2014/main" id="{542C3E66-5CBA-47AB-9FAD-7E447E070438}"/>
              </a:ext>
            </a:extLst>
          </p:cNvPr>
          <p:cNvSpPr>
            <a:spLocks noGrp="1"/>
          </p:cNvSpPr>
          <p:nvPr>
            <p:ph type="title"/>
          </p:nvPr>
        </p:nvSpPr>
        <p:spPr/>
        <p:txBody>
          <a:bodyPr/>
          <a:lstStyle/>
          <a:p>
            <a:r>
              <a:rPr lang="en-US" dirty="0"/>
              <a:t>Abstract</a:t>
            </a:r>
          </a:p>
        </p:txBody>
      </p:sp>
    </p:spTree>
    <p:extLst>
      <p:ext uri="{BB962C8B-B14F-4D97-AF65-F5344CB8AC3E}">
        <p14:creationId xmlns:p14="http://schemas.microsoft.com/office/powerpoint/2010/main" val="2082688105"/>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18964</TotalTime>
  <Words>650</Words>
  <Application>Microsoft Office PowerPoint</Application>
  <PresentationFormat>Widescreen</PresentationFormat>
  <Paragraphs>185</Paragraphs>
  <Slides>23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Intel Clear</vt:lpstr>
      <vt:lpstr>Intel Clear Light</vt:lpstr>
      <vt:lpstr>Intel Clear Pro</vt:lpstr>
      <vt:lpstr>Arial</vt:lpstr>
      <vt:lpstr>Calibri</vt:lpstr>
      <vt:lpstr>Cambria Math</vt:lpstr>
      <vt:lpstr>Courier New</vt:lpstr>
      <vt:lpstr>Trebuchet MS</vt:lpstr>
      <vt:lpstr>Wingdings</vt:lpstr>
      <vt:lpstr>Wingdings 3</vt:lpstr>
      <vt:lpstr>Facet</vt:lpstr>
      <vt:lpstr>Inverse Problem of Uncertainty Quantification in Machine Learning</vt:lpstr>
      <vt:lpstr>Agenda</vt:lpstr>
      <vt:lpstr>PowerPoint Presentation</vt:lpstr>
      <vt:lpstr>Machine Leaning </vt:lpstr>
      <vt:lpstr>PowerPoint Presentation</vt:lpstr>
      <vt:lpstr>Uncertainty Sources</vt:lpstr>
      <vt:lpstr>PowerPoint Presentation</vt:lpstr>
      <vt:lpstr>Conformal Framework</vt:lpstr>
      <vt:lpstr>Framework Foundation </vt:lpstr>
      <vt:lpstr>Exchangeability Test</vt:lpstr>
      <vt:lpstr>PowerPoint Presentation</vt:lpstr>
      <vt:lpstr>Disk Drive reliability</vt:lpstr>
      <vt:lpstr>Nonconformity Score</vt:lpstr>
      <vt:lpstr>Nonconformity Score</vt:lpstr>
      <vt:lpstr>Uncertainty Estimation</vt:lpstr>
      <vt:lpstr>Prediction with Explainable Reliability </vt:lpstr>
      <vt:lpstr>Use Case: Classification </vt:lpstr>
      <vt:lpstr>Use Case: Classification </vt:lpstr>
      <vt:lpstr>What problems can we solve?</vt:lpstr>
      <vt:lpstr>Contributions </vt:lpstr>
      <vt:lpstr>PowerPoint Presentation</vt:lpstr>
      <vt:lpstr>References</vt:lpstr>
      <vt:lpstr>Abstract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Rahul.Vishwakarma@emc.com</dc:creator>
  <cp:keywords>No Restrictions</cp:keywords>
  <cp:lastModifiedBy>Vishwakarma, Rahul</cp:lastModifiedBy>
  <cp:revision>797</cp:revision>
  <cp:lastPrinted>2018-12-17T15:53:47Z</cp:lastPrinted>
  <dcterms:created xsi:type="dcterms:W3CDTF">2015-06-10T06:11:17Z</dcterms:created>
  <dcterms:modified xsi:type="dcterms:W3CDTF">2020-11-22T04:56:09Z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4f0ffc26-1b9d-4eb5-b922-3be32f8d8595</vt:lpwstr>
  </property>
  <property fmtid="{D5CDD505-2E9C-101B-9397-08002B2CF9AE}" pid="3" name="Document Creator">
    <vt:lpwstr/>
  </property>
  <property fmtid="{D5CDD505-2E9C-101B-9397-08002B2CF9AE}" pid="4" name="Document Editor">
    <vt:lpwstr/>
  </property>
  <property fmtid="{D5CDD505-2E9C-101B-9397-08002B2CF9AE}" pid="5" name="Classification">
    <vt:lpwstr>No Restrictions</vt:lpwstr>
  </property>
  <property fmtid="{D5CDD505-2E9C-101B-9397-08002B2CF9AE}" pid="6" name="Sublabels">
    <vt:lpwstr/>
  </property>
  <property fmtid="{D5CDD505-2E9C-101B-9397-08002B2CF9AE}" pid="7" name="MSIP_Label_7de70ee2-0cb4-4d60-aee5-75ef2c4c8a90_Enabled">
    <vt:lpwstr>True</vt:lpwstr>
  </property>
  <property fmtid="{D5CDD505-2E9C-101B-9397-08002B2CF9AE}" pid="8" name="MSIP_Label_7de70ee2-0cb4-4d60-aee5-75ef2c4c8a90_SiteId">
    <vt:lpwstr>945c199a-83a2-4e80-9f8c-5a91be5752dd</vt:lpwstr>
  </property>
  <property fmtid="{D5CDD505-2E9C-101B-9397-08002B2CF9AE}" pid="9" name="MSIP_Label_7de70ee2-0cb4-4d60-aee5-75ef2c4c8a90_Owner">
    <vt:lpwstr>Geoff_Meyer@Dell.com</vt:lpwstr>
  </property>
  <property fmtid="{D5CDD505-2E9C-101B-9397-08002B2CF9AE}" pid="10" name="MSIP_Label_7de70ee2-0cb4-4d60-aee5-75ef2c4c8a90_SetDate">
    <vt:lpwstr>2019-06-20T16:12:31.9338346Z</vt:lpwstr>
  </property>
  <property fmtid="{D5CDD505-2E9C-101B-9397-08002B2CF9AE}" pid="11" name="MSIP_Label_7de70ee2-0cb4-4d60-aee5-75ef2c4c8a90_Name">
    <vt:lpwstr>Internal Use</vt:lpwstr>
  </property>
  <property fmtid="{D5CDD505-2E9C-101B-9397-08002B2CF9AE}" pid="12" name="MSIP_Label_7de70ee2-0cb4-4d60-aee5-75ef2c4c8a90_Application">
    <vt:lpwstr>Microsoft Azure Information Protection</vt:lpwstr>
  </property>
  <property fmtid="{D5CDD505-2E9C-101B-9397-08002B2CF9AE}" pid="13" name="MSIP_Label_7de70ee2-0cb4-4d60-aee5-75ef2c4c8a90_Extended_MSFT_Method">
    <vt:lpwstr>Manual</vt:lpwstr>
  </property>
  <property fmtid="{D5CDD505-2E9C-101B-9397-08002B2CF9AE}" pid="14" name="MSIP_Label_da6fab74-d5af-4af7-a9a4-78d84655a626_Enabled">
    <vt:lpwstr>True</vt:lpwstr>
  </property>
  <property fmtid="{D5CDD505-2E9C-101B-9397-08002B2CF9AE}" pid="15" name="MSIP_Label_da6fab74-d5af-4af7-a9a4-78d84655a626_SiteId">
    <vt:lpwstr>945c199a-83a2-4e80-9f8c-5a91be5752dd</vt:lpwstr>
  </property>
  <property fmtid="{D5CDD505-2E9C-101B-9397-08002B2CF9AE}" pid="16" name="MSIP_Label_da6fab74-d5af-4af7-a9a4-78d84655a626_Owner">
    <vt:lpwstr>Geoff_Meyer@Dell.com</vt:lpwstr>
  </property>
  <property fmtid="{D5CDD505-2E9C-101B-9397-08002B2CF9AE}" pid="17" name="MSIP_Label_da6fab74-d5af-4af7-a9a4-78d84655a626_SetDate">
    <vt:lpwstr>2019-06-20T16:12:31.9338346Z</vt:lpwstr>
  </property>
  <property fmtid="{D5CDD505-2E9C-101B-9397-08002B2CF9AE}" pid="18" name="MSIP_Label_da6fab74-d5af-4af7-a9a4-78d84655a626_Name">
    <vt:lpwstr>Visual Marking</vt:lpwstr>
  </property>
  <property fmtid="{D5CDD505-2E9C-101B-9397-08002B2CF9AE}" pid="19" name="MSIP_Label_da6fab74-d5af-4af7-a9a4-78d84655a626_Application">
    <vt:lpwstr>Microsoft Azure Information Protection</vt:lpwstr>
  </property>
  <property fmtid="{D5CDD505-2E9C-101B-9397-08002B2CF9AE}" pid="20" name="MSIP_Label_da6fab74-d5af-4af7-a9a4-78d84655a626_Parent">
    <vt:lpwstr>7de70ee2-0cb4-4d60-aee5-75ef2c4c8a90</vt:lpwstr>
  </property>
  <property fmtid="{D5CDD505-2E9C-101B-9397-08002B2CF9AE}" pid="21" name="MSIP_Label_da6fab74-d5af-4af7-a9a4-78d84655a626_Extended_MSFT_Method">
    <vt:lpwstr>Manual</vt:lpwstr>
  </property>
  <property fmtid="{D5CDD505-2E9C-101B-9397-08002B2CF9AE}" pid="22" name="aiplabel">
    <vt:lpwstr>Internal Use Visual Marking</vt:lpwstr>
  </property>
</Properties>
</file>