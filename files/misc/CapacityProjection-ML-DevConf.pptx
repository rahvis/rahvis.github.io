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7"/>
  </p:notesMasterIdLst>
  <p:handoutMasterIdLst>
    <p:handoutMasterId r:id="rId18"/>
  </p:handoutMasterIdLst>
  <p:sldIdLst>
    <p:sldId id="292" r:id="rId2"/>
    <p:sldId id="323" r:id="rId3"/>
    <p:sldId id="324" r:id="rId4"/>
    <p:sldId id="325" r:id="rId5"/>
    <p:sldId id="327" r:id="rId6"/>
    <p:sldId id="329" r:id="rId7"/>
    <p:sldId id="331" r:id="rId8"/>
    <p:sldId id="332" r:id="rId9"/>
    <p:sldId id="334" r:id="rId10"/>
    <p:sldId id="335" r:id="rId11"/>
    <p:sldId id="341" r:id="rId12"/>
    <p:sldId id="344" r:id="rId13"/>
    <p:sldId id="338" r:id="rId14"/>
    <p:sldId id="339" r:id="rId15"/>
    <p:sldId id="342" r:id="rId16"/>
  </p:sldIdLst>
  <p:sldSz cx="9144000" cy="5143500" type="screen16x9"/>
  <p:notesSz cx="6934200" cy="92202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40" userDrawn="1">
          <p15:clr>
            <a:srgbClr val="A4A3A4"/>
          </p15:clr>
        </p15:guide>
        <p15:guide id="4" orient="horz" pos="7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76CE"/>
    <a:srgbClr val="808080"/>
    <a:srgbClr val="EEEEEE"/>
    <a:srgbClr val="C8C9C7"/>
    <a:srgbClr val="B7295A"/>
    <a:srgbClr val="41B6E6"/>
    <a:srgbClr val="00447C"/>
    <a:srgbClr val="42AEA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66" autoAdjust="0"/>
    <p:restoredTop sz="74305" autoAdjust="0"/>
  </p:normalViewPr>
  <p:slideViewPr>
    <p:cSldViewPr snapToGrid="0" showGuides="1">
      <p:cViewPr varScale="1">
        <p:scale>
          <a:sx n="103" d="100"/>
          <a:sy n="103" d="100"/>
        </p:scale>
        <p:origin x="1704" y="96"/>
      </p:cViewPr>
      <p:guideLst>
        <p:guide pos="3240"/>
        <p:guide orient="horz" pos="7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>
        <p:scale>
          <a:sx n="103" d="100"/>
          <a:sy n="103" d="100"/>
        </p:scale>
        <p:origin x="2110" y="-25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wakarma, Rahul" userId="d0a59aeb-3820-414b-9d30-d903ec42a0f8" providerId="ADAL" clId="{425EBF30-EEE8-41A1-851F-9688020C7D99}"/>
    <pc:docChg chg="undo delSld modSld">
      <pc:chgData name="Vishwakarma, Rahul" userId="d0a59aeb-3820-414b-9d30-d903ec42a0f8" providerId="ADAL" clId="{425EBF30-EEE8-41A1-851F-9688020C7D99}" dt="2020-11-10T16:52:55.016" v="8" actId="2696"/>
      <pc:docMkLst>
        <pc:docMk/>
      </pc:docMkLst>
      <pc:sldChg chg="modSp">
        <pc:chgData name="Vishwakarma, Rahul" userId="d0a59aeb-3820-414b-9d30-d903ec42a0f8" providerId="ADAL" clId="{425EBF30-EEE8-41A1-851F-9688020C7D99}" dt="2020-11-10T16:51:20.961" v="0" actId="6549"/>
        <pc:sldMkLst>
          <pc:docMk/>
          <pc:sldMk cId="1217156312" sldId="292"/>
        </pc:sldMkLst>
        <pc:spChg chg="mod">
          <ac:chgData name="Vishwakarma, Rahul" userId="d0a59aeb-3820-414b-9d30-d903ec42a0f8" providerId="ADAL" clId="{425EBF30-EEE8-41A1-851F-9688020C7D99}" dt="2020-11-10T16:51:20.961" v="0" actId="6549"/>
          <ac:spMkLst>
            <pc:docMk/>
            <pc:sldMk cId="1217156312" sldId="292"/>
            <ac:spMk id="3" creationId="{00000000-0000-0000-0000-000000000000}"/>
          </ac:spMkLst>
        </pc:spChg>
      </pc:sldChg>
      <pc:sldChg chg="modSp">
        <pc:chgData name="Vishwakarma, Rahul" userId="d0a59aeb-3820-414b-9d30-d903ec42a0f8" providerId="ADAL" clId="{425EBF30-EEE8-41A1-851F-9688020C7D99}" dt="2020-11-10T16:52:12.828" v="5" actId="1076"/>
        <pc:sldMkLst>
          <pc:docMk/>
          <pc:sldMk cId="3056585672" sldId="324"/>
        </pc:sldMkLst>
        <pc:spChg chg="mod">
          <ac:chgData name="Vishwakarma, Rahul" userId="d0a59aeb-3820-414b-9d30-d903ec42a0f8" providerId="ADAL" clId="{425EBF30-EEE8-41A1-851F-9688020C7D99}" dt="2020-11-10T16:52:12.828" v="5" actId="1076"/>
          <ac:spMkLst>
            <pc:docMk/>
            <pc:sldMk cId="3056585672" sldId="324"/>
            <ac:spMk id="6" creationId="{00000000-0000-0000-0000-000000000000}"/>
          </ac:spMkLst>
        </pc:spChg>
        <pc:spChg chg="mod">
          <ac:chgData name="Vishwakarma, Rahul" userId="d0a59aeb-3820-414b-9d30-d903ec42a0f8" providerId="ADAL" clId="{425EBF30-EEE8-41A1-851F-9688020C7D99}" dt="2020-11-10T16:52:12.828" v="5" actId="1076"/>
          <ac:spMkLst>
            <pc:docMk/>
            <pc:sldMk cId="3056585672" sldId="324"/>
            <ac:spMk id="7" creationId="{00000000-0000-0000-0000-000000000000}"/>
          </ac:spMkLst>
        </pc:spChg>
        <pc:spChg chg="mod">
          <ac:chgData name="Vishwakarma, Rahul" userId="d0a59aeb-3820-414b-9d30-d903ec42a0f8" providerId="ADAL" clId="{425EBF30-EEE8-41A1-851F-9688020C7D99}" dt="2020-11-10T16:52:12.828" v="5" actId="1076"/>
          <ac:spMkLst>
            <pc:docMk/>
            <pc:sldMk cId="3056585672" sldId="324"/>
            <ac:spMk id="8" creationId="{00000000-0000-0000-0000-000000000000}"/>
          </ac:spMkLst>
        </pc:spChg>
        <pc:spChg chg="mod">
          <ac:chgData name="Vishwakarma, Rahul" userId="d0a59aeb-3820-414b-9d30-d903ec42a0f8" providerId="ADAL" clId="{425EBF30-EEE8-41A1-851F-9688020C7D99}" dt="2020-11-10T16:52:12.828" v="5" actId="1076"/>
          <ac:spMkLst>
            <pc:docMk/>
            <pc:sldMk cId="3056585672" sldId="324"/>
            <ac:spMk id="9" creationId="{00000000-0000-0000-0000-000000000000}"/>
          </ac:spMkLst>
        </pc:spChg>
        <pc:spChg chg="mod">
          <ac:chgData name="Vishwakarma, Rahul" userId="d0a59aeb-3820-414b-9d30-d903ec42a0f8" providerId="ADAL" clId="{425EBF30-EEE8-41A1-851F-9688020C7D99}" dt="2020-11-10T16:52:12.828" v="5" actId="1076"/>
          <ac:spMkLst>
            <pc:docMk/>
            <pc:sldMk cId="3056585672" sldId="324"/>
            <ac:spMk id="40" creationId="{00000000-0000-0000-0000-000000000000}"/>
          </ac:spMkLst>
        </pc:sp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5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15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16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17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18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19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27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1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2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3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4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5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6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7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8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39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1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2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3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4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5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6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7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8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49" creationId="{00000000-0000-0000-0000-000000000000}"/>
          </ac:graphicFrameMkLst>
        </pc:graphicFrameChg>
        <pc:graphicFrameChg chg="mod">
          <ac:chgData name="Vishwakarma, Rahul" userId="d0a59aeb-3820-414b-9d30-d903ec42a0f8" providerId="ADAL" clId="{425EBF30-EEE8-41A1-851F-9688020C7D99}" dt="2020-11-10T16:52:12.828" v="5" actId="1076"/>
          <ac:graphicFrameMkLst>
            <pc:docMk/>
            <pc:sldMk cId="3056585672" sldId="324"/>
            <ac:graphicFrameMk id="50" creationId="{00000000-0000-0000-0000-000000000000}"/>
          </ac:graphicFrameMkLst>
        </pc:graphicFrame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10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11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12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13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14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0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1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2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3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4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5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6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8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29" creationId="{00000000-0000-0000-0000-000000000000}"/>
          </ac:picMkLst>
        </pc:picChg>
        <pc:picChg chg="mod">
          <ac:chgData name="Vishwakarma, Rahul" userId="d0a59aeb-3820-414b-9d30-d903ec42a0f8" providerId="ADAL" clId="{425EBF30-EEE8-41A1-851F-9688020C7D99}" dt="2020-11-10T16:52:12.828" v="5" actId="1076"/>
          <ac:picMkLst>
            <pc:docMk/>
            <pc:sldMk cId="3056585672" sldId="324"/>
            <ac:picMk id="30" creationId="{00000000-0000-0000-0000-000000000000}"/>
          </ac:picMkLst>
        </pc:picChg>
      </pc:sldChg>
      <pc:sldChg chg="modSp">
        <pc:chgData name="Vishwakarma, Rahul" userId="d0a59aeb-3820-414b-9d30-d903ec42a0f8" providerId="ADAL" clId="{425EBF30-EEE8-41A1-851F-9688020C7D99}" dt="2020-11-10T16:52:36.066" v="7" actId="1076"/>
        <pc:sldMkLst>
          <pc:docMk/>
          <pc:sldMk cId="3733279997" sldId="325"/>
        </pc:sldMkLst>
        <pc:picChg chg="mod">
          <ac:chgData name="Vishwakarma, Rahul" userId="d0a59aeb-3820-414b-9d30-d903ec42a0f8" providerId="ADAL" clId="{425EBF30-EEE8-41A1-851F-9688020C7D99}" dt="2020-11-10T16:52:36.066" v="7" actId="1076"/>
          <ac:picMkLst>
            <pc:docMk/>
            <pc:sldMk cId="3733279997" sldId="325"/>
            <ac:picMk id="2" creationId="{00000000-0000-0000-0000-000000000000}"/>
          </ac:picMkLst>
        </pc:picChg>
      </pc:sldChg>
      <pc:sldChg chg="del">
        <pc:chgData name="Vishwakarma, Rahul" userId="d0a59aeb-3820-414b-9d30-d903ec42a0f8" providerId="ADAL" clId="{425EBF30-EEE8-41A1-851F-9688020C7D99}" dt="2020-11-10T16:52:55.016" v="8" actId="2696"/>
        <pc:sldMkLst>
          <pc:docMk/>
          <pc:sldMk cId="223198355" sldId="3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9"/>
          <p:cNvSpPr txBox="1"/>
          <p:nvPr/>
        </p:nvSpPr>
        <p:spPr>
          <a:xfrm>
            <a:off x="279101" y="8990471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dirty="0" err="1">
              <a:solidFill>
                <a:schemeClr val="bg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l" descr="                              Dell - Internal Use - Confidential&#10;"/>
          <p:cNvSpPr txBox="1"/>
          <p:nvPr/>
        </p:nvSpPr>
        <p:spPr>
          <a:xfrm>
            <a:off x="520065" y="8989695"/>
            <a:ext cx="1207507" cy="8379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marR="0" indent="0" defTabSz="914400" eaLnBrk="1" latinLnBrk="0" hangingPunct="1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600" b="0" i="0" u="none" baseline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</a:rPr>
              <a:t>Dell 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</a:rPr>
              <a:t> Internal Use 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</a:rPr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7136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173038"/>
            <a:ext cx="5940425" cy="3341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280" y="3803332"/>
            <a:ext cx="6009640" cy="44948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279101" y="8990471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dirty="0" err="1">
              <a:solidFill>
                <a:schemeClr val="bg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20065" y="8989695"/>
            <a:ext cx="1207507" cy="8379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marR="0" indent="0" defTabSz="914400" eaLnBrk="1" latinLnBrk="0" hangingPunct="1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600" b="0" i="0" u="none" baseline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</a:rPr>
              <a:t>Dell 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</a:rPr>
              <a:t> Internal Use 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</a:rPr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8431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spcBef>
        <a:spcPts val="0"/>
      </a:spcBef>
      <a:defRPr sz="1100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1pPr>
    <a:lvl2pPr marL="514350" indent="-171450" algn="l" defTabSz="685800" rtl="0" eaLnBrk="1" latinLnBrk="0" hangingPunct="1">
      <a:spcBef>
        <a:spcPts val="300"/>
      </a:spcBef>
      <a:buClrTx/>
      <a:buFont typeface="Arial" panose="020B0604020202020204" pitchFamily="34" charset="0"/>
      <a:buChar char="•"/>
      <a:defRPr sz="1100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2pPr>
    <a:lvl3pPr marL="857250" indent="-171450" algn="l" defTabSz="685800" rtl="0" eaLnBrk="1" latinLnBrk="0" hangingPunct="1">
      <a:spcBef>
        <a:spcPts val="300"/>
      </a:spcBef>
      <a:buClrTx/>
      <a:buFont typeface="Arial" panose="020B0604020202020204" pitchFamily="34" charset="0"/>
      <a:buChar char="–"/>
      <a:defRPr sz="1100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3pPr>
    <a:lvl4pPr marL="1200150" indent="-171450" algn="l" defTabSz="685800" rtl="0" eaLnBrk="1" latinLnBrk="0" hangingPunct="1">
      <a:spcBef>
        <a:spcPts val="300"/>
      </a:spcBef>
      <a:buClrTx/>
      <a:buFont typeface="Arial" panose="020B0604020202020204" pitchFamily="34" charset="0"/>
      <a:buChar char="▪"/>
      <a:defRPr sz="1100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4pPr>
    <a:lvl5pPr marL="1543050" indent="-171450" algn="l" defTabSz="685800" rtl="0" eaLnBrk="1" latinLnBrk="0" hangingPunct="1">
      <a:spcBef>
        <a:spcPts val="300"/>
      </a:spcBef>
      <a:buClrTx/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413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translated the problem statement</a:t>
            </a:r>
            <a:r>
              <a:rPr lang="en-US" baseline="0" dirty="0"/>
              <a:t> as a time series, where the input parameter was daily data growth for 1 year. </a:t>
            </a:r>
          </a:p>
          <a:p>
            <a:r>
              <a:rPr lang="en-US" baseline="0" dirty="0"/>
              <a:t>Now, the time interval is defined by the user. We can even have 90 days, but finding the optimal time interval for forecasting is another problem statement. </a:t>
            </a:r>
          </a:p>
          <a:p>
            <a:r>
              <a:rPr lang="en-US" baseline="0" dirty="0"/>
              <a:t>The input to HOFTS is a csv file containing sequence of daily data growth for 365 days. </a:t>
            </a:r>
          </a:p>
          <a:p>
            <a:endParaRPr lang="en-US" baseline="0" dirty="0"/>
          </a:p>
          <a:p>
            <a:r>
              <a:rPr lang="en-US" baseline="0" dirty="0"/>
              <a:t>Let us simplify the flow diagram on right had side. These are the steps involved in forecasting using HOFTS. </a:t>
            </a:r>
          </a:p>
          <a:p>
            <a:endParaRPr lang="en-US" baseline="0" dirty="0"/>
          </a:p>
          <a:p>
            <a:r>
              <a:rPr lang="en-US" baseline="0" dirty="0"/>
              <a:t>The first step is to define universe of discourse. Here we have 365 (number of days) and then create interval partition of equal length. For </a:t>
            </a:r>
            <a:r>
              <a:rPr lang="en-US" baseline="0" dirty="0" err="1"/>
              <a:t>e.g</a:t>
            </a:r>
            <a:r>
              <a:rPr lang="en-US" baseline="0" dirty="0"/>
              <a:t>, we can have length of interval partition = 5. </a:t>
            </a:r>
          </a:p>
          <a:p>
            <a:r>
              <a:rPr lang="en-US" baseline="0" dirty="0"/>
              <a:t>So, in each interval we will have 73 elements. </a:t>
            </a:r>
          </a:p>
          <a:p>
            <a:endParaRPr lang="en-US" baseline="0" dirty="0"/>
          </a:p>
          <a:p>
            <a:r>
              <a:rPr lang="en-US" baseline="0" dirty="0"/>
              <a:t>Next step is to create linguistic values. For </a:t>
            </a:r>
            <a:r>
              <a:rPr lang="en-US" baseline="0" dirty="0" err="1"/>
              <a:t>e.g</a:t>
            </a:r>
            <a:r>
              <a:rPr lang="en-US" baseline="0" dirty="0"/>
              <a:t>, very low, low, medium, high, and then we use these values for create Fuzzified values of input data. </a:t>
            </a:r>
          </a:p>
          <a:p>
            <a:endParaRPr lang="en-US" baseline="0" dirty="0"/>
          </a:p>
          <a:p>
            <a:r>
              <a:rPr lang="en-US" baseline="0" dirty="0"/>
              <a:t>The user creates rules for </a:t>
            </a:r>
            <a:r>
              <a:rPr lang="en-US" baseline="0" dirty="0" err="1"/>
              <a:t>Defuzzification</a:t>
            </a:r>
            <a:r>
              <a:rPr lang="en-US" baseline="0" dirty="0"/>
              <a:t> and it is used for forecasting.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157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ran HOFTS for 895 Data Domain and see that around 95% of</a:t>
            </a:r>
            <a:r>
              <a:rPr lang="en-US" baseline="0" dirty="0"/>
              <a:t> the system accuracy lies between 0.9 – 1.0, which looks more promising for model deployment. </a:t>
            </a:r>
          </a:p>
          <a:p>
            <a:r>
              <a:rPr lang="en-US" baseline="0" dirty="0"/>
              <a:t>Vet few of the Systems had poor forecasting results. </a:t>
            </a:r>
          </a:p>
          <a:p>
            <a:endParaRPr lang="en-US" baseline="0" dirty="0"/>
          </a:p>
          <a:p>
            <a:r>
              <a:rPr lang="en-US" baseline="0"/>
              <a:t>We also tried to evaluate variants of FTS and compared the predicted values. 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306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964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translated the problem statement</a:t>
            </a:r>
            <a:r>
              <a:rPr lang="en-US" baseline="0" dirty="0"/>
              <a:t> as a time series, where the input parameter was daily data growth for 1 year. </a:t>
            </a:r>
          </a:p>
          <a:p>
            <a:r>
              <a:rPr lang="en-US" baseline="0" dirty="0"/>
              <a:t>Now, the time interval is defined by the user. We can even have 90 days, but finding the optimal time interval for forecasting is another problem statement. </a:t>
            </a:r>
          </a:p>
          <a:p>
            <a:r>
              <a:rPr lang="en-US" baseline="0" dirty="0"/>
              <a:t>The input to HOFTS is a csv file containing sequence of daily data growth for 365 days. </a:t>
            </a:r>
          </a:p>
          <a:p>
            <a:endParaRPr lang="en-US" baseline="0" dirty="0"/>
          </a:p>
          <a:p>
            <a:r>
              <a:rPr lang="en-US" baseline="0" dirty="0"/>
              <a:t>Let us simplify the flow diagram on right had side. These are the steps involved in forecasting using HOFTS. </a:t>
            </a:r>
          </a:p>
          <a:p>
            <a:endParaRPr lang="en-US" baseline="0" dirty="0"/>
          </a:p>
          <a:p>
            <a:r>
              <a:rPr lang="en-US" baseline="0" dirty="0"/>
              <a:t>The first step is to define universe of discourse. Here we have 365 (number of days) and then create interval partition of equal length. For </a:t>
            </a:r>
            <a:r>
              <a:rPr lang="en-US" baseline="0" dirty="0" err="1"/>
              <a:t>e.g</a:t>
            </a:r>
            <a:r>
              <a:rPr lang="en-US" baseline="0" dirty="0"/>
              <a:t>, we can have length of interval partition = 5. </a:t>
            </a:r>
          </a:p>
          <a:p>
            <a:r>
              <a:rPr lang="en-US" baseline="0" dirty="0"/>
              <a:t>So, in each interval we will have 73 elements. </a:t>
            </a:r>
          </a:p>
          <a:p>
            <a:endParaRPr lang="en-US" baseline="0" dirty="0"/>
          </a:p>
          <a:p>
            <a:r>
              <a:rPr lang="en-US" baseline="0" dirty="0"/>
              <a:t>Next step is to create linguistic values. For </a:t>
            </a:r>
            <a:r>
              <a:rPr lang="en-US" baseline="0" dirty="0" err="1"/>
              <a:t>e.g</a:t>
            </a:r>
            <a:r>
              <a:rPr lang="en-US" baseline="0" dirty="0"/>
              <a:t>, very low, low, medium, high, and then we use these values for create Fuzzified values of input data. </a:t>
            </a:r>
          </a:p>
          <a:p>
            <a:endParaRPr lang="en-US" baseline="0" dirty="0"/>
          </a:p>
          <a:p>
            <a:r>
              <a:rPr lang="en-US" baseline="0" dirty="0"/>
              <a:t>The user creates rules for </a:t>
            </a:r>
            <a:r>
              <a:rPr lang="en-US" baseline="0" dirty="0" err="1"/>
              <a:t>Defuzzification</a:t>
            </a:r>
            <a:r>
              <a:rPr lang="en-US" baseline="0" dirty="0"/>
              <a:t> and it is used for forecasting.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98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0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2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9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0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2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20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0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2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8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0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2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26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0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2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2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4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685800"/>
            <a:ext cx="85725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44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00150"/>
            <a:ext cx="8572500" cy="33147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514350" indent="-171450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800100" indent="-114300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1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4pPr>
            <a:lvl5pPr marL="1543050" indent="-171450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8790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  <p15:guide id="2" orient="horz" pos="75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685800"/>
            <a:ext cx="85725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285750" y="1200150"/>
            <a:ext cx="8572500" cy="33147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514350" indent="-171450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800100" indent="-114300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1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4pPr>
            <a:lvl5pPr marL="1543050" indent="-171450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5148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86" y="228600"/>
            <a:ext cx="8577263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280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200150"/>
            <a:ext cx="4057650" cy="3263504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209675"/>
            <a:ext cx="4057650" cy="3263504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0038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86" y="228600"/>
            <a:ext cx="8577263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280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419225"/>
            <a:ext cx="40576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428750"/>
            <a:ext cx="40576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285750" y="971550"/>
            <a:ext cx="40576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617" y="971550"/>
            <a:ext cx="4077633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809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86" y="228600"/>
            <a:ext cx="8577263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280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543050"/>
            <a:ext cx="26860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2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05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8975" y="1543050"/>
            <a:ext cx="26860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2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05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285750" y="971550"/>
            <a:ext cx="26860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00400" y="971550"/>
            <a:ext cx="26860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11"/>
          </p:nvPr>
        </p:nvSpPr>
        <p:spPr>
          <a:xfrm>
            <a:off x="6172200" y="1543050"/>
            <a:ext cx="26860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2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05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152217" y="971550"/>
            <a:ext cx="26860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8233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688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39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16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ay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39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0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39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738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effectLst>
                  <a:glow rad="127000">
                    <a:schemeClr val="bg2">
                      <a:alpha val="20000"/>
                    </a:schemeClr>
                  </a:glow>
                </a:effectLst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39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31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39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541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39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9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ve bkg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02" y="685800"/>
            <a:ext cx="9142857" cy="3895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95" y="2297430"/>
            <a:ext cx="3079811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933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gray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95" y="2297430"/>
            <a:ext cx="3079811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6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 userDrawn="1"/>
        </p:nvSpPr>
        <p:spPr>
          <a:xfrm>
            <a:off x="276034" y="5008514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dirty="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extBox 16"/>
          <p:cNvSpPr txBox="1"/>
          <p:nvPr userDrawn="1"/>
        </p:nvSpPr>
        <p:spPr>
          <a:xfrm>
            <a:off x="393050" y="5008514"/>
            <a:ext cx="136256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r>
              <a:rPr lang="en-US" sz="600" kern="1200" dirty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t>of Y</a:t>
            </a:r>
          </a:p>
        </p:txBody>
      </p:sp>
      <p:sp>
        <p:nvSpPr>
          <p:cNvPr id="10" name="fl" descr="                              Dell - Internal Use - Confidential&#10;"/>
          <p:cNvSpPr txBox="1"/>
          <p:nvPr userDrawn="1"/>
        </p:nvSpPr>
        <p:spPr>
          <a:xfrm>
            <a:off x="669828" y="5007744"/>
            <a:ext cx="119423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marR="0" indent="0" defTabSz="914400" eaLnBrk="1" latinLnBrk="0" hangingPunct="1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600" b="0" i="0" u="none" baseline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 b="1" dirty="0">
                <a:solidFill>
                  <a:srgbClr val="808080"/>
                </a:solidFill>
                <a:latin typeface="Arial" panose="020B0604020202020204" pitchFamily="34" charset="0"/>
              </a:rPr>
              <a:t>Dell </a:t>
            </a:r>
            <a:r>
              <a:rPr lang="en-US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b="1" dirty="0">
                <a:solidFill>
                  <a:srgbClr val="808080"/>
                </a:solidFill>
                <a:latin typeface="Arial" panose="020B0604020202020204" pitchFamily="34" charset="0"/>
              </a:rPr>
              <a:t> Internal Use </a:t>
            </a:r>
            <a:r>
              <a:rPr lang="en-US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b="1" dirty="0">
                <a:solidFill>
                  <a:srgbClr val="808080"/>
                </a:solidFill>
                <a:latin typeface="Arial" panose="020B0604020202020204" pitchFamily="34" charset="0"/>
              </a:rPr>
              <a:t> Confidential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880" y="4838853"/>
            <a:ext cx="675370" cy="1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4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14" r:id="rId9"/>
    <p:sldLayoutId id="2147483700" r:id="rId10"/>
    <p:sldLayoutId id="2147483701" r:id="rId11"/>
    <p:sldLayoutId id="2147483720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10" r:id="rId19"/>
    <p:sldLayoutId id="2147483718" r:id="rId20"/>
    <p:sldLayoutId id="2147483711" r:id="rId21"/>
    <p:sldLayoutId id="2147483712" r:id="rId2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5580" userDrawn="1">
          <p15:clr>
            <a:srgbClr val="F26B43"/>
          </p15:clr>
        </p15:guide>
        <p15:guide id="4" pos="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JP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802135"/>
            <a:ext cx="7486650" cy="1107996"/>
          </a:xfrm>
        </p:spPr>
        <p:txBody>
          <a:bodyPr/>
          <a:lstStyle/>
          <a:p>
            <a:r>
              <a:rPr lang="en-US" sz="4000" b="1" dirty="0"/>
              <a:t>Fuzzy Logic approach for Capacity Projection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b="1" dirty="0"/>
              <a:t>Rahul Vishwakarma</a:t>
            </a:r>
          </a:p>
        </p:txBody>
      </p:sp>
    </p:spTree>
    <p:extLst>
      <p:ext uri="{BB962C8B-B14F-4D97-AF65-F5344CB8AC3E}">
        <p14:creationId xmlns:p14="http://schemas.microsoft.com/office/powerpoint/2010/main" val="1217156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85750" y="989943"/>
            <a:ext cx="8572500" cy="3314700"/>
          </a:xfrm>
        </p:spPr>
        <p:txBody>
          <a:bodyPr/>
          <a:lstStyle/>
          <a:p>
            <a:r>
              <a:rPr lang="en-US" dirty="0"/>
              <a:t>Data Domain Backup Storage</a:t>
            </a:r>
          </a:p>
          <a:p>
            <a:r>
              <a:rPr lang="en-US" dirty="0"/>
              <a:t>Capacity Projection Feature</a:t>
            </a:r>
          </a:p>
          <a:p>
            <a:r>
              <a:rPr lang="en-US" dirty="0"/>
              <a:t>Why HOFTS</a:t>
            </a:r>
          </a:p>
          <a:p>
            <a:r>
              <a:rPr lang="en-US" dirty="0"/>
              <a:t>Applying HOFTS</a:t>
            </a:r>
          </a:p>
          <a:p>
            <a:r>
              <a:rPr lang="en-US" dirty="0"/>
              <a:t>Forecast Accuracy and Comparison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693319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71209"/>
              </p:ext>
            </p:extLst>
          </p:nvPr>
        </p:nvGraphicFramePr>
        <p:xfrm>
          <a:off x="215632" y="3720635"/>
          <a:ext cx="8839201" cy="994779"/>
        </p:xfrm>
        <a:graphic>
          <a:graphicData uri="http://schemas.openxmlformats.org/drawingml/2006/table">
            <a:tbl>
              <a:tblPr/>
              <a:tblGrid>
                <a:gridCol w="1369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4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593">
                <a:tc>
                  <a:txBody>
                    <a:bodyPr/>
                    <a:lstStyle/>
                    <a:p>
                      <a:pPr algn="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hr-H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93">
                <a:tc>
                  <a:txBody>
                    <a:bodyPr/>
                    <a:lstStyle/>
                    <a:p>
                      <a:pPr algn="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        Instant Access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hr-H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r-T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93">
                <a:tc>
                  <a:txBody>
                    <a:bodyPr/>
                    <a:lstStyle/>
                    <a:p>
                      <a:pPr algn="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" marR="12700" marT="1270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baseline="30000" dirty="0">
                        <a:solidFill>
                          <a:srgbClr val="444444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025" marR="73025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baseline="30000" dirty="0">
                        <a:solidFill>
                          <a:srgbClr val="444444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025" marR="73025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baseline="30000" dirty="0">
                        <a:solidFill>
                          <a:srgbClr val="444444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025" marR="73025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baseline="30000" dirty="0">
                        <a:solidFill>
                          <a:srgbClr val="444444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025" marR="73025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baseline="30000" dirty="0">
                        <a:solidFill>
                          <a:srgbClr val="444444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025" marR="73025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gray">
          <a:xfrm>
            <a:off x="222890" y="757250"/>
            <a:ext cx="8839199" cy="2555328"/>
          </a:xfrm>
          <a:prstGeom prst="roundRect">
            <a:avLst>
              <a:gd name="adj" fmla="val 4774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kern="0" dirty="0">
              <a:solidFill>
                <a:srgbClr val="FFFFFF"/>
              </a:solidFill>
              <a:latin typeface="Raleway" panose="020B0003030101060003" pitchFamily="34" charset="0"/>
            </a:endParaRPr>
          </a:p>
        </p:txBody>
      </p:sp>
      <p:sp>
        <p:nvSpPr>
          <p:cNvPr id="7" name="Round Same Side Corner Rectangle 6"/>
          <p:cNvSpPr/>
          <p:nvPr/>
        </p:nvSpPr>
        <p:spPr bwMode="gray">
          <a:xfrm>
            <a:off x="6007205" y="1035193"/>
            <a:ext cx="3054883" cy="2491632"/>
          </a:xfrm>
          <a:prstGeom prst="round2SameRect">
            <a:avLst>
              <a:gd name="adj1" fmla="val 4112"/>
              <a:gd name="adj2" fmla="val 0"/>
            </a:avLst>
          </a:pr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rgbClr val="FFFFFF">
                  <a:lumMod val="95000"/>
                </a:srgbClr>
              </a:gs>
              <a:gs pos="100000">
                <a:srgbClr val="FFFFFF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Raleway" panose="020B0003030101060003" pitchFamily="34" charset="0"/>
                <a:ea typeface="Arial" charset="0"/>
                <a:cs typeface="Arial" charset="0"/>
              </a:rPr>
              <a:t>Large Enterprise</a:t>
            </a:r>
          </a:p>
        </p:txBody>
      </p:sp>
      <p:sp>
        <p:nvSpPr>
          <p:cNvPr id="8" name="Round Same Side Corner Rectangle 7"/>
          <p:cNvSpPr/>
          <p:nvPr/>
        </p:nvSpPr>
        <p:spPr bwMode="gray">
          <a:xfrm>
            <a:off x="2966091" y="1820877"/>
            <a:ext cx="3276599" cy="1685511"/>
          </a:xfrm>
          <a:prstGeom prst="round2SameRect">
            <a:avLst>
              <a:gd name="adj1" fmla="val 11112"/>
              <a:gd name="adj2" fmla="val 0"/>
            </a:avLst>
          </a:pr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rgbClr val="FFFFFF">
                  <a:lumMod val="95000"/>
                </a:srgbClr>
              </a:gs>
              <a:gs pos="100000">
                <a:srgbClr val="FFFFFF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Raleway" panose="020B0003030101060003" pitchFamily="34" charset="0"/>
                <a:ea typeface="Arial" charset="0"/>
                <a:cs typeface="Arial" charset="0"/>
              </a:rPr>
              <a:t>Midsize Enterprise</a:t>
            </a:r>
          </a:p>
        </p:txBody>
      </p:sp>
      <p:sp>
        <p:nvSpPr>
          <p:cNvPr id="9" name="Round Same Side Corner Rectangle 8"/>
          <p:cNvSpPr/>
          <p:nvPr/>
        </p:nvSpPr>
        <p:spPr bwMode="gray">
          <a:xfrm>
            <a:off x="1664533" y="2141205"/>
            <a:ext cx="2289699" cy="1365183"/>
          </a:xfrm>
          <a:prstGeom prst="round2SameRect">
            <a:avLst>
              <a:gd name="adj1" fmla="val 11112"/>
              <a:gd name="adj2" fmla="val 0"/>
            </a:avLst>
          </a:pr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rgbClr val="FFFFFF">
                  <a:lumMod val="95000"/>
                </a:srgbClr>
              </a:gs>
              <a:gs pos="100000">
                <a:srgbClr val="FFFFFF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Raleway" panose="020B0003030101060003" pitchFamily="34" charset="0"/>
                <a:ea typeface="Arial" charset="0"/>
                <a:cs typeface="Arial" charset="0"/>
              </a:rPr>
              <a:t>Small Enterprise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Raleway" panose="020B0003030101060003" pitchFamily="34" charset="0"/>
                <a:ea typeface="Arial" charset="0"/>
                <a:cs typeface="Arial" charset="0"/>
              </a:rPr>
              <a:t>/ROBO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8456" y="1333505"/>
            <a:ext cx="537854" cy="1654935"/>
          </a:xfrm>
          <a:prstGeom prst="rect">
            <a:avLst/>
          </a:prstGeom>
        </p:spPr>
      </p:pic>
      <p:pic>
        <p:nvPicPr>
          <p:cNvPr id="11" name="Picture 10" descr="DDVEacryonym-Icons-0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748" y="2471840"/>
            <a:ext cx="528984" cy="5289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0299" y="2574245"/>
            <a:ext cx="741139" cy="42121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7422" y="2202450"/>
            <a:ext cx="755463" cy="7768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3008" y="1846587"/>
            <a:ext cx="763828" cy="1136830"/>
          </a:xfrm>
          <a:prstGeom prst="rect">
            <a:avLst/>
          </a:prstGeom>
        </p:spPr>
      </p:pic>
      <p:graphicFrame>
        <p:nvGraphicFramePr>
          <p:cNvPr id="1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623004"/>
              </p:ext>
            </p:extLst>
          </p:nvPr>
        </p:nvGraphicFramePr>
        <p:xfrm>
          <a:off x="1855090" y="2998951"/>
          <a:ext cx="1035668" cy="313626"/>
        </p:xfrm>
        <a:graphic>
          <a:graphicData uri="http://schemas.openxmlformats.org/drawingml/2006/table">
            <a:tbl>
              <a:tblPr/>
              <a:tblGrid>
                <a:gridCol w="103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Data Domain </a:t>
                      </a:r>
                    </a:p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DD3300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270676"/>
              </p:ext>
            </p:extLst>
          </p:nvPr>
        </p:nvGraphicFramePr>
        <p:xfrm>
          <a:off x="3346205" y="2998951"/>
          <a:ext cx="1035668" cy="313626"/>
        </p:xfrm>
        <a:graphic>
          <a:graphicData uri="http://schemas.openxmlformats.org/drawingml/2006/table">
            <a:tbl>
              <a:tblPr/>
              <a:tblGrid>
                <a:gridCol w="103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Data Domain </a:t>
                      </a:r>
                    </a:p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DD6300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63164"/>
              </p:ext>
            </p:extLst>
          </p:nvPr>
        </p:nvGraphicFramePr>
        <p:xfrm>
          <a:off x="4837320" y="2998951"/>
          <a:ext cx="1035668" cy="313626"/>
        </p:xfrm>
        <a:graphic>
          <a:graphicData uri="http://schemas.openxmlformats.org/drawingml/2006/table">
            <a:tbl>
              <a:tblPr/>
              <a:tblGrid>
                <a:gridCol w="103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Data Domain </a:t>
                      </a:r>
                    </a:p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DD6800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094755"/>
              </p:ext>
            </p:extLst>
          </p:nvPr>
        </p:nvGraphicFramePr>
        <p:xfrm>
          <a:off x="6328435" y="2998951"/>
          <a:ext cx="1035668" cy="313626"/>
        </p:xfrm>
        <a:graphic>
          <a:graphicData uri="http://schemas.openxmlformats.org/drawingml/2006/table">
            <a:tbl>
              <a:tblPr/>
              <a:tblGrid>
                <a:gridCol w="103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Data Domain </a:t>
                      </a:r>
                    </a:p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DD9300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839394"/>
              </p:ext>
            </p:extLst>
          </p:nvPr>
        </p:nvGraphicFramePr>
        <p:xfrm>
          <a:off x="7819549" y="2998951"/>
          <a:ext cx="1035668" cy="313626"/>
        </p:xfrm>
        <a:graphic>
          <a:graphicData uri="http://schemas.openxmlformats.org/drawingml/2006/table">
            <a:tbl>
              <a:tblPr/>
              <a:tblGrid>
                <a:gridCol w="103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Data Domain </a:t>
                      </a:r>
                    </a:p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DD9800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2885" y="3082041"/>
            <a:ext cx="245524" cy="24552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4348" y="3082041"/>
            <a:ext cx="245524" cy="24552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5788" y="3082041"/>
            <a:ext cx="245524" cy="24552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945" y="3112497"/>
            <a:ext cx="192721" cy="208923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/>
              </a:gs>
              <a:gs pos="80000">
                <a:schemeClr val="tx2">
                  <a:shade val="100000"/>
                  <a:satMod val="11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3225" y="3112497"/>
            <a:ext cx="192721" cy="208923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/>
              </a:gs>
              <a:gs pos="80000">
                <a:schemeClr val="tx2">
                  <a:shade val="100000"/>
                  <a:satMod val="11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5058" y="3112497"/>
            <a:ext cx="192721" cy="208923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/>
              </a:gs>
              <a:gs pos="80000">
                <a:schemeClr val="tx2">
                  <a:shade val="100000"/>
                  <a:satMod val="11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5363" y="3112497"/>
            <a:ext cx="192721" cy="208923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/>
              </a:gs>
              <a:gs pos="80000">
                <a:schemeClr val="tx2">
                  <a:shade val="100000"/>
                  <a:satMod val="11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</p:pic>
      <p:graphicFrame>
        <p:nvGraphicFramePr>
          <p:cNvPr id="27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29204"/>
              </p:ext>
            </p:extLst>
          </p:nvPr>
        </p:nvGraphicFramePr>
        <p:xfrm>
          <a:off x="372555" y="2998951"/>
          <a:ext cx="1035668" cy="313626"/>
        </p:xfrm>
        <a:graphic>
          <a:graphicData uri="http://schemas.openxmlformats.org/drawingml/2006/table">
            <a:tbl>
              <a:tblPr/>
              <a:tblGrid>
                <a:gridCol w="103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Data Domain </a:t>
                      </a:r>
                    </a:p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Virtual Edition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8" name="Picture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8120" y="3082041"/>
            <a:ext cx="245524" cy="24552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2908" y="2770980"/>
            <a:ext cx="864324" cy="2283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4168" y="3074854"/>
            <a:ext cx="245524" cy="245524"/>
          </a:xfrm>
          <a:prstGeom prst="rect">
            <a:avLst/>
          </a:prstGeom>
        </p:spPr>
      </p:pic>
      <p:graphicFrame>
        <p:nvGraphicFramePr>
          <p:cNvPr id="31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023681"/>
              </p:ext>
            </p:extLst>
          </p:nvPr>
        </p:nvGraphicFramePr>
        <p:xfrm>
          <a:off x="4793411" y="3728989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Tier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587953"/>
              </p:ext>
            </p:extLst>
          </p:nvPr>
        </p:nvGraphicFramePr>
        <p:xfrm>
          <a:off x="6267959" y="3728989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Tier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658810"/>
              </p:ext>
            </p:extLst>
          </p:nvPr>
        </p:nvGraphicFramePr>
        <p:xfrm>
          <a:off x="7771134" y="3728989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Tier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80016"/>
              </p:ext>
            </p:extLst>
          </p:nvPr>
        </p:nvGraphicFramePr>
        <p:xfrm>
          <a:off x="4793411" y="4048417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Instant Access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147619"/>
              </p:ext>
            </p:extLst>
          </p:nvPr>
        </p:nvGraphicFramePr>
        <p:xfrm>
          <a:off x="6267959" y="4048417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Instant Access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49999"/>
              </p:ext>
            </p:extLst>
          </p:nvPr>
        </p:nvGraphicFramePr>
        <p:xfrm>
          <a:off x="7771134" y="4048417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Instant Access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616766"/>
              </p:ext>
            </p:extLst>
          </p:nvPr>
        </p:nvGraphicFramePr>
        <p:xfrm>
          <a:off x="1813526" y="3728989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Tier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56429"/>
              </p:ext>
            </p:extLst>
          </p:nvPr>
        </p:nvGraphicFramePr>
        <p:xfrm>
          <a:off x="351854" y="3728989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Tier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448894"/>
              </p:ext>
            </p:extLst>
          </p:nvPr>
        </p:nvGraphicFramePr>
        <p:xfrm>
          <a:off x="3267383" y="4048417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Instant Access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 bwMode="gray">
          <a:xfrm>
            <a:off x="222890" y="760804"/>
            <a:ext cx="8839199" cy="268587"/>
          </a:xfrm>
          <a:prstGeom prst="roundRect">
            <a:avLst>
              <a:gd name="adj" fmla="val 4774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91434" tIns="45717" rIns="91434" bIns="45717" rtlCol="0" anchor="ctr"/>
          <a:lstStyle/>
          <a:p>
            <a:pPr algn="ctr" defTabSz="914333"/>
            <a:r>
              <a:rPr lang="en-US" sz="1600" b="1" dirty="0">
                <a:solidFill>
                  <a:srgbClr val="4D4D4D"/>
                </a:solidFill>
                <a:latin typeface="Raleway" panose="020B0003030101060003" pitchFamily="34" charset="0"/>
                <a:ea typeface="Arial" charset="0"/>
                <a:cs typeface="Arial" charset="0"/>
              </a:rPr>
              <a:t>Data Domain Management Center</a:t>
            </a:r>
          </a:p>
        </p:txBody>
      </p:sp>
      <p:graphicFrame>
        <p:nvGraphicFramePr>
          <p:cNvPr id="41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674884"/>
              </p:ext>
            </p:extLst>
          </p:nvPr>
        </p:nvGraphicFramePr>
        <p:xfrm>
          <a:off x="4793411" y="439764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HA Configurations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68699"/>
              </p:ext>
            </p:extLst>
          </p:nvPr>
        </p:nvGraphicFramePr>
        <p:xfrm>
          <a:off x="6267959" y="439764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HA Configurations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158773"/>
              </p:ext>
            </p:extLst>
          </p:nvPr>
        </p:nvGraphicFramePr>
        <p:xfrm>
          <a:off x="7771134" y="439764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HA Configurations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45364"/>
              </p:ext>
            </p:extLst>
          </p:nvPr>
        </p:nvGraphicFramePr>
        <p:xfrm>
          <a:off x="4793411" y="339265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DR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21253"/>
              </p:ext>
            </p:extLst>
          </p:nvPr>
        </p:nvGraphicFramePr>
        <p:xfrm>
          <a:off x="6267959" y="339265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DR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917634"/>
              </p:ext>
            </p:extLst>
          </p:nvPr>
        </p:nvGraphicFramePr>
        <p:xfrm>
          <a:off x="7771134" y="339265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DR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815910"/>
              </p:ext>
            </p:extLst>
          </p:nvPr>
        </p:nvGraphicFramePr>
        <p:xfrm>
          <a:off x="1813526" y="339265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DR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05455"/>
              </p:ext>
            </p:extLst>
          </p:nvPr>
        </p:nvGraphicFramePr>
        <p:xfrm>
          <a:off x="351854" y="3392654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DR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900047"/>
              </p:ext>
            </p:extLst>
          </p:nvPr>
        </p:nvGraphicFramePr>
        <p:xfrm>
          <a:off x="3267383" y="3392282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      DD Cloud DR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57354"/>
              </p:ext>
            </p:extLst>
          </p:nvPr>
        </p:nvGraphicFramePr>
        <p:xfrm>
          <a:off x="351773" y="4048417"/>
          <a:ext cx="1072926" cy="313626"/>
        </p:xfrm>
        <a:graphic>
          <a:graphicData uri="http://schemas.openxmlformats.org/drawingml/2006/table">
            <a:tbl>
              <a:tblPr/>
              <a:tblGrid>
                <a:gridCol w="107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  <a:ea typeface=""/>
                          <a:cs typeface=""/>
                        </a:defRPr>
                      </a:lvl9pPr>
                    </a:lstStyle>
                    <a:p>
                      <a:pPr marL="635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 3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Supports       Instant Access</a:t>
                      </a:r>
                    </a:p>
                  </a:txBody>
                  <a:tcPr marL="93048" marR="46521" marT="34893" marB="348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222890" y="149694"/>
            <a:ext cx="8191500" cy="997196"/>
          </a:xfrm>
        </p:spPr>
        <p:txBody>
          <a:bodyPr/>
          <a:lstStyle/>
          <a:p>
            <a:r>
              <a:rPr lang="en-US" dirty="0"/>
              <a:t>Data Domain backup storage </a:t>
            </a:r>
            <a:br>
              <a:rPr lang="en-US" dirty="0"/>
            </a:br>
            <a:r>
              <a:rPr lang="en-US" sz="1400" dirty="0"/>
              <a:t>Market leader in PBBA segment</a:t>
            </a:r>
            <a:br>
              <a:rPr lang="en-US" sz="1100" dirty="0">
                <a:solidFill>
                  <a:schemeClr val="bg2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58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Capacity Projection Feature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38569"/>
            <a:ext cx="8478863" cy="410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7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Higher Order Fuzzy Time Series (HOFTS)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85750" y="930557"/>
                <a:ext cx="8572500" cy="3855944"/>
              </a:xfrm>
            </p:spPr>
            <p:txBody>
              <a:bodyPr/>
              <a:lstStyle/>
              <a:p>
                <a:r>
                  <a:rPr lang="en-US" dirty="0"/>
                  <a:t>Explored Time Series models</a:t>
                </a:r>
              </a:p>
              <a:p>
                <a:pPr lvl="1"/>
                <a:r>
                  <a:rPr lang="en-US" dirty="0"/>
                  <a:t>Regressive Models </a:t>
                </a:r>
              </a:p>
              <a:p>
                <a:pPr lvl="2"/>
                <a:r>
                  <a:rPr lang="en-US" dirty="0"/>
                  <a:t>AR, MA, ARIMA, kNN </a:t>
                </a:r>
              </a:p>
              <a:p>
                <a:pPr lvl="1"/>
                <a:r>
                  <a:rPr lang="en-US" dirty="0"/>
                  <a:t>Neural Network</a:t>
                </a:r>
              </a:p>
              <a:p>
                <a:pPr lvl="2"/>
                <a:r>
                  <a:rPr lang="en-US" dirty="0"/>
                  <a:t>ANN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Fuzzy Logic Approach</a:t>
                </a:r>
              </a:p>
              <a:p>
                <a:pPr lvl="2"/>
                <a:r>
                  <a:rPr lang="en-US" dirty="0"/>
                  <a:t>FTS variants and </a:t>
                </a:r>
                <a:r>
                  <a:rPr lang="en-US" dirty="0">
                    <a:solidFill>
                      <a:srgbClr val="00B050"/>
                    </a:solidFill>
                  </a:rPr>
                  <a:t>HOFTS</a:t>
                </a:r>
                <a:endParaRPr lang="en-US" b="1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Scale-out backup systems need algorithms with</a:t>
                </a:r>
              </a:p>
              <a:p>
                <a:pPr lvl="1"/>
                <a:r>
                  <a:rPr lang="en-US" dirty="0"/>
                  <a:t>Better Accuracy</a:t>
                </a:r>
              </a:p>
              <a:p>
                <a:pPr lvl="1"/>
                <a:r>
                  <a:rPr lang="en-US" dirty="0"/>
                  <a:t>Lesser time complexity </a:t>
                </a:r>
              </a:p>
              <a:p>
                <a:pPr lvl="1"/>
                <a:r>
                  <a:rPr lang="en-US" dirty="0"/>
                  <a:t>Lesser computational cost</a:t>
                </a:r>
              </a:p>
              <a:p>
                <a:pPr lvl="1"/>
                <a:r>
                  <a:rPr lang="en-US" dirty="0"/>
                  <a:t>Scalability and Simplicity</a:t>
                </a:r>
              </a:p>
              <a:p>
                <a:pPr lvl="1"/>
                <a:r>
                  <a:rPr lang="en-US" dirty="0"/>
                  <a:t>Streaming time series data</a:t>
                </a:r>
              </a:p>
              <a:p>
                <a:pPr lvl="1"/>
                <a:endParaRPr lang="en-US" dirty="0"/>
              </a:p>
              <a:p>
                <a:pPr marL="685800" lvl="2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6858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50" y="930557"/>
                <a:ext cx="8572500" cy="3855944"/>
              </a:xfrm>
              <a:blipFill rotWithShape="0">
                <a:blip r:embed="rId2"/>
                <a:stretch>
                  <a:fillRect l="-1565" t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40670"/>
              </p:ext>
            </p:extLst>
          </p:nvPr>
        </p:nvGraphicFramePr>
        <p:xfrm>
          <a:off x="3761128" y="983490"/>
          <a:ext cx="4728122" cy="155572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053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91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Segmented Regression</a:t>
                      </a:r>
                      <a:endParaRPr lang="en-US" sz="1200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HOFTS</a:t>
                      </a:r>
                      <a:endParaRPr lang="en-US" sz="1200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45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Low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45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Data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Linear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Non-Linear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45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Data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45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Medium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Low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24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</p:spPr>
        <p:txBody>
          <a:bodyPr/>
          <a:lstStyle/>
          <a:p>
            <a:r>
              <a:rPr lang="en-US" dirty="0"/>
              <a:t>Applying HOFTS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Data Collection</a:t>
                </a:r>
              </a:p>
              <a:p>
                <a:pPr lvl="1"/>
                <a:r>
                  <a:rPr lang="en-US" dirty="0"/>
                  <a:t>Autosupport from Customers</a:t>
                </a:r>
              </a:p>
              <a:p>
                <a:r>
                  <a:rPr lang="en-US" dirty="0"/>
                  <a:t>Time Series parameters</a:t>
                </a:r>
              </a:p>
              <a:p>
                <a:pPr lvl="1"/>
                <a:r>
                  <a:rPr lang="en-US" dirty="0"/>
                  <a:t>Time: 365 Days </a:t>
                </a:r>
              </a:p>
              <a:p>
                <a:pPr lvl="1"/>
                <a:r>
                  <a:rPr lang="en-US" dirty="0"/>
                  <a:t>Capacity: Post Compression </a:t>
                </a:r>
              </a:p>
              <a:p>
                <a:r>
                  <a:rPr lang="en-US" dirty="0"/>
                  <a:t>Performance Analysis </a:t>
                </a:r>
              </a:p>
              <a:p>
                <a:pPr lvl="1"/>
                <a:r>
                  <a:rPr lang="en-US" dirty="0"/>
                  <a:t>Computational Complexity </a:t>
                </a:r>
              </a:p>
              <a:p>
                <a:pPr lvl="2"/>
                <a:r>
                  <a:rPr lang="en-US" dirty="0"/>
                  <a:t>FLR (Fuzzy Logic Relation)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Forecasting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spcBef>
                    <a:spcPts val="0"/>
                  </a:spcBef>
                  <a:buClr>
                    <a:schemeClr val="bg1"/>
                  </a:buClr>
                  <a:buNone/>
                </a:pPr>
                <a:endParaRPr lang="en-US" sz="1100" dirty="0"/>
              </a:p>
              <a:p>
                <a:pPr marL="457200" lvl="1" indent="0">
                  <a:spcBef>
                    <a:spcPts val="0"/>
                  </a:spcBef>
                  <a:buClr>
                    <a:schemeClr val="bg1"/>
                  </a:buClr>
                  <a:buNone/>
                </a:pPr>
                <a:r>
                  <a:rPr lang="en-US" sz="1200" dirty="0"/>
                  <a:t>Time Complexity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200" dirty="0"/>
                  <a:t> +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200" dirty="0"/>
                  <a:t>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  <a:p>
                <a:pPr marL="685800" lvl="2" indent="0">
                  <a:buNone/>
                </a:pPr>
                <a:endParaRPr lang="en-US" dirty="0"/>
              </a:p>
              <a:p>
                <a:pPr marL="457200" lvl="1" indent="0">
                  <a:spcBef>
                    <a:spcPts val="0"/>
                  </a:spcBef>
                  <a:buClr>
                    <a:schemeClr val="bg1"/>
                  </a:buClr>
                  <a:buNone/>
                </a:pPr>
                <a:endParaRPr lang="en-US" dirty="0">
                  <a:solidFill>
                    <a:srgbClr val="00B050"/>
                  </a:solidFill>
                  <a:latin typeface="+mj-lt"/>
                </a:endParaRPr>
              </a:p>
              <a:p>
                <a:pPr marL="685800" lvl="2" indent="0">
                  <a:buNone/>
                </a:pPr>
                <a:endParaRPr lang="en-US" dirty="0"/>
              </a:p>
              <a:p>
                <a:pPr marL="342900" lvl="1" indent="0">
                  <a:buNone/>
                </a:pPr>
                <a:endParaRPr lang="en-US" dirty="0"/>
              </a:p>
              <a:p>
                <a:pPr marL="6858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65" t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425" y="407670"/>
            <a:ext cx="2446643" cy="41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5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Accuracy &amp; Comparison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68" y="1108425"/>
            <a:ext cx="3778583" cy="33929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46334"/>
                  </p:ext>
                </p:extLst>
              </p:nvPr>
            </p:nvGraphicFramePr>
            <p:xfrm>
              <a:off x="1204245" y="1452721"/>
              <a:ext cx="2203973" cy="1828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2039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0453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9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95.64% </m:t>
                                </m:r>
                                <m:r>
                                  <a:rPr lang="en-US" sz="9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895</m:t>
                                    </m:r>
                                  </m:e>
                                </m:d>
                                <m:r>
                                  <a:rPr lang="en-US" sz="9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9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𝑆𝑦𝑠𝑡𝑒𝑚</m:t>
                                </m:r>
                                <m:r>
                                  <a:rPr lang="en-US" sz="9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sz="9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 ∃ </m:t>
                                </m:r>
                                <m:sSup>
                                  <m:sSupPr>
                                    <m:ctrlPr>
                                      <a:rPr lang="en-IN" sz="9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9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IN" sz="9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9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∈{0.9, 1.0}</m:t>
                                </m:r>
                              </m:oMath>
                            </m:oMathPara>
                          </a14:m>
                          <a:endParaRPr lang="en-US" sz="90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marT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46334"/>
                  </p:ext>
                </p:extLst>
              </p:nvPr>
            </p:nvGraphicFramePr>
            <p:xfrm>
              <a:off x="1204245" y="1452721"/>
              <a:ext cx="2203973" cy="1828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203973"/>
                  </a:tblGrid>
                  <a:tr h="182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0">
                        <a:blipFill rotWithShape="0">
                          <a:blip r:embed="rId4"/>
                          <a:stretch>
                            <a:fillRect t="-3226" r="-275" b="-322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68" y="1272183"/>
            <a:ext cx="3818313" cy="246050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97256"/>
              </p:ext>
            </p:extLst>
          </p:nvPr>
        </p:nvGraphicFramePr>
        <p:xfrm>
          <a:off x="4162151" y="3818172"/>
          <a:ext cx="4815345" cy="68319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3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1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92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50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500" dirty="0"/>
                        <a:t>Model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FTS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FTS</a:t>
                      </a:r>
                    </a:p>
                    <a:p>
                      <a:r>
                        <a:rPr lang="en-IN" sz="500" dirty="0"/>
                        <a:t>Diff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WFTS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WFTS</a:t>
                      </a:r>
                      <a:r>
                        <a:rPr lang="en-IN" sz="500" baseline="0" dirty="0"/>
                        <a:t> Diff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IWFTS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500" dirty="0"/>
                        <a:t>IWFTS</a:t>
                      </a:r>
                      <a:r>
                        <a:rPr lang="en-US" sz="500" baseline="0" dirty="0"/>
                        <a:t> Diff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EWFS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500" dirty="0"/>
                        <a:t>EWFS Diff</a:t>
                      </a:r>
                      <a:endParaRPr lang="en-US" sz="500" dirty="0"/>
                    </a:p>
                    <a:p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HOFTS</a:t>
                      </a:r>
                      <a:endParaRPr lang="en-US" sz="500" b="1" dirty="0"/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r>
                        <a:rPr lang="en-IN" sz="500" dirty="0"/>
                        <a:t>HOFTS Diff</a:t>
                      </a:r>
                      <a:endParaRPr lang="en-IN" sz="500" b="1" dirty="0"/>
                    </a:p>
                  </a:txBody>
                  <a:tcPr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38">
                <a:tc>
                  <a:txBody>
                    <a:bodyPr/>
                    <a:lstStyle/>
                    <a:p>
                      <a:pPr algn="l"/>
                      <a:r>
                        <a:rPr lang="en-IN" sz="500" dirty="0"/>
                        <a:t>RMSE</a:t>
                      </a:r>
                      <a:endParaRPr lang="en-US" sz="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0.85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0.47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0.95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0.99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0.88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0.34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1.5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0.81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700" b="1" dirty="0">
                          <a:solidFill>
                            <a:srgbClr val="00B050"/>
                          </a:solidFill>
                        </a:rPr>
                        <a:t>0.28</a:t>
                      </a:r>
                      <a:endParaRPr lang="en-US" sz="7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1.47</a:t>
                      </a:r>
                      <a:endParaRPr lang="en-US" sz="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438">
                <a:tc>
                  <a:txBody>
                    <a:bodyPr/>
                    <a:lstStyle/>
                    <a:p>
                      <a:pPr algn="l"/>
                      <a:r>
                        <a:rPr lang="en-IN" sz="450" dirty="0"/>
                        <a:t>MAPE (%)</a:t>
                      </a:r>
                      <a:endParaRPr lang="en-US" sz="4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1.4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0.86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1.84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1.86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1.61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0.74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2.97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1.71</a:t>
                      </a:r>
                      <a:endParaRPr lang="en-US" sz="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700" b="1" dirty="0">
                          <a:solidFill>
                            <a:srgbClr val="00B050"/>
                          </a:solidFill>
                        </a:rPr>
                        <a:t>0.62</a:t>
                      </a:r>
                      <a:endParaRPr lang="en-US" sz="7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2.62</a:t>
                      </a:r>
                      <a:endParaRPr lang="en-US" sz="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98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8856" y="2133775"/>
            <a:ext cx="1091105" cy="387798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19323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selection </a:t>
            </a:r>
          </a:p>
          <a:p>
            <a:pPr lvl="1"/>
            <a:r>
              <a:rPr lang="en-US" dirty="0"/>
              <a:t>Study correlation between post compression and deduplication ratio</a:t>
            </a:r>
          </a:p>
          <a:p>
            <a:r>
              <a:rPr lang="en-US" i="1" dirty="0"/>
              <a:t>n</a:t>
            </a:r>
            <a:r>
              <a:rPr lang="en-US" dirty="0"/>
              <a:t>-step ahead forecasting</a:t>
            </a:r>
          </a:p>
          <a:p>
            <a:pPr lvl="1"/>
            <a:r>
              <a:rPr lang="en-US" dirty="0"/>
              <a:t>Evaluating Direct-Recursive Hybrid Multi-step Forecast Strategy </a:t>
            </a:r>
          </a:p>
          <a:p>
            <a:r>
              <a:rPr lang="en-US" dirty="0"/>
              <a:t>Multivariate model</a:t>
            </a:r>
          </a:p>
          <a:p>
            <a:pPr lvl="1"/>
            <a:r>
              <a:rPr lang="en-US" i="1" dirty="0"/>
              <a:t>M </a:t>
            </a:r>
            <a:r>
              <a:rPr lang="en-US" dirty="0"/>
              <a:t>factor Fuzzy time series </a:t>
            </a:r>
          </a:p>
          <a:p>
            <a:pPr lvl="1"/>
            <a:r>
              <a:rPr lang="en-US" dirty="0"/>
              <a:t>Hybridized models (Neuro-fuzzy approach)</a:t>
            </a:r>
          </a:p>
          <a:p>
            <a:r>
              <a:rPr lang="en-US" dirty="0"/>
              <a:t>Distributed execution </a:t>
            </a:r>
          </a:p>
          <a:p>
            <a:pPr lvl="1"/>
            <a:r>
              <a:rPr lang="en-US" dirty="0"/>
              <a:t>pyFTS and </a:t>
            </a:r>
            <a:r>
              <a:rPr lang="en-US" i="1" dirty="0"/>
              <a:t>dispy</a:t>
            </a:r>
            <a:r>
              <a:rPr lang="en-US" dirty="0"/>
              <a:t> libraries to validate HOFTS over install base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6858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89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3660" y="856034"/>
            <a:ext cx="654671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bg2"/>
                </a:solidFill>
              </a:rPr>
              <a:t>Ajoy</a:t>
            </a:r>
            <a:r>
              <a:rPr lang="en-US" sz="1000" dirty="0">
                <a:solidFill>
                  <a:schemeClr val="bg2"/>
                </a:solidFill>
              </a:rPr>
              <a:t> K. </a:t>
            </a:r>
            <a:r>
              <a:rPr lang="en-US" sz="1000" dirty="0" err="1">
                <a:solidFill>
                  <a:schemeClr val="bg2"/>
                </a:solidFill>
              </a:rPr>
              <a:t>Palit</a:t>
            </a:r>
            <a:r>
              <a:rPr lang="en-US" sz="1000" dirty="0">
                <a:solidFill>
                  <a:schemeClr val="bg2"/>
                </a:solidFill>
              </a:rPr>
              <a:t> and </a:t>
            </a:r>
            <a:r>
              <a:rPr lang="en-US" sz="1000" dirty="0" err="1">
                <a:solidFill>
                  <a:schemeClr val="bg2"/>
                </a:solidFill>
              </a:rPr>
              <a:t>Dobrivoje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r>
              <a:rPr lang="en-US" sz="1000" dirty="0" err="1">
                <a:solidFill>
                  <a:schemeClr val="bg2"/>
                </a:solidFill>
              </a:rPr>
              <a:t>Popovic</a:t>
            </a:r>
            <a:r>
              <a:rPr lang="en-US" sz="1000" dirty="0">
                <a:solidFill>
                  <a:schemeClr val="bg2"/>
                </a:solidFill>
              </a:rPr>
              <a:t>. 2005. </a:t>
            </a:r>
            <a:r>
              <a:rPr lang="en-US" sz="1000" b="1" dirty="0">
                <a:solidFill>
                  <a:schemeClr val="bg2"/>
                </a:solidFill>
              </a:rPr>
              <a:t>Computational Intelligence in Time Series Forecasting: Theory and Engineering Applications</a:t>
            </a:r>
            <a:r>
              <a:rPr lang="en-US" sz="1000" dirty="0">
                <a:solidFill>
                  <a:schemeClr val="bg2"/>
                </a:solidFill>
              </a:rPr>
              <a:t> (Advances in Industrial Control). Springer-</a:t>
            </a:r>
            <a:r>
              <a:rPr lang="en-US" sz="1000" dirty="0" err="1">
                <a:solidFill>
                  <a:schemeClr val="bg2"/>
                </a:solidFill>
              </a:rPr>
              <a:t>Verlag</a:t>
            </a:r>
            <a:r>
              <a:rPr lang="en-US" sz="1000" dirty="0">
                <a:solidFill>
                  <a:schemeClr val="bg2"/>
                </a:solidFill>
              </a:rPr>
              <a:t>, Berlin, Heidelberg.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2"/>
              </a:solidFill>
              <a:latin typeface="+mn-lt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Chen, 2014 Chen Mu-Yen, </a:t>
            </a:r>
            <a:r>
              <a:rPr lang="en-US" sz="1000" b="1" dirty="0">
                <a:solidFill>
                  <a:schemeClr val="bg2"/>
                </a:solidFill>
              </a:rPr>
              <a:t>A high-order fuzzy time series forecasting model for internet stock trading</a:t>
            </a:r>
            <a:r>
              <a:rPr lang="en-US" sz="1000" dirty="0">
                <a:solidFill>
                  <a:schemeClr val="bg2"/>
                </a:solidFill>
              </a:rPr>
              <a:t>. (Future Generation Computer Systems). vol. 37, number , pp. 461--467, 2014.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2"/>
              </a:solidFill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2"/>
                </a:solidFill>
                <a:latin typeface="+mn-lt"/>
              </a:rPr>
              <a:t>Hwang, Chen et al., 1998 Hwang </a:t>
            </a:r>
            <a:r>
              <a:rPr lang="en-US" sz="1000" dirty="0" err="1">
                <a:solidFill>
                  <a:schemeClr val="bg2"/>
                </a:solidFill>
                <a:latin typeface="+mn-lt"/>
              </a:rPr>
              <a:t>Jeng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-Ren, Chen </a:t>
            </a:r>
            <a:r>
              <a:rPr lang="en-US" sz="1000" dirty="0" err="1">
                <a:solidFill>
                  <a:schemeClr val="bg2"/>
                </a:solidFill>
                <a:latin typeface="+mn-lt"/>
              </a:rPr>
              <a:t>Shyi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-Ming and Lee Chia-Hoang, </a:t>
            </a:r>
            <a:r>
              <a:rPr lang="en-US" sz="1000" b="1" dirty="0">
                <a:solidFill>
                  <a:schemeClr val="bg2"/>
                </a:solidFill>
                <a:latin typeface="+mn-lt"/>
              </a:rPr>
              <a:t>Handling forecasting problems using fuzzy time series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. (Fuzzy sets and systems). vol. 100, number 1, pp. 217--228, 1998.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2"/>
              </a:solidFill>
              <a:latin typeface="+mn-lt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2"/>
                </a:solidFill>
                <a:latin typeface="+mn-lt"/>
              </a:rPr>
              <a:t>Mark </a:t>
            </a:r>
            <a:r>
              <a:rPr lang="en-US" sz="1000" dirty="0" err="1">
                <a:solidFill>
                  <a:schemeClr val="bg2"/>
                </a:solidFill>
                <a:latin typeface="+mn-lt"/>
              </a:rPr>
              <a:t>Chamness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. 2011. </a:t>
            </a:r>
            <a:r>
              <a:rPr lang="en-US" sz="1000" b="1" dirty="0">
                <a:solidFill>
                  <a:schemeClr val="bg2"/>
                </a:solidFill>
                <a:latin typeface="+mn-lt"/>
              </a:rPr>
              <a:t>Capacity forecasting in a backup storage environment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. In Proceedings of the 25th international conference on Large Installation System Administration (LISA'11). USENIX Association, Berkeley, CA, USA, 12-12.</a:t>
            </a:r>
            <a:br>
              <a:rPr lang="en-US" sz="1000" dirty="0"/>
            </a:br>
            <a:endParaRPr lang="en-US" sz="1000" dirty="0">
              <a:solidFill>
                <a:schemeClr val="bg2"/>
              </a:solidFill>
              <a:latin typeface="+mn-lt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bg2"/>
                </a:solidFill>
                <a:latin typeface="+mn-lt"/>
              </a:rPr>
              <a:t>Pritpal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 Singh. 2016. </a:t>
            </a:r>
            <a:r>
              <a:rPr lang="en-US" sz="1000" b="1" dirty="0">
                <a:solidFill>
                  <a:schemeClr val="bg2"/>
                </a:solidFill>
                <a:latin typeface="+mn-lt"/>
              </a:rPr>
              <a:t>Applications of Soft Computing in Time Series Forecasting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 (Simulation and Modeling Techniques). Springer-</a:t>
            </a:r>
            <a:r>
              <a:rPr lang="en-US" sz="1000" dirty="0" err="1">
                <a:solidFill>
                  <a:schemeClr val="bg2"/>
                </a:solidFill>
                <a:latin typeface="+mn-lt"/>
              </a:rPr>
              <a:t>Verlag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, Berlin, Heidelberg.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2"/>
              </a:solidFill>
              <a:latin typeface="+mn-lt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Song and Chissom, 1993 Song </a:t>
            </a:r>
            <a:r>
              <a:rPr lang="en-US" sz="1000" dirty="0" err="1">
                <a:solidFill>
                  <a:schemeClr val="bg2"/>
                </a:solidFill>
              </a:rPr>
              <a:t>Qiang</a:t>
            </a:r>
            <a:r>
              <a:rPr lang="en-US" sz="1000" dirty="0">
                <a:solidFill>
                  <a:schemeClr val="bg2"/>
                </a:solidFill>
              </a:rPr>
              <a:t> and Chissom Brad S, </a:t>
            </a:r>
            <a:r>
              <a:rPr lang="en-US" sz="1000" b="1" dirty="0">
                <a:solidFill>
                  <a:schemeClr val="bg2"/>
                </a:solidFill>
              </a:rPr>
              <a:t>Fuzzy time series and its models</a:t>
            </a:r>
            <a:r>
              <a:rPr lang="en-US" sz="1000" dirty="0">
                <a:solidFill>
                  <a:schemeClr val="bg2"/>
                </a:solidFill>
              </a:rPr>
              <a:t>. (Fuzzy sets and systems). vol. 54, number 3, pp. 269--277, 1993.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US" sz="10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0275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6546" y="2047830"/>
            <a:ext cx="7889307" cy="747897"/>
          </a:xfrm>
          <a:solidFill>
            <a:schemeClr val="tx2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420035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</p:spPr>
        <p:txBody>
          <a:bodyPr/>
          <a:lstStyle/>
          <a:p>
            <a:r>
              <a:rPr lang="en-US" dirty="0"/>
              <a:t>HOFTS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930252"/>
            <a:ext cx="8572500" cy="3584598"/>
          </a:xfrm>
        </p:spPr>
        <p:txBody>
          <a:bodyPr/>
          <a:lstStyle/>
          <a:p>
            <a:pPr marL="0" indent="0">
              <a:buNone/>
            </a:pPr>
            <a:r>
              <a:rPr lang="en-IN" sz="1200" dirty="0"/>
              <a:t>Universe of Discourse (U) 90 Days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200" dirty="0"/>
              <a:t>Linguist Terms: A0 (Very Low), A1 (Low), …, A9 (Medium), …, A18 (High), A19 (Very High)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303" y="808954"/>
            <a:ext cx="4086808" cy="1158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5750" y="3026553"/>
            <a:ext cx="2509935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2"/>
                </a:solidFill>
              </a:rPr>
              <a:t>A10,A10 -&gt; A11, A12</a:t>
            </a:r>
          </a:p>
          <a:p>
            <a:r>
              <a:rPr lang="pt-BR" sz="1000" dirty="0">
                <a:solidFill>
                  <a:schemeClr val="bg2"/>
                </a:solidFill>
              </a:rPr>
              <a:t>A10,A11 -&gt; A11, A12, A13, A5, A6, A7, A8</a:t>
            </a:r>
          </a:p>
          <a:p>
            <a:r>
              <a:rPr lang="pt-BR" sz="1000" dirty="0">
                <a:solidFill>
                  <a:schemeClr val="bg2"/>
                </a:solidFill>
              </a:rPr>
              <a:t>A10,A12 -&gt; A11, A12, A13, A5, A6, A7, A8</a:t>
            </a:r>
          </a:p>
          <a:p>
            <a:r>
              <a:rPr lang="pt-BR" sz="1000" dirty="0">
                <a:solidFill>
                  <a:schemeClr val="bg2"/>
                </a:solidFill>
              </a:rPr>
              <a:t>...</a:t>
            </a:r>
          </a:p>
          <a:p>
            <a:endParaRPr lang="pt-BR" sz="1000" dirty="0">
              <a:solidFill>
                <a:schemeClr val="bg2"/>
              </a:solidFill>
            </a:endParaRPr>
          </a:p>
          <a:p>
            <a:r>
              <a:rPr lang="pt-BR" sz="1000" dirty="0">
                <a:solidFill>
                  <a:schemeClr val="bg2"/>
                </a:solidFill>
              </a:rPr>
              <a:t>A9,A8 -&gt; A10, A11, A8, A9</a:t>
            </a:r>
          </a:p>
          <a:p>
            <a:r>
              <a:rPr lang="pt-BR" sz="1000" dirty="0">
                <a:solidFill>
                  <a:schemeClr val="bg2"/>
                </a:solidFill>
              </a:rPr>
              <a:t>A9,A9 -&gt; A10, A11, A12, A8, A9</a:t>
            </a:r>
          </a:p>
          <a:p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4630705" y="2021521"/>
            <a:ext cx="189800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000" dirty="0">
                <a:solidFill>
                  <a:schemeClr val="bg2"/>
                </a:solidFill>
              </a:rPr>
              <a:t>Interval Partitioning (len = 20)</a:t>
            </a: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1711001" y="3020657"/>
            <a:ext cx="189800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000" dirty="0">
                <a:solidFill>
                  <a:schemeClr val="bg2"/>
                </a:solidFill>
              </a:rPr>
              <a:t>(2</a:t>
            </a:r>
            <a:r>
              <a:rPr lang="en-US" sz="1000" baseline="30000" dirty="0">
                <a:solidFill>
                  <a:schemeClr val="bg2"/>
                </a:solidFill>
              </a:rPr>
              <a:t>nd</a:t>
            </a:r>
            <a:r>
              <a:rPr lang="en-US" sz="1000" dirty="0">
                <a:solidFill>
                  <a:schemeClr val="bg2"/>
                </a:solidFill>
              </a:rPr>
              <a:t> Order FLRG)</a:t>
            </a:r>
          </a:p>
        </p:txBody>
      </p:sp>
    </p:spTree>
    <p:extLst>
      <p:ext uri="{BB962C8B-B14F-4D97-AF65-F5344CB8AC3E}">
        <p14:creationId xmlns:p14="http://schemas.microsoft.com/office/powerpoint/2010/main" val="3045459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47650"/>
            <a:ext cx="8191500" cy="387798"/>
          </a:xfrm>
        </p:spPr>
        <p:txBody>
          <a:bodyPr/>
          <a:lstStyle/>
          <a:p>
            <a:r>
              <a:rPr lang="en-US" dirty="0"/>
              <a:t>Linear regression and KNN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64" y="1039926"/>
            <a:ext cx="5033171" cy="314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51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47650"/>
            <a:ext cx="8191500" cy="387798"/>
          </a:xfrm>
        </p:spPr>
        <p:txBody>
          <a:bodyPr/>
          <a:lstStyle/>
          <a:p>
            <a:r>
              <a:rPr lang="en-US" dirty="0"/>
              <a:t>Segmented Regression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588" y="1020797"/>
            <a:ext cx="4701723" cy="350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6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416680"/>
                  </p:ext>
                </p:extLst>
              </p:nvPr>
            </p:nvGraphicFramePr>
            <p:xfrm>
              <a:off x="530550" y="1082223"/>
              <a:ext cx="5623559" cy="798702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12749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0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276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9149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5631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75144">
                    <a:tc>
                      <a:txBody>
                        <a:bodyPr/>
                        <a:lstStyle/>
                        <a:p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b="0" u="none" strike="noStrike" kern="1200" baseline="0" dirty="0"/>
                            <a:t>Song-Chissom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b="0" u="none" strike="noStrike" kern="1200" baseline="0" dirty="0"/>
                            <a:t>Chen's method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b="0" u="none" strike="noStrike" kern="1200" baseline="0" dirty="0"/>
                            <a:t>Markov method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b="0" dirty="0"/>
                            <a:t>HOFTS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68143">
                    <a:tc>
                      <a:txBody>
                        <a:bodyPr/>
                        <a:lstStyle/>
                        <a:p>
                          <a:r>
                            <a:rPr lang="en-IN" sz="1050" dirty="0"/>
                            <a:t>Time Complexity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05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05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05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0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1050" dirty="0"/>
                            <a:t> 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05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05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050" dirty="0"/>
                            <a:t> 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05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05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sz="105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0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1050" dirty="0"/>
                            <a:t> 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05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050" smtClean="0">
                                      <a:latin typeface="Cambria Math" panose="02040503050406030204" pitchFamily="18" charset="0"/>
                                    </a:rPr>
                                    <m:t>𝑤𝑛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050" dirty="0"/>
                            <a:t> 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9482">
                    <a:tc>
                      <a:txBody>
                        <a:bodyPr/>
                        <a:lstStyle/>
                        <a:p>
                          <a:r>
                            <a:rPr lang="en-IN" sz="1050" dirty="0"/>
                            <a:t>Forecasting Error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/>
                            <a:t>3.2%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/>
                            <a:t>3.22%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/>
                            <a:t>2.6%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/>
                            <a:t>3.12%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416680"/>
                  </p:ext>
                </p:extLst>
              </p:nvPr>
            </p:nvGraphicFramePr>
            <p:xfrm>
              <a:off x="530550" y="1082223"/>
              <a:ext cx="5623559" cy="778064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1274922"/>
                    <a:gridCol w="1088075"/>
                    <a:gridCol w="1112761"/>
                    <a:gridCol w="1191491"/>
                    <a:gridCol w="956310"/>
                  </a:tblGrid>
                  <a:tr h="275144">
                    <a:tc>
                      <a:txBody>
                        <a:bodyPr/>
                        <a:lstStyle/>
                        <a:p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b="0" u="none" strike="noStrike" kern="1200" baseline="0" dirty="0" smtClean="0"/>
                            <a:t>Song-Chissom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b="0" u="none" strike="noStrike" kern="1200" baseline="0" dirty="0" smtClean="0"/>
                            <a:t>Chen's method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b="0" u="none" strike="noStrike" kern="1200" baseline="0" dirty="0" smtClean="0"/>
                            <a:t>Markov method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b="0" dirty="0" smtClean="0"/>
                            <a:t>HOFTS</a:t>
                          </a:r>
                          <a:endParaRPr lang="en-US" sz="1050" b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</a:tr>
                  <a:tr h="251460">
                    <a:tc>
                      <a:txBody>
                        <a:bodyPr/>
                        <a:lstStyle/>
                        <a:p>
                          <a:r>
                            <a:rPr lang="en-IN" sz="1050" dirty="0" smtClean="0"/>
                            <a:t>Time Complexity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16760" t="-114634" r="-299441" b="-1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3187" t="-114634" r="-194505" b="-1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90816" t="-114634" r="-80612" b="-1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87898" t="-114634" r="-637" b="-114634"/>
                          </a:stretch>
                        </a:blipFill>
                      </a:tcPr>
                    </a:tc>
                  </a:tr>
                  <a:tr h="251460">
                    <a:tc>
                      <a:txBody>
                        <a:bodyPr/>
                        <a:lstStyle/>
                        <a:p>
                          <a:r>
                            <a:rPr lang="en-IN" sz="1050" dirty="0" smtClean="0"/>
                            <a:t>Forecasting Error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 smtClean="0"/>
                            <a:t>3.2%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 smtClean="0"/>
                            <a:t>3.22%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 smtClean="0"/>
                            <a:t>2.6%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050" dirty="0" smtClean="0"/>
                            <a:t>3.12%</a:t>
                          </a:r>
                          <a:endParaRPr lang="en-US" sz="105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27203072"/>
      </p:ext>
    </p:extLst>
  </p:cSld>
  <p:clrMapOvr>
    <a:masterClrMapping/>
  </p:clrMapOvr>
</p:sld>
</file>

<file path=ppt/theme/theme1.xml><?xml version="1.0" encoding="utf-8"?>
<a:theme xmlns:a="http://schemas.openxmlformats.org/drawingml/2006/main" name="Dell EMC 2018 internal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19978522-15E7-41C3-9339-A8B1F5116039}" vid="{7425B8F8-B87E-4F01-8308-F1759AB8F621}"/>
    </a:ext>
  </a:extLst>
</a:theme>
</file>

<file path=ppt/theme/theme2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Dell_EMC_New_2018_ppt_template_internal</Template>
  <TotalTime>1580</TotalTime>
  <Words>1091</Words>
  <Application>Microsoft Office PowerPoint</Application>
  <PresentationFormat>On-screen Show (16:9)</PresentationFormat>
  <Paragraphs>215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Raleway</vt:lpstr>
      <vt:lpstr>Arial</vt:lpstr>
      <vt:lpstr>Cambria Math</vt:lpstr>
      <vt:lpstr>Wingdings 3</vt:lpstr>
      <vt:lpstr>Dell EMC 2018 internal</vt:lpstr>
      <vt:lpstr>Fuzzy Logic approach for Capacity Projection</vt:lpstr>
      <vt:lpstr>Agenda</vt:lpstr>
      <vt:lpstr>Data Domain backup storage  Market leader in PBBA segment </vt:lpstr>
      <vt:lpstr>Capacity Projection Feature</vt:lpstr>
      <vt:lpstr>Why Higher Order Fuzzy Time Series (HOFTS)</vt:lpstr>
      <vt:lpstr>Applying HOFTS</vt:lpstr>
      <vt:lpstr>Forecast Accuracy &amp; Comparison </vt:lpstr>
      <vt:lpstr>Demo</vt:lpstr>
      <vt:lpstr>Work in Progress</vt:lpstr>
      <vt:lpstr>References</vt:lpstr>
      <vt:lpstr>Backup Slides</vt:lpstr>
      <vt:lpstr>HOFTS Example</vt:lpstr>
      <vt:lpstr>Linear regression and KNN</vt:lpstr>
      <vt:lpstr>Segmented Regression</vt:lpstr>
      <vt:lpstr>Time Complexity Comparison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for INTERNAL USE</dc:title>
  <dc:creator>Vishwakarma, Rahul</dc:creator>
  <cp:lastModifiedBy>Vishwakarma, Rahul</cp:lastModifiedBy>
  <cp:revision>65</cp:revision>
  <cp:lastPrinted>2018-09-10T14:53:10Z</cp:lastPrinted>
  <dcterms:created xsi:type="dcterms:W3CDTF">2018-12-04T19:48:15Z</dcterms:created>
  <dcterms:modified xsi:type="dcterms:W3CDTF">2020-11-10T16:53:18Z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cb76b2-10b8-4fe1-93d4-2202842406cd_Enabled">
    <vt:lpwstr>True</vt:lpwstr>
  </property>
  <property fmtid="{D5CDD505-2E9C-101B-9397-08002B2CF9AE}" pid="3" name="MSIP_Label_17cb76b2-10b8-4fe1-93d4-2202842406cd_SiteId">
    <vt:lpwstr>945c199a-83a2-4e80-9f8c-5a91be5752dd</vt:lpwstr>
  </property>
  <property fmtid="{D5CDD505-2E9C-101B-9397-08002B2CF9AE}" pid="4" name="MSIP_Label_17cb76b2-10b8-4fe1-93d4-2202842406cd_Owner">
    <vt:lpwstr>Rahul.Vishwakarma@emc.com</vt:lpwstr>
  </property>
  <property fmtid="{D5CDD505-2E9C-101B-9397-08002B2CF9AE}" pid="5" name="MSIP_Label_17cb76b2-10b8-4fe1-93d4-2202842406cd_SetDate">
    <vt:lpwstr>2020-11-10T16:53:18.0270384Z</vt:lpwstr>
  </property>
  <property fmtid="{D5CDD505-2E9C-101B-9397-08002B2CF9AE}" pid="6" name="MSIP_Label_17cb76b2-10b8-4fe1-93d4-2202842406cd_Name">
    <vt:lpwstr>External Public</vt:lpwstr>
  </property>
  <property fmtid="{D5CDD505-2E9C-101B-9397-08002B2CF9AE}" pid="7" name="MSIP_Label_17cb76b2-10b8-4fe1-93d4-2202842406cd_Application">
    <vt:lpwstr>Microsoft Azure Information Protection</vt:lpwstr>
  </property>
  <property fmtid="{D5CDD505-2E9C-101B-9397-08002B2CF9AE}" pid="8" name="MSIP_Label_17cb76b2-10b8-4fe1-93d4-2202842406cd_ActionId">
    <vt:lpwstr>ff133034-48a0-4ba4-9ce8-74ac2d053e36</vt:lpwstr>
  </property>
  <property fmtid="{D5CDD505-2E9C-101B-9397-08002B2CF9AE}" pid="9" name="MSIP_Label_17cb76b2-10b8-4fe1-93d4-2202842406cd_Extended_MSFT_Method">
    <vt:lpwstr>Manual</vt:lpwstr>
  </property>
  <property fmtid="{D5CDD505-2E9C-101B-9397-08002B2CF9AE}" pid="10" name="aiplabel">
    <vt:lpwstr>External Public</vt:lpwstr>
  </property>
</Properties>
</file>